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notesMasterIdLst>
    <p:notesMasterId r:id="rId50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3" r:id="rId25"/>
    <p:sldId id="284" r:id="rId26"/>
    <p:sldId id="280" r:id="rId27"/>
    <p:sldId id="281" r:id="rId28"/>
    <p:sldId id="282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1" r:id="rId45"/>
    <p:sldId id="300" r:id="rId46"/>
    <p:sldId id="302" r:id="rId47"/>
    <p:sldId id="303" r:id="rId48"/>
    <p:sldId id="304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07"/>
    <p:restoredTop sz="94658"/>
  </p:normalViewPr>
  <p:slideViewPr>
    <p:cSldViewPr snapToGrid="0">
      <p:cViewPr>
        <p:scale>
          <a:sx n="100" d="100"/>
          <a:sy n="100" d="100"/>
        </p:scale>
        <p:origin x="152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F1668-4786-49EE-8EBC-94635B62F98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392DF3-853A-4983-B34B-FA698DCC44D6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4E04BA09-F03A-4132-9A7B-BA966DDD2217}" type="parTrans" cxnId="{56F94A7A-5322-4316-AD89-7D2F00A5EE09}">
      <dgm:prSet/>
      <dgm:spPr/>
      <dgm:t>
        <a:bodyPr/>
        <a:lstStyle/>
        <a:p>
          <a:endParaRPr lang="en-US"/>
        </a:p>
      </dgm:t>
    </dgm:pt>
    <dgm:pt modelId="{FB0482E8-4B8D-4545-A5C3-9E38B92525FA}" type="sibTrans" cxnId="{56F94A7A-5322-4316-AD89-7D2F00A5EE09}">
      <dgm:prSet/>
      <dgm:spPr/>
      <dgm:t>
        <a:bodyPr/>
        <a:lstStyle/>
        <a:p>
          <a:endParaRPr lang="en-US"/>
        </a:p>
      </dgm:t>
    </dgm:pt>
    <dgm:pt modelId="{7A3CAF09-89CE-4087-8A8A-00AD97D3FB24}">
      <dgm:prSet/>
      <dgm:spPr/>
      <dgm:t>
        <a:bodyPr/>
        <a:lstStyle/>
        <a:p>
          <a:r>
            <a:rPr lang="en-US" dirty="0"/>
            <a:t>Literature Review</a:t>
          </a:r>
        </a:p>
      </dgm:t>
    </dgm:pt>
    <dgm:pt modelId="{1BD86D96-1F6D-47E7-A1B3-04CF3458634D}" type="parTrans" cxnId="{784EF82B-BAAD-469F-9CAA-161BC6E5B5F1}">
      <dgm:prSet/>
      <dgm:spPr/>
      <dgm:t>
        <a:bodyPr/>
        <a:lstStyle/>
        <a:p>
          <a:endParaRPr lang="en-US"/>
        </a:p>
      </dgm:t>
    </dgm:pt>
    <dgm:pt modelId="{0CE0C50F-6FB0-4CAF-A25A-CC2672EB8E6C}" type="sibTrans" cxnId="{784EF82B-BAAD-469F-9CAA-161BC6E5B5F1}">
      <dgm:prSet/>
      <dgm:spPr/>
      <dgm:t>
        <a:bodyPr/>
        <a:lstStyle/>
        <a:p>
          <a:endParaRPr lang="en-US"/>
        </a:p>
      </dgm:t>
    </dgm:pt>
    <dgm:pt modelId="{9E34A830-0085-4DBE-B8AE-8622CFB72BEA}">
      <dgm:prSet/>
      <dgm:spPr/>
      <dgm:t>
        <a:bodyPr/>
        <a:lstStyle/>
        <a:p>
          <a:r>
            <a:rPr lang="en-US" dirty="0"/>
            <a:t>TCT Architecture</a:t>
          </a:r>
        </a:p>
      </dgm:t>
    </dgm:pt>
    <dgm:pt modelId="{3D23B6C7-F7C5-437B-8FAD-FA5522E22697}" type="parTrans" cxnId="{2E4AEF4C-4567-471A-BA59-6B333ED96976}">
      <dgm:prSet/>
      <dgm:spPr/>
      <dgm:t>
        <a:bodyPr/>
        <a:lstStyle/>
        <a:p>
          <a:endParaRPr lang="en-US"/>
        </a:p>
      </dgm:t>
    </dgm:pt>
    <dgm:pt modelId="{84BD5997-2D8F-4FD3-A26A-A45C713BF79C}" type="sibTrans" cxnId="{2E4AEF4C-4567-471A-BA59-6B333ED96976}">
      <dgm:prSet/>
      <dgm:spPr/>
      <dgm:t>
        <a:bodyPr/>
        <a:lstStyle/>
        <a:p>
          <a:endParaRPr lang="en-US"/>
        </a:p>
      </dgm:t>
    </dgm:pt>
    <dgm:pt modelId="{B7D448E4-D35C-4FC9-98F3-FD0C217FE932}">
      <dgm:prSet/>
      <dgm:spPr/>
      <dgm:t>
        <a:bodyPr/>
        <a:lstStyle/>
        <a:p>
          <a:r>
            <a:rPr lang="en-US" dirty="0"/>
            <a:t>Experiments</a:t>
          </a:r>
        </a:p>
      </dgm:t>
    </dgm:pt>
    <dgm:pt modelId="{A643C5E8-1A9F-423C-9BD0-143EA206A3F4}" type="parTrans" cxnId="{07A4281C-B0DC-4E15-87BA-C1C610788E32}">
      <dgm:prSet/>
      <dgm:spPr/>
      <dgm:t>
        <a:bodyPr/>
        <a:lstStyle/>
        <a:p>
          <a:endParaRPr lang="en-US"/>
        </a:p>
      </dgm:t>
    </dgm:pt>
    <dgm:pt modelId="{740A130C-BFBF-4EBF-A4C1-977A915A46E7}" type="sibTrans" cxnId="{07A4281C-B0DC-4E15-87BA-C1C610788E32}">
      <dgm:prSet/>
      <dgm:spPr/>
      <dgm:t>
        <a:bodyPr/>
        <a:lstStyle/>
        <a:p>
          <a:endParaRPr lang="en-US"/>
        </a:p>
      </dgm:t>
    </dgm:pt>
    <dgm:pt modelId="{A45CE270-3AAF-4979-A581-EC4A3EB9E88D}">
      <dgm:prSet/>
      <dgm:spPr/>
      <dgm:t>
        <a:bodyPr/>
        <a:lstStyle/>
        <a:p>
          <a:r>
            <a:rPr lang="en-US" dirty="0"/>
            <a:t>Contributions and Future Directions</a:t>
          </a:r>
        </a:p>
      </dgm:t>
    </dgm:pt>
    <dgm:pt modelId="{2FE405CC-285A-434B-BC71-B46CD5F71018}" type="parTrans" cxnId="{ABDE0752-06BA-4636-BCB1-304600C32384}">
      <dgm:prSet/>
      <dgm:spPr/>
      <dgm:t>
        <a:bodyPr/>
        <a:lstStyle/>
        <a:p>
          <a:endParaRPr lang="en-US"/>
        </a:p>
      </dgm:t>
    </dgm:pt>
    <dgm:pt modelId="{CCDAF1A2-828B-4D8D-BE75-7B9601A01BB8}" type="sibTrans" cxnId="{ABDE0752-06BA-4636-BCB1-304600C32384}">
      <dgm:prSet/>
      <dgm:spPr/>
      <dgm:t>
        <a:bodyPr/>
        <a:lstStyle/>
        <a:p>
          <a:endParaRPr lang="en-US"/>
        </a:p>
      </dgm:t>
    </dgm:pt>
    <dgm:pt modelId="{C6DA7C71-2489-4F42-963C-E28CB6E48095}" type="pres">
      <dgm:prSet presAssocID="{F46F1668-4786-49EE-8EBC-94635B62F98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E5CD56B-F1E4-254E-8DCA-0D0FA1965D1C}" type="pres">
      <dgm:prSet presAssocID="{6C392DF3-853A-4983-B34B-FA698DCC44D6}" presName="hierRoot1" presStyleCnt="0"/>
      <dgm:spPr/>
    </dgm:pt>
    <dgm:pt modelId="{A8584874-52DE-7D49-A047-976D5E92C70D}" type="pres">
      <dgm:prSet presAssocID="{6C392DF3-853A-4983-B34B-FA698DCC44D6}" presName="composite" presStyleCnt="0"/>
      <dgm:spPr/>
    </dgm:pt>
    <dgm:pt modelId="{36BF2225-AE22-314B-AF2D-55228814F298}" type="pres">
      <dgm:prSet presAssocID="{6C392DF3-853A-4983-B34B-FA698DCC44D6}" presName="background" presStyleLbl="node0" presStyleIdx="0" presStyleCnt="5"/>
      <dgm:spPr/>
    </dgm:pt>
    <dgm:pt modelId="{4B64EEEB-0D9F-344A-BC29-E0FE1AE9120E}" type="pres">
      <dgm:prSet presAssocID="{6C392DF3-853A-4983-B34B-FA698DCC44D6}" presName="text" presStyleLbl="fgAcc0" presStyleIdx="0" presStyleCnt="5">
        <dgm:presLayoutVars>
          <dgm:chPref val="3"/>
        </dgm:presLayoutVars>
      </dgm:prSet>
      <dgm:spPr/>
    </dgm:pt>
    <dgm:pt modelId="{F0207811-F6D6-8843-B1AF-A58F09B64E40}" type="pres">
      <dgm:prSet presAssocID="{6C392DF3-853A-4983-B34B-FA698DCC44D6}" presName="hierChild2" presStyleCnt="0"/>
      <dgm:spPr/>
    </dgm:pt>
    <dgm:pt modelId="{80FF5771-6F0D-5146-B43D-B5EA0AEA780D}" type="pres">
      <dgm:prSet presAssocID="{7A3CAF09-89CE-4087-8A8A-00AD97D3FB24}" presName="hierRoot1" presStyleCnt="0"/>
      <dgm:spPr/>
    </dgm:pt>
    <dgm:pt modelId="{46EA9D36-013E-7747-8C05-65C748CD8947}" type="pres">
      <dgm:prSet presAssocID="{7A3CAF09-89CE-4087-8A8A-00AD97D3FB24}" presName="composite" presStyleCnt="0"/>
      <dgm:spPr/>
    </dgm:pt>
    <dgm:pt modelId="{B3BA8365-D843-DB44-9342-3EA7CAFA27C7}" type="pres">
      <dgm:prSet presAssocID="{7A3CAF09-89CE-4087-8A8A-00AD97D3FB24}" presName="background" presStyleLbl="node0" presStyleIdx="1" presStyleCnt="5"/>
      <dgm:spPr/>
    </dgm:pt>
    <dgm:pt modelId="{2AA862F7-F98C-0C41-BAFE-D002CD2FAC9E}" type="pres">
      <dgm:prSet presAssocID="{7A3CAF09-89CE-4087-8A8A-00AD97D3FB24}" presName="text" presStyleLbl="fgAcc0" presStyleIdx="1" presStyleCnt="5">
        <dgm:presLayoutVars>
          <dgm:chPref val="3"/>
        </dgm:presLayoutVars>
      </dgm:prSet>
      <dgm:spPr/>
    </dgm:pt>
    <dgm:pt modelId="{B52A9E15-3AAB-2643-92B0-47526ED319BC}" type="pres">
      <dgm:prSet presAssocID="{7A3CAF09-89CE-4087-8A8A-00AD97D3FB24}" presName="hierChild2" presStyleCnt="0"/>
      <dgm:spPr/>
    </dgm:pt>
    <dgm:pt modelId="{9F697780-A044-E544-ACB6-DAB9599AB66D}" type="pres">
      <dgm:prSet presAssocID="{9E34A830-0085-4DBE-B8AE-8622CFB72BEA}" presName="hierRoot1" presStyleCnt="0"/>
      <dgm:spPr/>
    </dgm:pt>
    <dgm:pt modelId="{6597D490-4C58-DC4B-BBAC-6619E55CB213}" type="pres">
      <dgm:prSet presAssocID="{9E34A830-0085-4DBE-B8AE-8622CFB72BEA}" presName="composite" presStyleCnt="0"/>
      <dgm:spPr/>
    </dgm:pt>
    <dgm:pt modelId="{0D6D2B9E-40F5-234A-83E0-C92322AA872D}" type="pres">
      <dgm:prSet presAssocID="{9E34A830-0085-4DBE-B8AE-8622CFB72BEA}" presName="background" presStyleLbl="node0" presStyleIdx="2" presStyleCnt="5"/>
      <dgm:spPr/>
    </dgm:pt>
    <dgm:pt modelId="{D2EBED80-8A3C-A545-8213-CA0EA282634E}" type="pres">
      <dgm:prSet presAssocID="{9E34A830-0085-4DBE-B8AE-8622CFB72BEA}" presName="text" presStyleLbl="fgAcc0" presStyleIdx="2" presStyleCnt="5">
        <dgm:presLayoutVars>
          <dgm:chPref val="3"/>
        </dgm:presLayoutVars>
      </dgm:prSet>
      <dgm:spPr/>
    </dgm:pt>
    <dgm:pt modelId="{4AA97A98-35CF-2244-8D39-16A64EF351E0}" type="pres">
      <dgm:prSet presAssocID="{9E34A830-0085-4DBE-B8AE-8622CFB72BEA}" presName="hierChild2" presStyleCnt="0"/>
      <dgm:spPr/>
    </dgm:pt>
    <dgm:pt modelId="{6CFBE8F8-F2E5-0542-A0AF-830865796367}" type="pres">
      <dgm:prSet presAssocID="{B7D448E4-D35C-4FC9-98F3-FD0C217FE932}" presName="hierRoot1" presStyleCnt="0"/>
      <dgm:spPr/>
    </dgm:pt>
    <dgm:pt modelId="{EB73D22B-CFB2-E642-9B75-003B4780592C}" type="pres">
      <dgm:prSet presAssocID="{B7D448E4-D35C-4FC9-98F3-FD0C217FE932}" presName="composite" presStyleCnt="0"/>
      <dgm:spPr/>
    </dgm:pt>
    <dgm:pt modelId="{2EAE4AEB-41BD-0E4E-B186-0B4CC87AD595}" type="pres">
      <dgm:prSet presAssocID="{B7D448E4-D35C-4FC9-98F3-FD0C217FE932}" presName="background" presStyleLbl="node0" presStyleIdx="3" presStyleCnt="5"/>
      <dgm:spPr/>
    </dgm:pt>
    <dgm:pt modelId="{0CF1CBF2-421F-B646-91D1-2B6854447566}" type="pres">
      <dgm:prSet presAssocID="{B7D448E4-D35C-4FC9-98F3-FD0C217FE932}" presName="text" presStyleLbl="fgAcc0" presStyleIdx="3" presStyleCnt="5">
        <dgm:presLayoutVars>
          <dgm:chPref val="3"/>
        </dgm:presLayoutVars>
      </dgm:prSet>
      <dgm:spPr/>
    </dgm:pt>
    <dgm:pt modelId="{C6509B7E-09DF-EC43-8A7B-54508E2A9171}" type="pres">
      <dgm:prSet presAssocID="{B7D448E4-D35C-4FC9-98F3-FD0C217FE932}" presName="hierChild2" presStyleCnt="0"/>
      <dgm:spPr/>
    </dgm:pt>
    <dgm:pt modelId="{A9DF3CE1-A2E0-9E48-8049-BCD5675C491D}" type="pres">
      <dgm:prSet presAssocID="{A45CE270-3AAF-4979-A581-EC4A3EB9E88D}" presName="hierRoot1" presStyleCnt="0"/>
      <dgm:spPr/>
    </dgm:pt>
    <dgm:pt modelId="{E5970852-FF4D-B644-AFBF-9C5E07419EC0}" type="pres">
      <dgm:prSet presAssocID="{A45CE270-3AAF-4979-A581-EC4A3EB9E88D}" presName="composite" presStyleCnt="0"/>
      <dgm:spPr/>
    </dgm:pt>
    <dgm:pt modelId="{A1A7C6F4-DE72-6A45-9699-5BC45B5DC225}" type="pres">
      <dgm:prSet presAssocID="{A45CE270-3AAF-4979-A581-EC4A3EB9E88D}" presName="background" presStyleLbl="node0" presStyleIdx="4" presStyleCnt="5"/>
      <dgm:spPr/>
    </dgm:pt>
    <dgm:pt modelId="{7FC1DD06-56ED-9A49-8332-09B3E3A4776C}" type="pres">
      <dgm:prSet presAssocID="{A45CE270-3AAF-4979-A581-EC4A3EB9E88D}" presName="text" presStyleLbl="fgAcc0" presStyleIdx="4" presStyleCnt="5">
        <dgm:presLayoutVars>
          <dgm:chPref val="3"/>
        </dgm:presLayoutVars>
      </dgm:prSet>
      <dgm:spPr/>
    </dgm:pt>
    <dgm:pt modelId="{5CB21571-B228-D747-A8B2-54EB5842AE02}" type="pres">
      <dgm:prSet presAssocID="{A45CE270-3AAF-4979-A581-EC4A3EB9E88D}" presName="hierChild2" presStyleCnt="0"/>
      <dgm:spPr/>
    </dgm:pt>
  </dgm:ptLst>
  <dgm:cxnLst>
    <dgm:cxn modelId="{9EC15F05-9564-0141-8821-C4BAB3F810F4}" type="presOf" srcId="{7A3CAF09-89CE-4087-8A8A-00AD97D3FB24}" destId="{2AA862F7-F98C-0C41-BAFE-D002CD2FAC9E}" srcOrd="0" destOrd="0" presId="urn:microsoft.com/office/officeart/2005/8/layout/hierarchy1"/>
    <dgm:cxn modelId="{01225014-3BE0-034D-9F07-7A497BD4A719}" type="presOf" srcId="{F46F1668-4786-49EE-8EBC-94635B62F98D}" destId="{C6DA7C71-2489-4F42-963C-E28CB6E48095}" srcOrd="0" destOrd="0" presId="urn:microsoft.com/office/officeart/2005/8/layout/hierarchy1"/>
    <dgm:cxn modelId="{07A4281C-B0DC-4E15-87BA-C1C610788E32}" srcId="{F46F1668-4786-49EE-8EBC-94635B62F98D}" destId="{B7D448E4-D35C-4FC9-98F3-FD0C217FE932}" srcOrd="3" destOrd="0" parTransId="{A643C5E8-1A9F-423C-9BD0-143EA206A3F4}" sibTransId="{740A130C-BFBF-4EBF-A4C1-977A915A46E7}"/>
    <dgm:cxn modelId="{3C63D328-97A1-994D-9DBE-D6824F108C00}" type="presOf" srcId="{A45CE270-3AAF-4979-A581-EC4A3EB9E88D}" destId="{7FC1DD06-56ED-9A49-8332-09B3E3A4776C}" srcOrd="0" destOrd="0" presId="urn:microsoft.com/office/officeart/2005/8/layout/hierarchy1"/>
    <dgm:cxn modelId="{784EF82B-BAAD-469F-9CAA-161BC6E5B5F1}" srcId="{F46F1668-4786-49EE-8EBC-94635B62F98D}" destId="{7A3CAF09-89CE-4087-8A8A-00AD97D3FB24}" srcOrd="1" destOrd="0" parTransId="{1BD86D96-1F6D-47E7-A1B3-04CF3458634D}" sibTransId="{0CE0C50F-6FB0-4CAF-A25A-CC2672EB8E6C}"/>
    <dgm:cxn modelId="{7A840639-F150-8B43-AE5B-C5D5A931CAA8}" type="presOf" srcId="{6C392DF3-853A-4983-B34B-FA698DCC44D6}" destId="{4B64EEEB-0D9F-344A-BC29-E0FE1AE9120E}" srcOrd="0" destOrd="0" presId="urn:microsoft.com/office/officeart/2005/8/layout/hierarchy1"/>
    <dgm:cxn modelId="{2E4AEF4C-4567-471A-BA59-6B333ED96976}" srcId="{F46F1668-4786-49EE-8EBC-94635B62F98D}" destId="{9E34A830-0085-4DBE-B8AE-8622CFB72BEA}" srcOrd="2" destOrd="0" parTransId="{3D23B6C7-F7C5-437B-8FAD-FA5522E22697}" sibTransId="{84BD5997-2D8F-4FD3-A26A-A45C713BF79C}"/>
    <dgm:cxn modelId="{ABDE0752-06BA-4636-BCB1-304600C32384}" srcId="{F46F1668-4786-49EE-8EBC-94635B62F98D}" destId="{A45CE270-3AAF-4979-A581-EC4A3EB9E88D}" srcOrd="4" destOrd="0" parTransId="{2FE405CC-285A-434B-BC71-B46CD5F71018}" sibTransId="{CCDAF1A2-828B-4D8D-BE75-7B9601A01BB8}"/>
    <dgm:cxn modelId="{14DD3268-6F92-A849-9C82-B817016DA893}" type="presOf" srcId="{9E34A830-0085-4DBE-B8AE-8622CFB72BEA}" destId="{D2EBED80-8A3C-A545-8213-CA0EA282634E}" srcOrd="0" destOrd="0" presId="urn:microsoft.com/office/officeart/2005/8/layout/hierarchy1"/>
    <dgm:cxn modelId="{56F94A7A-5322-4316-AD89-7D2F00A5EE09}" srcId="{F46F1668-4786-49EE-8EBC-94635B62F98D}" destId="{6C392DF3-853A-4983-B34B-FA698DCC44D6}" srcOrd="0" destOrd="0" parTransId="{4E04BA09-F03A-4132-9A7B-BA966DDD2217}" sibTransId="{FB0482E8-4B8D-4545-A5C3-9E38B92525FA}"/>
    <dgm:cxn modelId="{0B2676E2-C7ED-2646-AC49-FC5DBF9BDB64}" type="presOf" srcId="{B7D448E4-D35C-4FC9-98F3-FD0C217FE932}" destId="{0CF1CBF2-421F-B646-91D1-2B6854447566}" srcOrd="0" destOrd="0" presId="urn:microsoft.com/office/officeart/2005/8/layout/hierarchy1"/>
    <dgm:cxn modelId="{548AA75E-3966-F647-B054-37D71CABF6E0}" type="presParOf" srcId="{C6DA7C71-2489-4F42-963C-E28CB6E48095}" destId="{CE5CD56B-F1E4-254E-8DCA-0D0FA1965D1C}" srcOrd="0" destOrd="0" presId="urn:microsoft.com/office/officeart/2005/8/layout/hierarchy1"/>
    <dgm:cxn modelId="{8AE474FB-A4A9-A54F-A0B1-DAF6FA16678D}" type="presParOf" srcId="{CE5CD56B-F1E4-254E-8DCA-0D0FA1965D1C}" destId="{A8584874-52DE-7D49-A047-976D5E92C70D}" srcOrd="0" destOrd="0" presId="urn:microsoft.com/office/officeart/2005/8/layout/hierarchy1"/>
    <dgm:cxn modelId="{00931ECF-1EA1-E741-9D6E-52354BCF5095}" type="presParOf" srcId="{A8584874-52DE-7D49-A047-976D5E92C70D}" destId="{36BF2225-AE22-314B-AF2D-55228814F298}" srcOrd="0" destOrd="0" presId="urn:microsoft.com/office/officeart/2005/8/layout/hierarchy1"/>
    <dgm:cxn modelId="{8050AC1D-7912-5B43-A54C-02C7C5E8D390}" type="presParOf" srcId="{A8584874-52DE-7D49-A047-976D5E92C70D}" destId="{4B64EEEB-0D9F-344A-BC29-E0FE1AE9120E}" srcOrd="1" destOrd="0" presId="urn:microsoft.com/office/officeart/2005/8/layout/hierarchy1"/>
    <dgm:cxn modelId="{0E40CCA9-EBEB-A048-848C-9D3AB72D07E9}" type="presParOf" srcId="{CE5CD56B-F1E4-254E-8DCA-0D0FA1965D1C}" destId="{F0207811-F6D6-8843-B1AF-A58F09B64E40}" srcOrd="1" destOrd="0" presId="urn:microsoft.com/office/officeart/2005/8/layout/hierarchy1"/>
    <dgm:cxn modelId="{3F86DD10-0A8D-B545-A97F-EA0AF063AB79}" type="presParOf" srcId="{C6DA7C71-2489-4F42-963C-E28CB6E48095}" destId="{80FF5771-6F0D-5146-B43D-B5EA0AEA780D}" srcOrd="1" destOrd="0" presId="urn:microsoft.com/office/officeart/2005/8/layout/hierarchy1"/>
    <dgm:cxn modelId="{C20ED35A-A8C5-2446-BB38-14D4D8A87525}" type="presParOf" srcId="{80FF5771-6F0D-5146-B43D-B5EA0AEA780D}" destId="{46EA9D36-013E-7747-8C05-65C748CD8947}" srcOrd="0" destOrd="0" presId="urn:microsoft.com/office/officeart/2005/8/layout/hierarchy1"/>
    <dgm:cxn modelId="{0E40A92A-66B5-2E42-8076-CCDEF8E8AACD}" type="presParOf" srcId="{46EA9D36-013E-7747-8C05-65C748CD8947}" destId="{B3BA8365-D843-DB44-9342-3EA7CAFA27C7}" srcOrd="0" destOrd="0" presId="urn:microsoft.com/office/officeart/2005/8/layout/hierarchy1"/>
    <dgm:cxn modelId="{3BB35B97-19DB-6445-A826-5F64DAF2F780}" type="presParOf" srcId="{46EA9D36-013E-7747-8C05-65C748CD8947}" destId="{2AA862F7-F98C-0C41-BAFE-D002CD2FAC9E}" srcOrd="1" destOrd="0" presId="urn:microsoft.com/office/officeart/2005/8/layout/hierarchy1"/>
    <dgm:cxn modelId="{CBAB30C2-EC3E-1C46-B20D-1AB133BA4A0B}" type="presParOf" srcId="{80FF5771-6F0D-5146-B43D-B5EA0AEA780D}" destId="{B52A9E15-3AAB-2643-92B0-47526ED319BC}" srcOrd="1" destOrd="0" presId="urn:microsoft.com/office/officeart/2005/8/layout/hierarchy1"/>
    <dgm:cxn modelId="{439476F9-3596-1E4D-A4C6-26BF9A1DFA1B}" type="presParOf" srcId="{C6DA7C71-2489-4F42-963C-E28CB6E48095}" destId="{9F697780-A044-E544-ACB6-DAB9599AB66D}" srcOrd="2" destOrd="0" presId="urn:microsoft.com/office/officeart/2005/8/layout/hierarchy1"/>
    <dgm:cxn modelId="{80DFBB73-F681-F34C-BBFD-797185147CF7}" type="presParOf" srcId="{9F697780-A044-E544-ACB6-DAB9599AB66D}" destId="{6597D490-4C58-DC4B-BBAC-6619E55CB213}" srcOrd="0" destOrd="0" presId="urn:microsoft.com/office/officeart/2005/8/layout/hierarchy1"/>
    <dgm:cxn modelId="{FEE6AD60-0891-AC44-9DE9-2553DDBA7FC1}" type="presParOf" srcId="{6597D490-4C58-DC4B-BBAC-6619E55CB213}" destId="{0D6D2B9E-40F5-234A-83E0-C92322AA872D}" srcOrd="0" destOrd="0" presId="urn:microsoft.com/office/officeart/2005/8/layout/hierarchy1"/>
    <dgm:cxn modelId="{25304580-A198-0A44-AF58-BE20BAB26451}" type="presParOf" srcId="{6597D490-4C58-DC4B-BBAC-6619E55CB213}" destId="{D2EBED80-8A3C-A545-8213-CA0EA282634E}" srcOrd="1" destOrd="0" presId="urn:microsoft.com/office/officeart/2005/8/layout/hierarchy1"/>
    <dgm:cxn modelId="{F2C253A3-F87C-634D-BE1F-3D0FB866276E}" type="presParOf" srcId="{9F697780-A044-E544-ACB6-DAB9599AB66D}" destId="{4AA97A98-35CF-2244-8D39-16A64EF351E0}" srcOrd="1" destOrd="0" presId="urn:microsoft.com/office/officeart/2005/8/layout/hierarchy1"/>
    <dgm:cxn modelId="{7CF76448-F399-9B40-A829-D15417C2CA47}" type="presParOf" srcId="{C6DA7C71-2489-4F42-963C-E28CB6E48095}" destId="{6CFBE8F8-F2E5-0542-A0AF-830865796367}" srcOrd="3" destOrd="0" presId="urn:microsoft.com/office/officeart/2005/8/layout/hierarchy1"/>
    <dgm:cxn modelId="{7B146F86-DC01-A048-AFCD-A4FD95A97113}" type="presParOf" srcId="{6CFBE8F8-F2E5-0542-A0AF-830865796367}" destId="{EB73D22B-CFB2-E642-9B75-003B4780592C}" srcOrd="0" destOrd="0" presId="urn:microsoft.com/office/officeart/2005/8/layout/hierarchy1"/>
    <dgm:cxn modelId="{49739F32-0310-884C-97C3-BE438451E3D0}" type="presParOf" srcId="{EB73D22B-CFB2-E642-9B75-003B4780592C}" destId="{2EAE4AEB-41BD-0E4E-B186-0B4CC87AD595}" srcOrd="0" destOrd="0" presId="urn:microsoft.com/office/officeart/2005/8/layout/hierarchy1"/>
    <dgm:cxn modelId="{DFC919BA-8351-604A-AB30-9BECD0C71531}" type="presParOf" srcId="{EB73D22B-CFB2-E642-9B75-003B4780592C}" destId="{0CF1CBF2-421F-B646-91D1-2B6854447566}" srcOrd="1" destOrd="0" presId="urn:microsoft.com/office/officeart/2005/8/layout/hierarchy1"/>
    <dgm:cxn modelId="{EF6AAB75-8919-D049-9C7B-5C35E2774CE3}" type="presParOf" srcId="{6CFBE8F8-F2E5-0542-A0AF-830865796367}" destId="{C6509B7E-09DF-EC43-8A7B-54508E2A9171}" srcOrd="1" destOrd="0" presId="urn:microsoft.com/office/officeart/2005/8/layout/hierarchy1"/>
    <dgm:cxn modelId="{44305411-8959-EA4D-B7C9-FD4ED7D679CB}" type="presParOf" srcId="{C6DA7C71-2489-4F42-963C-E28CB6E48095}" destId="{A9DF3CE1-A2E0-9E48-8049-BCD5675C491D}" srcOrd="4" destOrd="0" presId="urn:microsoft.com/office/officeart/2005/8/layout/hierarchy1"/>
    <dgm:cxn modelId="{B16A0AC8-95EC-FF4E-B424-2BFE9E3FBA1D}" type="presParOf" srcId="{A9DF3CE1-A2E0-9E48-8049-BCD5675C491D}" destId="{E5970852-FF4D-B644-AFBF-9C5E07419EC0}" srcOrd="0" destOrd="0" presId="urn:microsoft.com/office/officeart/2005/8/layout/hierarchy1"/>
    <dgm:cxn modelId="{0CD52DCD-0B0E-7C4A-900F-C0CE1943BDDC}" type="presParOf" srcId="{E5970852-FF4D-B644-AFBF-9C5E07419EC0}" destId="{A1A7C6F4-DE72-6A45-9699-5BC45B5DC225}" srcOrd="0" destOrd="0" presId="urn:microsoft.com/office/officeart/2005/8/layout/hierarchy1"/>
    <dgm:cxn modelId="{D5B2360F-0060-F044-B0C2-129CF885A73B}" type="presParOf" srcId="{E5970852-FF4D-B644-AFBF-9C5E07419EC0}" destId="{7FC1DD06-56ED-9A49-8332-09B3E3A4776C}" srcOrd="1" destOrd="0" presId="urn:microsoft.com/office/officeart/2005/8/layout/hierarchy1"/>
    <dgm:cxn modelId="{0D3C81A6-64DB-4A4A-ABD3-5372A2F27FC7}" type="presParOf" srcId="{A9DF3CE1-A2E0-9E48-8049-BCD5675C491D}" destId="{5CB21571-B228-D747-A8B2-54EB5842AE0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2225-AE22-314B-AF2D-55228814F298}">
      <dsp:nvSpPr>
        <dsp:cNvPr id="0" name=""/>
        <dsp:cNvSpPr/>
      </dsp:nvSpPr>
      <dsp:spPr>
        <a:xfrm>
          <a:off x="3654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EEEB-0D9F-344A-BC29-E0FE1AE9120E}">
      <dsp:nvSpPr>
        <dsp:cNvPr id="0" name=""/>
        <dsp:cNvSpPr/>
      </dsp:nvSpPr>
      <dsp:spPr>
        <a:xfrm>
          <a:off x="201515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Introduction</a:t>
          </a:r>
        </a:p>
      </dsp:txBody>
      <dsp:txXfrm>
        <a:off x="234634" y="1431789"/>
        <a:ext cx="1714512" cy="1064538"/>
      </dsp:txXfrm>
    </dsp:sp>
    <dsp:sp modelId="{B3BA8365-D843-DB44-9342-3EA7CAFA27C7}">
      <dsp:nvSpPr>
        <dsp:cNvPr id="0" name=""/>
        <dsp:cNvSpPr/>
      </dsp:nvSpPr>
      <dsp:spPr>
        <a:xfrm>
          <a:off x="2180127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862F7-F98C-0C41-BAFE-D002CD2FAC9E}">
      <dsp:nvSpPr>
        <dsp:cNvPr id="0" name=""/>
        <dsp:cNvSpPr/>
      </dsp:nvSpPr>
      <dsp:spPr>
        <a:xfrm>
          <a:off x="2377988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Literature Review</a:t>
          </a:r>
        </a:p>
      </dsp:txBody>
      <dsp:txXfrm>
        <a:off x="2411107" y="1431789"/>
        <a:ext cx="1714512" cy="1064538"/>
      </dsp:txXfrm>
    </dsp:sp>
    <dsp:sp modelId="{0D6D2B9E-40F5-234A-83E0-C92322AA872D}">
      <dsp:nvSpPr>
        <dsp:cNvPr id="0" name=""/>
        <dsp:cNvSpPr/>
      </dsp:nvSpPr>
      <dsp:spPr>
        <a:xfrm>
          <a:off x="4356600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BED80-8A3C-A545-8213-CA0EA282634E}">
      <dsp:nvSpPr>
        <dsp:cNvPr id="0" name=""/>
        <dsp:cNvSpPr/>
      </dsp:nvSpPr>
      <dsp:spPr>
        <a:xfrm>
          <a:off x="4554461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TCT Architecture</a:t>
          </a:r>
        </a:p>
      </dsp:txBody>
      <dsp:txXfrm>
        <a:off x="4587580" y="1431789"/>
        <a:ext cx="1714512" cy="1064538"/>
      </dsp:txXfrm>
    </dsp:sp>
    <dsp:sp modelId="{2EAE4AEB-41BD-0E4E-B186-0B4CC87AD595}">
      <dsp:nvSpPr>
        <dsp:cNvPr id="0" name=""/>
        <dsp:cNvSpPr/>
      </dsp:nvSpPr>
      <dsp:spPr>
        <a:xfrm>
          <a:off x="6533073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1CBF2-421F-B646-91D1-2B6854447566}">
      <dsp:nvSpPr>
        <dsp:cNvPr id="0" name=""/>
        <dsp:cNvSpPr/>
      </dsp:nvSpPr>
      <dsp:spPr>
        <a:xfrm>
          <a:off x="6730934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Experiments</a:t>
          </a:r>
        </a:p>
      </dsp:txBody>
      <dsp:txXfrm>
        <a:off x="6764053" y="1431789"/>
        <a:ext cx="1714512" cy="1064538"/>
      </dsp:txXfrm>
    </dsp:sp>
    <dsp:sp modelId="{A1A7C6F4-DE72-6A45-9699-5BC45B5DC225}">
      <dsp:nvSpPr>
        <dsp:cNvPr id="0" name=""/>
        <dsp:cNvSpPr/>
      </dsp:nvSpPr>
      <dsp:spPr>
        <a:xfrm>
          <a:off x="8709545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1DD06-56ED-9A49-8332-09B3E3A4776C}">
      <dsp:nvSpPr>
        <dsp:cNvPr id="0" name=""/>
        <dsp:cNvSpPr/>
      </dsp:nvSpPr>
      <dsp:spPr>
        <a:xfrm>
          <a:off x="8907407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Contributions and Future Directions</a:t>
          </a:r>
        </a:p>
      </dsp:txBody>
      <dsp:txXfrm>
        <a:off x="8940526" y="1431789"/>
        <a:ext cx="1714512" cy="1064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C0C59-185E-874E-8468-6092D83992DA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2F5B2-8E9E-A043-910C-D623E320F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58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95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42DE-5F9C-0613-96F9-183D0FD0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46CE30-EA71-0879-EE45-9DBA6960C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E5360-5E8D-4250-DCD5-2E6206E05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937DC-7868-5AF0-5F6D-6E8E37607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34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F1EAC-B71B-FDE6-27B5-1160AB6CF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D243A-8815-03A6-E882-F43ABEC0C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F77F9-2814-84C2-573F-53A4D07E5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4EC1-7751-E5EF-DAF8-BAC5868CDA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337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0B700-F042-2921-1CD0-4E009C048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9BDB-7D43-A81B-32BE-F44845555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184F4-289C-16FC-E762-D4E4A65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0BAF2-F186-03B4-3234-75EBAA42D2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3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1E3-A865-728E-7FBF-6F571D5CC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E31FD-4816-952F-E834-91B942FD4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441665-3C04-54D7-EB5C-7613BFBE8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8637B-06CA-C46A-7E99-FDD289D467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11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3533-2EEF-596A-5F46-9CAB8E8B2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F3CB-49F5-5EDD-98D0-C5CE2FD02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CCB77-B320-EDFD-ADD3-8C3543F2D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D4B9F-781D-35AF-9C0F-EA0FBD3B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465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8BE03-06A6-4482-4F33-E3F81B0FB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CD6B8-627D-1A7E-DD33-865AF464F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E0A79-3AED-85DE-4FA9-43540C90F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C057F-A8E3-D65D-F050-CC97BE314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98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C860-F29F-5484-9868-90E51A3B7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FB06F-1333-1535-B2B5-89CBABE4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AF1DB-03C8-318D-5461-4A8DF21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C2005-9544-FB73-3EC3-366C43489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628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FC4F0-8DBD-DCDF-D517-89804E2A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79014-C86C-6519-D204-D1B57D44E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36227-16BA-9EB9-4510-716735A67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E9D63-0C0F-0169-826E-FF43EB473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262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481B-0512-9519-4F32-7015AEAB7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D7E53-E720-2104-047B-3791CD9FB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1D6D2-1EBB-7851-E4B4-0B9B5FB7E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86F68-B46D-0E96-8D3C-C09085582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9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FE84-1E88-1FF5-4E2B-FEE852B5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6BB506-B408-A8E8-7C5D-DAB8B7CA0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8415-54C6-A7C0-44DF-651DC63C3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DEFDA-8F21-1035-38A1-98764CC4F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2819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9AE0-425F-D645-FFA2-ED6A942BA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446B0-8513-7138-7FEE-3670ABE43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4F6F1-241B-6819-0A4C-1F2CD7428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8C8A6-8684-7473-BC93-DDF734E1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594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36DE6-B0D6-4185-7B92-17DE7761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20987-4CCA-9195-545B-C262B717A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74A125-BC2B-F44F-6094-868706C80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91889-DE14-544E-F923-8EB38609B8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88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4C87-8855-0B10-3A71-D1A039E8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A9F8F-98EF-6F25-A3C7-030EEEF8A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F6D4D-682B-3720-D7E1-599E212F6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7A6FE-17EE-34FD-2121-D50C18B2E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176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2BCBE-DF07-0486-449E-57C64662C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E94138-6ABE-83A3-A165-9F915FB46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B68F-CA6C-2E51-27BC-F1B4533CE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BFF5C-A011-F511-648B-C4C7CAEE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102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1DF8-EEFA-8563-4677-7B994660E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CBF27-3A72-0E0C-A640-69735F9A0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8BD99-0337-DFD8-7EFB-CFBF25350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C5288-3EB1-40A0-6447-50C02EEC4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0924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6D46-D967-564C-0ABD-EE69AE0EB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DE493-5B62-41AA-497A-09998D392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7B9C0-9F15-BD2D-2CDD-D68FADA7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AF785-693A-B074-66DE-DADC83C00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45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ED86F-A59F-D823-FDB2-813F3E0D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A5735-758E-66F4-A897-8C3D3548A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69AE2-96AC-8E27-2CCE-F083B03E0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C739D-62E0-0506-0AD8-CD26B0586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29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120F-473B-660E-EA04-7CB2A27E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14927F-C571-A9E7-1FB6-F73EEB795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3A2BE-EB63-8ADF-4DBD-7A3CB7138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534EB-ECE1-3C6E-87BD-11DA3FC58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771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97141-5124-84A7-0D88-24E48ACD0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6AFF1-0B90-33DF-9C35-47B0F089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4EEF0-415E-95D6-6F17-FE2AFC87A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61CAF-1A49-FF1F-50A6-7AA993CDF2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825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76BE-6F05-6DC8-ECAF-4EB6D96C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AB5E6-48BD-CB59-8E2F-682898A90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D3C04-3144-948E-E545-301DF2148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9E00-5766-D2EB-8B51-B6B04EBCA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706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4DC4-E2E0-0F3C-E9EE-55EE137F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B0E4F-28C4-3EBB-E0A5-941FB571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678D8-4986-E668-DC0D-130BC0AE2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A3593-68F6-26EC-4436-19343ACF5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7576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E993-E3F9-DF3E-D9B8-3644A060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A8B7A-40C0-1596-712F-E9E06220E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F4584E-16C2-A258-C327-7043C1311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FD689-5E34-E229-B3FB-F5C1E58E4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0305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21E7-A926-4B59-2A47-3631C42F1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3CE71-50AA-B53F-3905-C7E1ADBABA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105F8A-BA2F-5A55-0FDD-93581A2C7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945F-AE16-7F39-1038-B46BB3243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4458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B23E4-62CC-E4D6-4050-1A9DB464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07BB1-25DE-7461-71C4-D774BE90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E9A08F-29DD-0F22-2B7E-B1C1D5A50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80A5C-9461-15C7-4FDC-FAAC1ACCB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647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7B5F4-081B-0F80-C8C6-6E91977B4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0316-3800-9E9A-6DC5-4D484E3DE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F3F533-7A8E-7AF7-1E86-31C4E0EFA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9204C-4981-CF8A-F6EE-B2D68FED2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7283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DD13B-229B-634D-EFC1-3F1063EAA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8D044-5265-6995-B8A8-082AC8326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DB1E9-3CC7-6E90-1D5F-FC01E4830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EBC2A-7DF1-FE2D-014B-09B1E1FA4C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C986C-16BD-404E-2D57-F77711F1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B967A-21E7-F3FA-80F9-AEBD0CBBC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75E3B-16FE-7236-6481-47811C9BE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52D93-EAF4-561C-B0CC-5326ACB9B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114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696E-C70D-894A-0E49-45AA87000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251410-F781-9B68-C30B-B6A0E5A4A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B411C-448C-5901-9549-ED75B5AD8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F47A5-DE58-C2F2-C5FB-696874D4D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2421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36BD-2676-ED1C-ABA7-18DEC59E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4301-168F-EF8C-1517-BEA331C9B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677F62-EBBA-3CA3-F718-623757F73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20419-5EB5-6EA5-4749-73DC6766D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4189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9B938-A59D-FCDF-3C65-DAF51054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951F0-C82E-0E73-5A91-D23FB158F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BEAE5-4339-579D-6F1A-F6DF851F0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152F4-FFFA-CE39-AE5B-A92C3EFB8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9862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62912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5518-F45D-2A8F-0375-A607D2F6D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EF48DA-C6E4-D54E-984A-834D96808E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A1384F-7691-4BB0-598B-5A80CBE6BF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E9D7D-E2C1-D514-6477-B60878E42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65311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28F2E-D6E4-85D8-4D24-EBB2071F6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8FAF16-BB65-0863-2889-5D416906AE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484FC6-1CF4-BE83-16E6-02A9730158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E8D5F4-0BE2-69F0-17ED-AD420A1C5B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7445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5/5/26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5/5/26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5/5/26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sv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E66955-A8B7-B0B1-56F3-79EF1233B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53864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C8F19-DA0E-F3B1-76ED-AD87A593B0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3A460D-6B34-E416-68A0-7BF0F3B1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5067300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Introduction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43785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D98B9-1A16-30CF-9960-E943BE1D9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 dirty="0"/>
              <a:t>Introduction – Outline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Magnifying glass">
            <a:extLst>
              <a:ext uri="{FF2B5EF4-FFF2-40B4-BE49-F238E27FC236}">
                <a16:creationId xmlns:a16="http://schemas.microsoft.com/office/drawing/2014/main" id="{731A55FF-5C2E-9E12-0AD3-2B4BA4335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66381" y="1869439"/>
            <a:ext cx="4139625" cy="413962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EA7A7DF-3A39-BF71-9A49-069E4E06B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899" y="1556890"/>
            <a:ext cx="4191001" cy="4139626"/>
          </a:xfrm>
        </p:spPr>
        <p:txBody>
          <a:bodyPr anchor="b">
            <a:normAutofit lnSpcReduction="10000"/>
          </a:bodyPr>
          <a:lstStyle/>
          <a:p>
            <a:pPr algn="just"/>
            <a:r>
              <a:rPr lang="en-US" dirty="0"/>
              <a:t>The current existing visual search models are limited to the context image and neglect the target image.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Recognition task-based rather than an attention-map-based visual search model.</a:t>
            </a:r>
          </a:p>
          <a:p>
            <a:endParaRPr lang="en-US" dirty="0"/>
          </a:p>
          <a:p>
            <a:pPr marL="0" indent="0" algn="just">
              <a:buNone/>
            </a:pPr>
            <a:r>
              <a:rPr lang="en-US" dirty="0"/>
              <a:t>=&gt; Propose a new attention-map-based top-down visual search model mimicking human search </a:t>
            </a:r>
            <a:r>
              <a:rPr lang="en-US" dirty="0" err="1"/>
              <a:t>behaviour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481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E86DC-9DE3-59F0-64C0-A9E00547E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Introduction – Visual search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E3309-7229-AD07-B211-200BDB804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Definition: A process of locating a target in a search scene, display, images, etc. that contain multiple distractors (Treisman &amp; </a:t>
            </a:r>
            <a:r>
              <a:rPr lang="en-US" dirty="0" err="1"/>
              <a:t>Gelade</a:t>
            </a:r>
            <a:r>
              <a:rPr lang="en-US" dirty="0"/>
              <a:t>, 1980).</a:t>
            </a:r>
          </a:p>
          <a:p>
            <a:endParaRPr lang="en-US" dirty="0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B7A6BA6B-6776-2D3F-0F3F-65819E01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7920" y="2102261"/>
            <a:ext cx="3903980" cy="39039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865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2F20000-FD86-48F6-9363-FEC90C93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72AE332-6ACA-45BE-875F-91A291D4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EC9672-E538-3B1A-3564-BF01BFC2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129" y="914760"/>
            <a:ext cx="3678485" cy="3543764"/>
          </a:xfrm>
        </p:spPr>
        <p:txBody>
          <a:bodyPr>
            <a:normAutofit/>
          </a:bodyPr>
          <a:lstStyle/>
          <a:p>
            <a:r>
              <a:rPr lang="en-US" sz="3700" dirty="0"/>
              <a:t>Introduction - Contributions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650ED078-3BCA-D05D-0D3C-3CFAA967B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168" y="993228"/>
            <a:ext cx="6720840" cy="4935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700" dirty="0"/>
              <a:t>Examine </a:t>
            </a:r>
            <a:r>
              <a:rPr lang="en-US" sz="1700" b="1" dirty="0"/>
              <a:t>I</a:t>
            </a:r>
            <a:r>
              <a:rPr lang="en-US" sz="1700" dirty="0"/>
              <a:t>nvariant </a:t>
            </a:r>
            <a:r>
              <a:rPr lang="en-US" sz="1700" b="1" dirty="0"/>
              <a:t>V</a:t>
            </a:r>
            <a:r>
              <a:rPr lang="en-US" sz="1700" dirty="0"/>
              <a:t>isual </a:t>
            </a:r>
            <a:r>
              <a:rPr lang="en-US" sz="1700" b="1" dirty="0"/>
              <a:t>S</a:t>
            </a:r>
            <a:r>
              <a:rPr lang="en-US" sz="1700" dirty="0"/>
              <a:t>earch </a:t>
            </a:r>
            <a:r>
              <a:rPr lang="en-US" sz="1700" b="1" dirty="0"/>
              <a:t>N</a:t>
            </a:r>
            <a:r>
              <a:rPr lang="en-US" sz="1700" dirty="0"/>
              <a:t>etwork (</a:t>
            </a:r>
            <a:r>
              <a:rPr lang="en-US" sz="1700" b="1" dirty="0"/>
              <a:t>IVSN</a:t>
            </a:r>
            <a:r>
              <a:rPr lang="en-US" sz="1700" dirty="0"/>
              <a:t>) (Zhang et al., 2018) as an inspiration for building a computational top-down visual search model.</a:t>
            </a:r>
          </a:p>
          <a:p>
            <a:pPr>
              <a:lnSpc>
                <a:spcPct val="100000"/>
              </a:lnSpc>
            </a:pPr>
            <a:endParaRPr lang="en-US" sz="1700" dirty="0"/>
          </a:p>
          <a:p>
            <a:pPr>
              <a:lnSpc>
                <a:spcPct val="100000"/>
              </a:lnSpc>
            </a:pPr>
            <a:r>
              <a:rPr lang="en-US" sz="1700" dirty="0"/>
              <a:t>Introducing different augmentation methods on the COCO-Search18 dataset (</a:t>
            </a:r>
            <a:r>
              <a:rPr lang="en-SG" sz="1700" dirty="0"/>
              <a:t>Yang et al., 2020</a:t>
            </a:r>
            <a:r>
              <a:rPr lang="en-US" sz="1700" dirty="0"/>
              <a:t>) to train the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R</a:t>
            </a:r>
            <a:r>
              <a:rPr lang="en-SG" sz="1700" dirty="0"/>
              <a:t>ecognition </a:t>
            </a:r>
            <a:r>
              <a:rPr lang="en-SG" sz="1700" b="1" dirty="0"/>
              <a:t>T</a:t>
            </a:r>
            <a:r>
              <a:rPr lang="en-SG" sz="1700" dirty="0"/>
              <a:t>ransformer </a:t>
            </a:r>
            <a:r>
              <a:rPr lang="en-SG" sz="1700" b="1" dirty="0"/>
              <a:t>Net</a:t>
            </a:r>
            <a:r>
              <a:rPr lang="en-SG" sz="1700" dirty="0"/>
              <a:t>work</a:t>
            </a:r>
            <a:r>
              <a:rPr lang="en-US" sz="1700" dirty="0"/>
              <a:t> (</a:t>
            </a:r>
            <a:r>
              <a:rPr lang="en-US" sz="1700" b="1" dirty="0" err="1"/>
              <a:t>CRTNet</a:t>
            </a:r>
            <a:r>
              <a:rPr lang="en-US" sz="1700" dirty="0"/>
              <a:t>) </a:t>
            </a:r>
            <a:r>
              <a:rPr lang="en-SG" sz="1700" dirty="0"/>
              <a:t>(</a:t>
            </a:r>
            <a:r>
              <a:rPr lang="en-SG" sz="1700" dirty="0" err="1"/>
              <a:t>Bomatter</a:t>
            </a:r>
            <a:r>
              <a:rPr lang="en-SG" sz="1700" dirty="0"/>
              <a:t> et al., 2021) for the visual search task.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Propose a modified </a:t>
            </a:r>
            <a:r>
              <a:rPr lang="en-SG" sz="1700" dirty="0" err="1"/>
              <a:t>CRTNet</a:t>
            </a:r>
            <a:r>
              <a:rPr lang="en-SG" sz="1700" dirty="0"/>
              <a:t> architecture for global modulation in the </a:t>
            </a:r>
            <a:r>
              <a:rPr lang="en-SG" sz="1700" b="1" dirty="0"/>
              <a:t>T</a:t>
            </a:r>
            <a:r>
              <a:rPr lang="en-SG" sz="1700" dirty="0"/>
              <a:t>arget and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T</a:t>
            </a:r>
            <a:r>
              <a:rPr lang="en-SG" sz="1700" dirty="0"/>
              <a:t>ransformer (</a:t>
            </a:r>
            <a:r>
              <a:rPr lang="en-SG" sz="1700" b="1" dirty="0"/>
              <a:t>TCT</a:t>
            </a:r>
            <a:r>
              <a:rPr lang="en-SG" sz="1700" dirty="0"/>
              <a:t>) visual search model.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Assess TCT visual search model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3200024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E2D8E1-3E24-9B82-7B52-9A309A1BC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13721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Literature Review</a:t>
            </a:r>
          </a:p>
        </p:txBody>
      </p:sp>
      <p:pic>
        <p:nvPicPr>
          <p:cNvPr id="7" name="Graphic 6" descr="Books">
            <a:extLst>
              <a:ext uri="{FF2B5EF4-FFF2-40B4-BE49-F238E27FC236}">
                <a16:creationId xmlns:a16="http://schemas.microsoft.com/office/drawing/2014/main" id="{F7BCD17B-F047-21CF-3E9A-4C05B0E3C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BC62DF9-1534-6D63-5619-92B2512627E9}"/>
              </a:ext>
            </a:extLst>
          </p:cNvPr>
          <p:cNvSpPr txBox="1"/>
          <p:nvPr/>
        </p:nvSpPr>
        <p:spPr>
          <a:xfrm>
            <a:off x="55825" y="2479532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436924-6492-9FFE-2F5D-BB863E6A61E8}"/>
              </a:ext>
            </a:extLst>
          </p:cNvPr>
          <p:cNvSpPr/>
          <p:nvPr/>
        </p:nvSpPr>
        <p:spPr>
          <a:xfrm>
            <a:off x="87356" y="2384445"/>
            <a:ext cx="613279" cy="44220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0C527-8646-5A77-82F3-7030E9587A0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1AFE94-21D5-EC97-7512-A81E465EB37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356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5E4F8-CBC3-4781-0A13-5D35A5F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3871-7913-6C5A-CD74-908DDA102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2040772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Treisman and </a:t>
            </a:r>
            <a:r>
              <a:rPr lang="en-US" dirty="0" err="1"/>
              <a:t>Gelade</a:t>
            </a:r>
            <a:r>
              <a:rPr lang="en-US" dirty="0"/>
              <a:t> proposed the widely adopted cognitive model of visual search, namely </a:t>
            </a:r>
            <a:r>
              <a:rPr lang="en-US" b="1" dirty="0"/>
              <a:t>F</a:t>
            </a:r>
            <a:r>
              <a:rPr lang="en-US" dirty="0"/>
              <a:t>eature </a:t>
            </a:r>
            <a:r>
              <a:rPr lang="en-US" b="1" dirty="0"/>
              <a:t>I</a:t>
            </a:r>
            <a:r>
              <a:rPr lang="en-US" dirty="0"/>
              <a:t>ntegration </a:t>
            </a:r>
            <a:r>
              <a:rPr lang="en-US" b="1" dirty="0"/>
              <a:t>T</a:t>
            </a:r>
            <a:r>
              <a:rPr lang="en-US" dirty="0"/>
              <a:t>heory (</a:t>
            </a:r>
            <a:r>
              <a:rPr lang="en-US" b="1" dirty="0"/>
              <a:t>FIT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	The theory introduced different approaches for visual search:</a:t>
            </a:r>
          </a:p>
          <a:p>
            <a:pPr marL="0" indent="0">
              <a:buNone/>
            </a:pPr>
            <a:r>
              <a:rPr lang="en-US" dirty="0"/>
              <a:t>		- Bottom-up (Search image saliency)</a:t>
            </a:r>
          </a:p>
          <a:p>
            <a:pPr marL="0" indent="0">
              <a:buNone/>
            </a:pPr>
            <a:r>
              <a:rPr lang="en-US" dirty="0"/>
              <a:t>		- Top-down (Goal/Target driven searching)</a:t>
            </a:r>
          </a:p>
          <a:p>
            <a:pPr marL="0" indent="0">
              <a:buNone/>
            </a:pPr>
            <a:r>
              <a:rPr lang="en-US" dirty="0"/>
              <a:t>		- Combination of bottom-up and top-down approaches</a:t>
            </a:r>
          </a:p>
          <a:p>
            <a:pPr marL="0" indent="0">
              <a:buNone/>
            </a:pPr>
            <a:r>
              <a:rPr lang="en-US" dirty="0"/>
              <a:t>	FIT proposed that visual search require attention and sequential search from the subject.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D7724C-48EA-8D76-5F53-CDFAF8AE1E13}"/>
              </a:ext>
            </a:extLst>
          </p:cNvPr>
          <p:cNvCxnSpPr>
            <a:cxnSpLocks/>
          </p:cNvCxnSpPr>
          <p:nvPr/>
        </p:nvCxnSpPr>
        <p:spPr>
          <a:xfrm>
            <a:off x="788275" y="2203704"/>
            <a:ext cx="0" cy="35980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F01997CB-7E0B-99BE-FDE0-08734ABB5D1F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83044E-3BC2-83B6-6BCA-099860DD63B0}"/>
              </a:ext>
            </a:extLst>
          </p:cNvPr>
          <p:cNvSpPr txBox="1"/>
          <p:nvPr/>
        </p:nvSpPr>
        <p:spPr>
          <a:xfrm>
            <a:off x="55825" y="20373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75D210-E907-FF7C-7263-A568AC58ABA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1E13B0-53C0-17F9-E23D-E9C638AEAD9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957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AD24E-1606-D8C8-6B35-3DDBC8A1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3534-94E2-01EC-A636-4D505A7CA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DDD6B-8465-C26E-AFF7-AFDB31B3A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Shortly after the FIT publication, </a:t>
            </a:r>
            <a:r>
              <a:rPr lang="en-US" dirty="0" err="1"/>
              <a:t>Postner</a:t>
            </a:r>
            <a:r>
              <a:rPr lang="en-US" dirty="0"/>
              <a:t> conducted different experiments to formalize the relationship between eye movement and the attention map.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2 types of Attention:</a:t>
            </a:r>
          </a:p>
          <a:p>
            <a:pPr>
              <a:buFontTx/>
              <a:buChar char="-"/>
            </a:pPr>
            <a:r>
              <a:rPr lang="en-US" dirty="0"/>
              <a:t>Covert Attention: No head, no eye movement. Attention from the current scene</a:t>
            </a:r>
          </a:p>
          <a:p>
            <a:pPr>
              <a:buFontTx/>
              <a:buChar char="-"/>
            </a:pPr>
            <a:r>
              <a:rPr lang="en-US" dirty="0"/>
              <a:t>Overt Attention: Requires head and eye movement, producing an attention shift.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Covert Attention is the means of routing information and controlling search priority.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5686D5-CFB0-C943-F59F-A102D89BCBFF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8A30964-51E1-977B-8DD7-E7035ECD738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FFC86B7-4774-0CC8-904A-B80B2FC2E945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491BCC-E857-BDF2-F545-F1E8317ADA79}"/>
              </a:ext>
            </a:extLst>
          </p:cNvPr>
          <p:cNvSpPr txBox="1"/>
          <p:nvPr/>
        </p:nvSpPr>
        <p:spPr>
          <a:xfrm>
            <a:off x="55825" y="1481144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E6B3A5-CB21-01A0-B371-5CD076F9192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9CFC9E-22FB-E06A-9C4B-3E475791245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52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8BCEF-52CF-9295-B830-E06304354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FF46-7F12-14BA-628E-2BB30A522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864F3-026E-E3F6-6976-606656C28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Posner and Cohen discovered the Inhibition of Return in human search behavior through many experiments.</a:t>
            </a:r>
          </a:p>
          <a:p>
            <a:pPr marL="0" indent="0">
              <a:buNone/>
            </a:pPr>
            <a:r>
              <a:rPr lang="en-US" dirty="0"/>
              <a:t>- Humans react more slowly to the previously attended area.</a:t>
            </a:r>
          </a:p>
          <a:p>
            <a:pPr>
              <a:buFontTx/>
              <a:buChar char="-"/>
            </a:pPr>
            <a:r>
              <a:rPr lang="en-US" dirty="0"/>
              <a:t>Proposed that the inhibited area is located in the mental map, rather than in retinotopic coordinates, which prevents humans from revisiting the attended area.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Laid foundation for bio-inspired </a:t>
            </a:r>
            <a:r>
              <a:rPr lang="en-US" b="1" dirty="0"/>
              <a:t>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 visual search model.</a:t>
            </a:r>
          </a:p>
          <a:p>
            <a:pPr marL="0" indent="0">
              <a:buNone/>
            </a:pPr>
            <a:r>
              <a:rPr lang="en-US" dirty="0"/>
              <a:t>=&gt; Is regarded as </a:t>
            </a:r>
            <a:r>
              <a:rPr lang="en-US" b="1" dirty="0"/>
              <a:t>I</a:t>
            </a:r>
            <a:r>
              <a:rPr lang="en-US" dirty="0"/>
              <a:t>nhibition </a:t>
            </a:r>
            <a:r>
              <a:rPr lang="en-US" b="1" dirty="0"/>
              <a:t>o</a:t>
            </a:r>
            <a:r>
              <a:rPr lang="en-US" dirty="0"/>
              <a:t>f </a:t>
            </a:r>
            <a:r>
              <a:rPr lang="en-US" b="1" dirty="0"/>
              <a:t>R</a:t>
            </a:r>
            <a:r>
              <a:rPr lang="en-US" dirty="0"/>
              <a:t>eturn (</a:t>
            </a:r>
            <a:r>
              <a:rPr lang="en-US" b="1" dirty="0"/>
              <a:t>IOR</a:t>
            </a:r>
            <a:r>
              <a:rPr lang="en-US" dirty="0"/>
              <a:t>), embedded into every visual search model to prevent them from revisiting the attended area.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FA2418-A75C-A6FD-4109-8EC4C1CCA161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6E617ED-DCD5-BB2C-01CC-269B3399869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CE73168-0803-31D2-5F02-ABA33B2A702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89F23-2178-EAD7-7565-DE6F3D3279A2}"/>
              </a:ext>
            </a:extLst>
          </p:cNvPr>
          <p:cNvSpPr txBox="1"/>
          <p:nvPr/>
        </p:nvSpPr>
        <p:spPr>
          <a:xfrm>
            <a:off x="55825" y="942690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F3F9A0-023C-DDB8-11DA-4FC5E061D63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6F647D-74A6-982D-6116-B0DF4F4BEEF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28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EB561-862C-F006-8433-FE8AD7629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136A-13C1-3B40-EE75-3376855E4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402B-008A-992C-2B7D-E2D009999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46776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Wolfe reconstructed a conceptual model to demonstrate the combination of both bottom-up and top-down approaches in human visual search.</a:t>
            </a:r>
          </a:p>
          <a:p>
            <a:pPr>
              <a:buFontTx/>
              <a:buChar char="-"/>
            </a:pPr>
            <a:r>
              <a:rPr lang="en-US" dirty="0"/>
              <a:t>Provided a detailed framework for later researchers to build better conceptual models and computational models.</a:t>
            </a:r>
          </a:p>
          <a:p>
            <a:pPr marL="0" indent="0">
              <a:buNone/>
            </a:pPr>
            <a:r>
              <a:rPr lang="en-US" dirty="0"/>
              <a:t>Methodological and visual model illustrating the bottom-up and top-down approach</a:t>
            </a:r>
          </a:p>
          <a:p>
            <a:pPr>
              <a:buFontTx/>
              <a:buChar char="-"/>
            </a:pPr>
            <a:r>
              <a:rPr lang="en-US" dirty="0"/>
              <a:t>The bottom-up approach emphasizes the distinction of items from their surroundings</a:t>
            </a:r>
          </a:p>
          <a:p>
            <a:pPr>
              <a:buFontTx/>
              <a:buChar char="-"/>
            </a:pPr>
            <a:r>
              <a:rPr lang="en-US" dirty="0"/>
              <a:t>The top-down approach enforces similarity and matching to categorical properties of the target.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The combination of both creates a weighted activation map rather than a uniformly summed, equally contributed one.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Proposed </a:t>
            </a:r>
            <a:r>
              <a:rPr lang="en-US" dirty="0" err="1"/>
              <a:t>Guilded</a:t>
            </a:r>
            <a:r>
              <a:rPr lang="en-US" dirty="0"/>
              <a:t> Search Version 2.0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3802DC1-1E39-6CE3-61C8-73E2D3BF2CB0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14BA3B3-E841-0662-EE48-9218DF9B267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4EA7690-52D3-7336-BCE8-9FD592E76BD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9CEB1-3B79-A751-8E44-837E41A47200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666364-8255-C4AA-66B9-7308F3DA5E6F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891EDF-FD57-F3C1-7DDD-65DC61995330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024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22559-F078-87EF-C833-D14602F76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3DFDD-8517-D819-06FE-0E913E82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CBFE4A1-3A2B-FCDE-0086-58C41B65C50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3AAC2B4-6BC3-E286-E0AD-942DFF6EAC1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9D181AB-1828-4461-2F56-C89C83B5563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Content Placeholder 7" descr="A diagram of a diagram of a software&#10;&#10;AI-generated content may be incorrect.">
            <a:extLst>
              <a:ext uri="{FF2B5EF4-FFF2-40B4-BE49-F238E27FC236}">
                <a16:creationId xmlns:a16="http://schemas.microsoft.com/office/drawing/2014/main" id="{5CD881B8-4C46-3956-77D8-EA415C7163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90446" y="1800520"/>
            <a:ext cx="6150748" cy="37325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269038-E748-D113-635C-C3EF73F3D87C}"/>
              </a:ext>
            </a:extLst>
          </p:cNvPr>
          <p:cNvSpPr txBox="1"/>
          <p:nvPr/>
        </p:nvSpPr>
        <p:spPr>
          <a:xfrm>
            <a:off x="2907519" y="557426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Guided Search Version 2.0 Architecture (Wolfe, 1994)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C9FFC9-4ECC-5161-C4D0-E834114320E9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5E7CDF-200A-3811-80C9-33E779D0E7B3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5AD7FE-594F-7160-0DDF-1607AD04BC79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633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814C6-68EE-77A4-6071-66617DB59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93637-9420-0C91-6C16-2F494F5C1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1985371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Chun &amp; Jiang proposed visual context guides human attention to the target in complex visual inputs.</a:t>
            </a:r>
          </a:p>
          <a:p>
            <a:pPr>
              <a:buFontTx/>
              <a:buChar char="-"/>
            </a:pPr>
            <a:r>
              <a:rPr lang="en-US" dirty="0"/>
              <a:t>Context are implicitly learned from encountered historical instances, which optimize and automate target detection through interaction with visual attention.</a:t>
            </a:r>
          </a:p>
          <a:p>
            <a:pPr>
              <a:buFontTx/>
              <a:buChar char="-"/>
            </a:pPr>
            <a:r>
              <a:rPr lang="en-US" dirty="0"/>
              <a:t>Knowledge obtained from implicit learning could guide the search process.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authors concluded that a model or an intelligence system without a learning mechanism to capture the context information is considered maladaptive (unable to adapt/generalize).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71AFAB-9B73-E7C4-6F27-602E81252C9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C4924D5-0655-B3C4-4237-ED0BB29A37A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7E7CE32-02D8-BE33-166A-5438131364B0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7973C3-8A85-FA14-6237-1D571DCA423D}"/>
              </a:ext>
            </a:extLst>
          </p:cNvPr>
          <p:cNvSpPr txBox="1"/>
          <p:nvPr/>
        </p:nvSpPr>
        <p:spPr>
          <a:xfrm>
            <a:off x="55825" y="-150818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F4EAD-8C2C-D1B0-9F8B-1FCAB39AEEB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4CCA1F-A390-0D68-25B5-1D2D52740D51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75DF806-F63B-D09A-6B62-353326801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</p:spTree>
    <p:extLst>
      <p:ext uri="{BB962C8B-B14F-4D97-AF65-F5344CB8AC3E}">
        <p14:creationId xmlns:p14="http://schemas.microsoft.com/office/powerpoint/2010/main" val="18213513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2380B-B430-A6DD-AA74-46C220D2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F6B0-7B2B-6B5E-D7B0-B57BDFD0D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Wolfe refined his Guided Search version 2.0 model to version 6.0 by adding the scene guidance mechanism:</a:t>
            </a:r>
          </a:p>
          <a:p>
            <a:pPr>
              <a:buFontTx/>
              <a:buChar char="-"/>
            </a:pPr>
            <a:r>
              <a:rPr lang="en-US" dirty="0"/>
              <a:t>Syntactic guidance: Follow the world's physical laws.</a:t>
            </a:r>
          </a:p>
          <a:p>
            <a:pPr marL="0" indent="0">
              <a:buNone/>
            </a:pPr>
            <a:r>
              <a:rPr lang="en-US" dirty="0"/>
              <a:t>	e.g. A toaster doesn’t float</a:t>
            </a:r>
          </a:p>
          <a:p>
            <a:pPr>
              <a:buFontTx/>
              <a:buChar char="-"/>
            </a:pPr>
            <a:r>
              <a:rPr lang="en-US" dirty="0"/>
              <a:t>Semantic guidance: Follow the norms of society.</a:t>
            </a:r>
          </a:p>
          <a:p>
            <a:pPr marL="0" indent="0">
              <a:buNone/>
            </a:pPr>
            <a:r>
              <a:rPr lang="en-US" dirty="0"/>
              <a:t>	e.g. A toaster doesn’t belong in the bathroom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Knowledge learned by humans through implicit or explicit learning (context cueing), as discussed by Chun &amp; Jiang (1998).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Context guidance is not mere saliency from the features in the context scene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A standardized framework for the development of computational models in the modern stage.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B9E4CA-4368-4F25-5687-C27949135A0E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238D7BF-0209-B1AF-D4E9-F0BD1CE3A90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4A18F5-E77A-56D7-292C-0C8DDF6E882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7748FA-9291-6100-455F-E87B4F3EEF00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C00D0DC-C842-D759-AC58-401765D45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FD30B-1C69-3DF3-FC72-F64DBA51456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0BF208-E76E-91E0-2D5F-B8871EA227EB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49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D1E63-C490-F7C3-409E-2880A48AE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76D64E-9460-82E2-B45C-00685C23083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5494217-E597-0533-4596-41AD4E81A9C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E9F24D5-1C7E-7D58-74D9-B466C1C041C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Picture 7" descr="A diagram of visual awareness&#10;&#10;AI-generated content may be incorrect.">
            <a:extLst>
              <a:ext uri="{FF2B5EF4-FFF2-40B4-BE49-F238E27FC236}">
                <a16:creationId xmlns:a16="http://schemas.microsoft.com/office/drawing/2014/main" id="{8F1CF2E0-9FF3-E381-6080-31AEE4B73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264" y="1800705"/>
            <a:ext cx="6665003" cy="38141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562BA5-6898-5B36-B35A-EDF8E6D4388F}"/>
              </a:ext>
            </a:extLst>
          </p:cNvPr>
          <p:cNvSpPr txBox="1"/>
          <p:nvPr/>
        </p:nvSpPr>
        <p:spPr>
          <a:xfrm>
            <a:off x="3048786" y="561704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Schematic representation of Guided Search 6.0 (Wolfe, 2021)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0ACF9-B84C-56D6-0B81-3FF83FBD8F9A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E1E504C-780F-24B2-3CA7-8968B253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B3D1A2-4716-0802-15D0-5FBDB170E3E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F1D856-7A86-1DA4-FAB4-9088A0785072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138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CBF-4799-AB11-5E91-5CAF7DF65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71F73-1301-FCF0-0E6C-6982B8B20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searching algorithm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21AE7F-49F3-258B-09D3-EA3E4737C17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D9282B4-2C49-2E23-E9BC-6816327E20B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613DF884-0EFF-9529-D358-B2ECD958784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5AFB-0A71-B850-385B-11F833FE2833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659D9FF-886A-044B-DB76-9D1E5C3EC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9FA648-1B2E-3068-C2F8-B74ED9BF366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FE48A7-0157-8EEE-8AC7-49336B54451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0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CC886-B5A2-D4F4-2AD1-637B40AE7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E63B87-9AD4-0415-5DFD-DD39D16A2CA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0B11659-BFA2-60D9-79D7-8CAE41E7700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A918A6E-CAD5-4BBE-4688-A66208BFCCE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30672-4BA0-D506-0AA8-8343142CEC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911B21-E193-817B-9ECE-4B0E7E38F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299D49-C2EB-7E25-F192-77EE4609382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BBE77B-B33B-CD1F-53D2-9C396B41C54E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D7EE4162-CCAD-2440-EC2D-AECA3DF21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069" y="1616039"/>
            <a:ext cx="3954268" cy="4014253"/>
          </a:xfrm>
          <a:prstGeom prst="rect">
            <a:avLst/>
          </a:prstGeom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7AD4901E-5B76-0A35-EFE7-33F13ED46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0130" y="1644857"/>
            <a:ext cx="5319246" cy="36399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63BA93E-68D7-0D2D-C4C7-42BA86CEFFF2}"/>
              </a:ext>
            </a:extLst>
          </p:cNvPr>
          <p:cNvSpPr txBox="1"/>
          <p:nvPr/>
        </p:nvSpPr>
        <p:spPr>
          <a:xfrm>
            <a:off x="954464" y="5700579"/>
            <a:ext cx="4191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IVSN model schematic (Zhang et al., 2018)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422BFE-9819-0C58-EC4A-9704D1117D94}"/>
              </a:ext>
            </a:extLst>
          </p:cNvPr>
          <p:cNvSpPr txBox="1"/>
          <p:nvPr/>
        </p:nvSpPr>
        <p:spPr>
          <a:xfrm>
            <a:off x="6685961" y="5213143"/>
            <a:ext cx="3306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Top-down modulation illustration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CD2B016-AD6A-96E7-11F4-7163D834CAF6}"/>
              </a:ext>
            </a:extLst>
          </p:cNvPr>
          <p:cNvSpPr/>
          <p:nvPr/>
        </p:nvSpPr>
        <p:spPr>
          <a:xfrm>
            <a:off x="2573517" y="2158930"/>
            <a:ext cx="386307" cy="386307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D66AE6-2268-C4FE-CE56-5CD2ACC551CB}"/>
              </a:ext>
            </a:extLst>
          </p:cNvPr>
          <p:cNvCxnSpPr>
            <a:cxnSpLocks/>
          </p:cNvCxnSpPr>
          <p:nvPr/>
        </p:nvCxnSpPr>
        <p:spPr>
          <a:xfrm flipV="1">
            <a:off x="2766670" y="1800705"/>
            <a:ext cx="3919291" cy="3582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4EC784-E214-44A6-563C-FC7C3C0F893C}"/>
              </a:ext>
            </a:extLst>
          </p:cNvPr>
          <p:cNvCxnSpPr>
            <a:stCxn id="18" idx="4"/>
          </p:cNvCxnSpPr>
          <p:nvPr/>
        </p:nvCxnSpPr>
        <p:spPr>
          <a:xfrm>
            <a:off x="2766671" y="2545237"/>
            <a:ext cx="3728397" cy="26679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1122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EBF8B-AEFA-0A45-BF97-9BF87C1B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E1CAB38-B8B5-46BE-51CD-C94345329DF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CCF4FF-EC45-AD16-74AD-7A6BA1C58CE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D5777BC4-EB76-C6A4-E4C5-2E3294835B4C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0D48D-910B-4071-86C5-D1301DE0645F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76AF19-D97F-A809-EF87-1C1B9988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263C8-23F1-3CE7-45BB-72A2E991C78D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192CE-D935-91DD-4B1B-C45A93E0D6D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606F9F-3D2B-7B13-4D75-8E3B3BBA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FC199-451A-A9F3-2547-EBCA42938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70D576-7995-C9EE-19C3-02F3501B2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D5A3B-B009-57D8-D9EF-7EFDDE800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869CC0E-0277-924A-FC74-1697585D6B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4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0D4AB-95FE-C53B-180F-02CB52206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B22FCC-B70B-C3F1-D6EF-3734D0474B6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E917EEF-3B7C-C0AE-8F45-D023755374FA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25450E3-6593-2057-3FAC-6D2A4BD2EB0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A0BAB-739F-7327-42C5-707C34A46110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EDD1A1A-0282-FFDA-24D6-D98F5475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36FCC5-B4C9-CBBD-7118-8800F3B5300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266ECE-7988-8606-45CD-D17157282E0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27A38E-703C-E4B6-6B57-C31F8A73D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7A6380-1C2F-EC67-FBC3-85E15AA43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4EE48-8489-D22D-0BAB-FE340828C1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51C81B-36C3-9F18-B146-D0E394F261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184E75-D2EA-C3BF-35D2-3165D18FA5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AD78FC-2DCE-2018-8BB9-C9B2B0D1F365}"/>
              </a:ext>
            </a:extLst>
          </p:cNvPr>
          <p:cNvCxnSpPr>
            <a:cxnSpLocks/>
          </p:cNvCxnSpPr>
          <p:nvPr/>
        </p:nvCxnSpPr>
        <p:spPr>
          <a:xfrm flipV="1">
            <a:off x="7352907" y="2467980"/>
            <a:ext cx="2139885" cy="6240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D74437B-8672-C57A-7E2D-CFF5C523C4FB}"/>
              </a:ext>
            </a:extLst>
          </p:cNvPr>
          <p:cNvSpPr/>
          <p:nvPr/>
        </p:nvSpPr>
        <p:spPr>
          <a:xfrm>
            <a:off x="1970202" y="2976893"/>
            <a:ext cx="538270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976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D911F-C6ED-39EA-16E7-7A91986F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54EFC5A-19C6-8A91-EE9B-2B4A22372E7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BD6E0AB-46FD-D1C7-774D-3B4A6294A05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4BBD123-CB6E-565B-793C-C0407445F4A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65141-1DEC-56BF-2445-DA4DE0D89A2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40FDB33-D52C-8116-E6AB-0E48FD43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2AC44-F0DE-B9BD-0D3A-C953A807DFD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FACB1E-E1EB-E47B-1DF1-99A7346B9764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DEF77-A93B-5C4C-3DBD-BCA08B59E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BEA8D5-A123-8060-4AEC-2B76A0264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E82F28-A03D-3DE2-CCDF-17090E32F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0ADE3E-BAC5-8910-102E-06F19BD2A2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C0705CA-990A-C78A-D3D3-F82CB187F9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DAC790-D86C-E009-4723-F012DAAD0B58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32256" y="3373808"/>
            <a:ext cx="4609707" cy="1423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51A2CC9-68F9-FBD8-EE68-91A945FDC603}"/>
              </a:ext>
            </a:extLst>
          </p:cNvPr>
          <p:cNvSpPr/>
          <p:nvPr/>
        </p:nvSpPr>
        <p:spPr>
          <a:xfrm>
            <a:off x="1982801" y="3231417"/>
            <a:ext cx="274945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220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0A786-C904-6408-ED78-C80F09B4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C6288DA-68F6-3F09-1179-0CF41B1605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EC039A3-2AA0-3913-9991-2F7F724395F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0C11CF7-528F-623E-07A0-4D87A26199C7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0E582-9AD7-D96C-4C6B-C01BDE19B82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CB0F850-496B-8650-48A5-DCA9A315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2B6BC4-E1BD-C236-BE68-81D106D6176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B5E633-9932-B213-A217-083706BADB1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3BB6E8-C0F4-D21C-9567-86EFEA32B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AF1A16-DC73-545E-102D-D971966E8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524040-788C-9665-F439-519AF698F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5559CF-0CDD-CCA0-C9FD-91870CF102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04B12F-1A99-264F-E67B-367B843311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FBB3324-8CBC-78BE-3B02-97F9C34BB2D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2639505" y="3921871"/>
            <a:ext cx="6702458" cy="5935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9B512F2-F635-5981-4862-47C2B11EC00E}"/>
              </a:ext>
            </a:extLst>
          </p:cNvPr>
          <p:cNvSpPr/>
          <p:nvPr/>
        </p:nvSpPr>
        <p:spPr>
          <a:xfrm>
            <a:off x="2011462" y="3779480"/>
            <a:ext cx="628043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9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C576-6CA8-6898-D142-29EF104A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AD0B37-ACF1-2C67-302A-1F58F00FFC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6432357-5162-C942-B8EB-6BEF736CEAA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3F7CA941-275D-0A87-A6EB-00BCE9255BC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0FED7-23CF-B0FF-9607-A03D33E374B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24EF60E-AA18-A2FD-F67D-714E8BC9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F3453B-4FDE-6999-A8F1-0E03547B7A12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A5730A-C04D-1BAA-4A5A-648B9E1C19B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E12E6C-0169-95F3-892E-2AA870A06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6994B4-BB2F-B432-F710-89B54E278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E64643-69ED-7A6E-5A64-6B8D89BDC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96CD09A-2102-01AB-FB9B-0C342E3A1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3102D96-8F17-46FD-72B6-BD7B9A4611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1C478FF-9D07-53E0-2862-D7BBB6410061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8276734" y="4545410"/>
            <a:ext cx="1121790" cy="4633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C8502D3-C1D2-68AD-690E-A3B9DC4502DD}"/>
              </a:ext>
            </a:extLst>
          </p:cNvPr>
          <p:cNvSpPr/>
          <p:nvPr/>
        </p:nvSpPr>
        <p:spPr>
          <a:xfrm>
            <a:off x="2360254" y="4866384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84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7B5D-CD75-6C94-3C6A-450C5838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B7A504-A312-B9E8-A366-20BE4C8E09A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EE9A678-0F77-7116-649B-71A1A92DCD9C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FEC59A-91FD-F773-C1F0-F54E4F62985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FC6C1-B280-7A02-8151-1233AC65C1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950FAC1-28C5-E45D-C63B-877D6D9DE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7F7973-8D42-A5F2-D9C9-F75058FDD47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4F7AE2-D535-EB14-2423-58E0F6B8F16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9EFD1-CA03-3F38-C93C-9381E9919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D38E27-AB57-39DE-C734-637F0AD5C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A179A4-B836-474C-20EE-FA136CCA0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675E16-7F76-FB90-F142-75B69C4DB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10D9A6-61C9-4CE8-3832-7AED4398B4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4E1243B-C409-A9B0-EEC2-6938C13AFF11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901055" y="3119284"/>
            <a:ext cx="2063077" cy="1141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2AE1E1C-D2B4-972A-7BBC-62A2D9153FE1}"/>
              </a:ext>
            </a:extLst>
          </p:cNvPr>
          <p:cNvSpPr/>
          <p:nvPr/>
        </p:nvSpPr>
        <p:spPr>
          <a:xfrm>
            <a:off x="1984575" y="2976893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46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FABC-050B-1696-4B00-337446D5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511346-AD36-FA0F-8BDD-20706678DC1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98239F-85F5-A3D7-E375-A206351A6348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91527B6-73DC-0C97-FD83-82F7E5A50918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4E21E-A509-459C-05E3-B41D4D4DD7E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12C87-8B5B-D15F-F545-394E0FB58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8B57D-7770-73B5-47CD-E514A05FC21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B4418-CCBE-E792-A6C8-4998D77531F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ECE39-459E-1C7D-CB42-366E6C328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89F359-A5BC-67D9-34C3-F128AD27F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3D689D-2FE3-4726-E76E-399BBE4B1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3ED438-A512-E634-E5A8-7D2D6959E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0A13CA2-46AB-BE11-9282-21471810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03806C-0023-31AD-6569-76431333815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79390" y="3404168"/>
            <a:ext cx="5099901" cy="19314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2E33E04-2E68-73C1-A2FB-BFE7DB6899E6}"/>
              </a:ext>
            </a:extLst>
          </p:cNvPr>
          <p:cNvSpPr/>
          <p:nvPr/>
        </p:nvSpPr>
        <p:spPr>
          <a:xfrm>
            <a:off x="1999353" y="3261777"/>
            <a:ext cx="2780037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10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E56D0-D2C3-C422-F10D-9CDEF4F37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FA89873-09AD-5F3E-CC0F-2938724E2A6C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504C2B9-A4D4-8F35-097C-F46D171D45D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1C9F295-7925-F145-3664-2F17DBFB7E3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C82948-6959-C1AE-E4BE-C73880EE1DF7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99C8BF2-E28B-7708-EB08-3470B5D88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8F217-CC9B-EFFE-4A2F-CCE24007AE00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5FED-BE81-DBE7-B67D-12499D25497C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A9503-D04B-FF3B-1EB6-2A622CC75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6B7D6-B1ED-1F04-DF24-E25E8FEDA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F75D09-4102-B057-3E9B-F5C745EDA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BA9B20-D162-DA0C-50D6-B77D3FFB0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0339FD-4225-CA46-B706-CB3FB565FF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A20FD5-8548-3D1E-BDB6-8102BE457EC6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3619893" y="3650994"/>
            <a:ext cx="6268825" cy="16466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C45AE37-AAB0-47BC-C04B-E0BAB3BA3752}"/>
              </a:ext>
            </a:extLst>
          </p:cNvPr>
          <p:cNvSpPr/>
          <p:nvPr/>
        </p:nvSpPr>
        <p:spPr>
          <a:xfrm>
            <a:off x="2385852" y="3508603"/>
            <a:ext cx="1234041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14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D379-0BE3-1A16-0664-DE93321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E8D8D-A0CB-06BE-834F-07A4AC35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the searching algorithm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model validates the cognitive theory of Guided Search 2.0 (Wolfe, 1994), and demonstrates the capacity of realizing a mental model through a</a:t>
            </a:r>
            <a:r>
              <a:rPr lang="en-US" b="1" dirty="0"/>
              <a:t> 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The IVSN shows the capacity for zero-shot invariant, allowing for searching for different appearances in a search scene without retraining.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8E0428-9195-D878-7134-4C3B8F13C8E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A23CB7F-74A1-3DE0-08A3-B3ADF0C09A19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C68DCBB2-6EED-1DAC-845B-BD8E1E69EB9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DB8D69-EC79-3A2B-8C25-17129D96CAE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0D98679-DDB1-86A0-AF38-B146FD9A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598B31-7C5B-FB13-66F4-838173E38E0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1C5AA6-F56A-2564-6E15-35663DA60ABA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073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B3E17-1970-1D02-FD4C-F6365109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D1A8C4F8-261C-7C98-9585-431358419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A5E5FB-C1CA-6B4D-D504-E590F217E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871759"/>
            <a:ext cx="7467600" cy="39137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Proposed TCT architecture</a:t>
            </a:r>
            <a:br>
              <a:rPr lang="en-US" sz="8000" dirty="0"/>
            </a:br>
            <a:endParaRPr lang="en-US" sz="8000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AFE2CA-5B3A-141B-BA1D-064BC79E6B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591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64902-7C28-5BBA-A861-52E28D4FA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D667D6-ADFB-BB4F-E2AF-8209B4A8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5"/>
            <a:ext cx="603551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TCT model components</a:t>
            </a:r>
            <a:br>
              <a:rPr lang="en-US" dirty="0"/>
            </a:b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BA11D83-9787-0A5B-F625-A79EF78D945F}"/>
              </a:ext>
            </a:extLst>
          </p:cNvPr>
          <p:cNvSpPr/>
          <p:nvPr/>
        </p:nvSpPr>
        <p:spPr>
          <a:xfrm>
            <a:off x="820131" y="1729479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image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68C99-E8D9-30F3-6869-4E82A3EA6FE6}"/>
              </a:ext>
            </a:extLst>
          </p:cNvPr>
          <p:cNvSpPr/>
          <p:nvPr/>
        </p:nvSpPr>
        <p:spPr>
          <a:xfrm>
            <a:off x="765512" y="3800561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 image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CA8A04-33E4-7B71-13AA-2B5C30F0C4B1}"/>
              </a:ext>
            </a:extLst>
          </p:cNvPr>
          <p:cNvGrpSpPr/>
          <p:nvPr/>
        </p:nvGrpSpPr>
        <p:grpSpPr>
          <a:xfrm>
            <a:off x="3242766" y="2015185"/>
            <a:ext cx="2978870" cy="1049222"/>
            <a:chOff x="3459637" y="2030782"/>
            <a:chExt cx="2978870" cy="1049222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8CB923A-D8A4-D1B0-861E-DA4DDB207542}"/>
                </a:ext>
              </a:extLst>
            </p:cNvPr>
            <p:cNvSpPr/>
            <p:nvPr/>
          </p:nvSpPr>
          <p:spPr>
            <a:xfrm>
              <a:off x="3506771" y="2030782"/>
              <a:ext cx="2884602" cy="104922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CRT model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7B27E09-499F-2A97-4EF8-D14C1B9A888B}"/>
                </a:ext>
              </a:extLst>
            </p:cNvPr>
            <p:cNvSpPr/>
            <p:nvPr/>
          </p:nvSpPr>
          <p:spPr>
            <a:xfrm>
              <a:off x="3459637" y="23365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88817A4-60E6-43B7-A468-72B7CE06A79A}"/>
                </a:ext>
              </a:extLst>
            </p:cNvPr>
            <p:cNvSpPr/>
            <p:nvPr/>
          </p:nvSpPr>
          <p:spPr>
            <a:xfrm>
              <a:off x="3459637" y="2730403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1947477-9785-6C5F-E8C8-3AA24A64AD74}"/>
                </a:ext>
              </a:extLst>
            </p:cNvPr>
            <p:cNvSpPr/>
            <p:nvPr/>
          </p:nvSpPr>
          <p:spPr>
            <a:xfrm>
              <a:off x="6344239" y="250825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1F4405-94C4-1131-B506-384787D9ED11}"/>
              </a:ext>
            </a:extLst>
          </p:cNvPr>
          <p:cNvCxnSpPr>
            <a:stCxn id="10" idx="3"/>
            <a:endCxn id="17" idx="2"/>
          </p:cNvCxnSpPr>
          <p:nvPr/>
        </p:nvCxnSpPr>
        <p:spPr>
          <a:xfrm>
            <a:off x="2151668" y="2328081"/>
            <a:ext cx="1091098" cy="400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041419C-869A-0D35-802F-920D3787E2CB}"/>
              </a:ext>
            </a:extLst>
          </p:cNvPr>
          <p:cNvCxnSpPr>
            <a:cxnSpLocks/>
            <a:stCxn id="12" idx="3"/>
            <a:endCxn id="18" idx="2"/>
          </p:cNvCxnSpPr>
          <p:nvPr/>
        </p:nvCxnSpPr>
        <p:spPr>
          <a:xfrm flipV="1">
            <a:off x="2097049" y="2761940"/>
            <a:ext cx="1145717" cy="16372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101F92D-F733-1D1A-CEE2-337FAE2A6184}"/>
              </a:ext>
            </a:extLst>
          </p:cNvPr>
          <p:cNvCxnSpPr>
            <a:cxnSpLocks/>
            <a:stCxn id="10" idx="3"/>
            <a:endCxn id="25" idx="2"/>
          </p:cNvCxnSpPr>
          <p:nvPr/>
        </p:nvCxnSpPr>
        <p:spPr>
          <a:xfrm>
            <a:off x="2151668" y="2328081"/>
            <a:ext cx="973128" cy="1544667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7135592-6909-84B1-631B-530C0813583F}"/>
              </a:ext>
            </a:extLst>
          </p:cNvPr>
          <p:cNvCxnSpPr>
            <a:cxnSpLocks/>
            <a:stCxn id="12" idx="3"/>
            <a:endCxn id="20" idx="2"/>
          </p:cNvCxnSpPr>
          <p:nvPr/>
        </p:nvCxnSpPr>
        <p:spPr>
          <a:xfrm flipV="1">
            <a:off x="2097049" y="4358034"/>
            <a:ext cx="1027747" cy="41129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3D1D4D9F-5962-A766-1BB2-CDD6D47E1A20}"/>
              </a:ext>
            </a:extLst>
          </p:cNvPr>
          <p:cNvSpPr/>
          <p:nvPr/>
        </p:nvSpPr>
        <p:spPr>
          <a:xfrm>
            <a:off x="10253680" y="3514135"/>
            <a:ext cx="1331537" cy="1197204"/>
          </a:xfrm>
          <a:prstGeom prst="rect">
            <a:avLst/>
          </a:prstGeom>
          <a:gradFill flip="none"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B050"/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Attention Map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052E419-697B-F98F-A07C-8360878E8CBB}"/>
              </a:ext>
            </a:extLst>
          </p:cNvPr>
          <p:cNvCxnSpPr>
            <a:cxnSpLocks/>
            <a:stCxn id="23" idx="6"/>
            <a:endCxn id="70" idx="1"/>
          </p:cNvCxnSpPr>
          <p:nvPr/>
        </p:nvCxnSpPr>
        <p:spPr>
          <a:xfrm>
            <a:off x="6221636" y="2539796"/>
            <a:ext cx="1855034" cy="1728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DDF1028C-0888-6E10-98F1-6419A5D8328E}"/>
              </a:ext>
            </a:extLst>
          </p:cNvPr>
          <p:cNvCxnSpPr>
            <a:cxnSpLocks/>
            <a:stCxn id="24" idx="6"/>
            <a:endCxn id="66" idx="1"/>
          </p:cNvCxnSpPr>
          <p:nvPr/>
        </p:nvCxnSpPr>
        <p:spPr>
          <a:xfrm>
            <a:off x="8417634" y="4112737"/>
            <a:ext cx="183604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1E461B8-3588-0752-F3BB-631C3B2BCE58}"/>
              </a:ext>
            </a:extLst>
          </p:cNvPr>
          <p:cNvSpPr txBox="1"/>
          <p:nvPr/>
        </p:nvSpPr>
        <p:spPr>
          <a:xfrm>
            <a:off x="685799" y="5132975"/>
            <a:ext cx="8628324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Note:</a:t>
            </a:r>
          </a:p>
          <a:p>
            <a:endParaRPr lang="en-US" dirty="0"/>
          </a:p>
          <a:p>
            <a:r>
              <a:rPr lang="en-US" b="1" dirty="0"/>
              <a:t>CRT</a:t>
            </a:r>
            <a:r>
              <a:rPr lang="en-US" dirty="0"/>
              <a:t> Model: </a:t>
            </a:r>
            <a:r>
              <a:rPr lang="en-US" b="1" dirty="0"/>
              <a:t>C</a:t>
            </a:r>
            <a:r>
              <a:rPr lang="en-US" dirty="0"/>
              <a:t>ontext-aware </a:t>
            </a:r>
            <a:r>
              <a:rPr lang="en-US" b="1" dirty="0"/>
              <a:t>R</a:t>
            </a:r>
            <a:r>
              <a:rPr lang="en-US" dirty="0"/>
              <a:t>ecognition </a:t>
            </a:r>
            <a:r>
              <a:rPr lang="en-US" b="1" dirty="0"/>
              <a:t>T</a:t>
            </a:r>
            <a:r>
              <a:rPr lang="en-US" dirty="0"/>
              <a:t>ransformer Network </a:t>
            </a:r>
            <a:r>
              <a:rPr lang="en-SG" dirty="0"/>
              <a:t>(</a:t>
            </a:r>
            <a:r>
              <a:rPr lang="en-SG" dirty="0" err="1"/>
              <a:t>Bomatter</a:t>
            </a:r>
            <a:r>
              <a:rPr lang="en-SG" dirty="0"/>
              <a:t> et al., 2021)</a:t>
            </a:r>
            <a:endParaRPr lang="en-US" dirty="0"/>
          </a:p>
          <a:p>
            <a:endParaRPr lang="en-US" b="1" dirty="0"/>
          </a:p>
          <a:p>
            <a:r>
              <a:rPr lang="en-US" b="1" dirty="0" err="1"/>
              <a:t>ViT</a:t>
            </a:r>
            <a:r>
              <a:rPr lang="en-US" dirty="0"/>
              <a:t> Model:  </a:t>
            </a:r>
            <a:r>
              <a:rPr lang="en-US" b="1" dirty="0"/>
              <a:t>Vi</a:t>
            </a:r>
            <a:r>
              <a:rPr lang="en-US" dirty="0"/>
              <a:t>sion </a:t>
            </a:r>
            <a:r>
              <a:rPr lang="en-US" b="1" dirty="0"/>
              <a:t>T</a:t>
            </a:r>
            <a:r>
              <a:rPr lang="en-US" dirty="0"/>
              <a:t>ransformer </a:t>
            </a:r>
            <a:r>
              <a:rPr lang="en-SG" dirty="0"/>
              <a:t>(</a:t>
            </a:r>
            <a:r>
              <a:rPr lang="en-SG" dirty="0" err="1"/>
              <a:t>Dosovitskiy</a:t>
            </a:r>
            <a:r>
              <a:rPr lang="en-SG" dirty="0"/>
              <a:t> et al., 2021)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9F3357-AEB6-0CDB-0A9E-0FBA8C388C05}"/>
              </a:ext>
            </a:extLst>
          </p:cNvPr>
          <p:cNvGrpSpPr/>
          <p:nvPr/>
        </p:nvGrpSpPr>
        <p:grpSpPr>
          <a:xfrm>
            <a:off x="3124796" y="3592096"/>
            <a:ext cx="5292838" cy="1049222"/>
            <a:chOff x="3459637" y="3795222"/>
            <a:chExt cx="5292838" cy="104922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DE26ED49-EF9C-26ED-2D50-C857BA4BB4A5}"/>
                </a:ext>
              </a:extLst>
            </p:cNvPr>
            <p:cNvSpPr/>
            <p:nvPr/>
          </p:nvSpPr>
          <p:spPr>
            <a:xfrm>
              <a:off x="3506771" y="3795222"/>
              <a:ext cx="5198570" cy="1049222"/>
            </a:xfrm>
            <a:prstGeom prst="roundRect">
              <a:avLst/>
            </a:prstGeom>
            <a:solidFill>
              <a:srgbClr val="00206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</a:t>
              </a:r>
              <a:r>
                <a:rPr lang="en-US" dirty="0" err="1"/>
                <a:t>ViT</a:t>
              </a:r>
              <a:r>
                <a:rPr lang="en-US" dirty="0"/>
                <a:t> model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E477E12-666C-4F20-5B99-909774AEC239}"/>
                </a:ext>
              </a:extLst>
            </p:cNvPr>
            <p:cNvSpPr/>
            <p:nvPr/>
          </p:nvSpPr>
          <p:spPr>
            <a:xfrm>
              <a:off x="3459637" y="4514026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F1B753E-3437-2BC6-A867-34965C535886}"/>
                </a:ext>
              </a:extLst>
            </p:cNvPr>
            <p:cNvSpPr/>
            <p:nvPr/>
          </p:nvSpPr>
          <p:spPr>
            <a:xfrm>
              <a:off x="8658207" y="426872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0B7B057-F8A0-FBB7-8D87-CE47A712ED4D}"/>
                </a:ext>
              </a:extLst>
            </p:cNvPr>
            <p:cNvSpPr/>
            <p:nvPr/>
          </p:nvSpPr>
          <p:spPr>
            <a:xfrm>
              <a:off x="3459637" y="4028740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A18B21-1709-0DDE-582C-2F90AD420E46}"/>
              </a:ext>
            </a:extLst>
          </p:cNvPr>
          <p:cNvGrpSpPr/>
          <p:nvPr/>
        </p:nvGrpSpPr>
        <p:grpSpPr>
          <a:xfrm>
            <a:off x="6339606" y="2698856"/>
            <a:ext cx="3342643" cy="1101438"/>
            <a:chOff x="3540987" y="1729967"/>
            <a:chExt cx="2884602" cy="1101438"/>
          </a:xfrm>
        </p:grpSpPr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7B9DD617-5A6F-E8DC-7051-916F0ADA02FB}"/>
                </a:ext>
              </a:extLst>
            </p:cNvPr>
            <p:cNvSpPr/>
            <p:nvPr/>
          </p:nvSpPr>
          <p:spPr>
            <a:xfrm>
              <a:off x="3540987" y="1782183"/>
              <a:ext cx="2884602" cy="104922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Global Modulation</a:t>
              </a:r>
            </a:p>
            <a:p>
              <a:pPr algn="ctr"/>
              <a:r>
                <a:rPr lang="en-US" dirty="0"/>
                <a:t>(Element-wise multiplication)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FCE232AC-5E48-61BA-93BB-7E4F6DA50FAE}"/>
                </a:ext>
              </a:extLst>
            </p:cNvPr>
            <p:cNvSpPr/>
            <p:nvPr/>
          </p:nvSpPr>
          <p:spPr>
            <a:xfrm>
              <a:off x="5026217" y="17299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9371C2C1-7B46-0BC6-6EFD-05D8CEE1E835}"/>
              </a:ext>
            </a:extLst>
          </p:cNvPr>
          <p:cNvSpPr/>
          <p:nvPr/>
        </p:nvSpPr>
        <p:spPr>
          <a:xfrm>
            <a:off x="7663577" y="3704219"/>
            <a:ext cx="347350" cy="337058"/>
          </a:xfrm>
          <a:prstGeom prst="downArrow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57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2325C-7F26-545E-5BEE-432ABC7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1492-2850-7750-7D78-DEA12C9B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899025"/>
            <a:ext cx="1150620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Modified Visual Transformer (one encoder block)</a:t>
            </a:r>
            <a:br>
              <a:rPr lang="en-US" dirty="0"/>
            </a:br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65A415-826E-DD1B-A1BE-ABBC5EDD8513}"/>
              </a:ext>
            </a:extLst>
          </p:cNvPr>
          <p:cNvGrpSpPr/>
          <p:nvPr/>
        </p:nvGrpSpPr>
        <p:grpSpPr>
          <a:xfrm>
            <a:off x="2537398" y="2960929"/>
            <a:ext cx="2116656" cy="1200329"/>
            <a:chOff x="5921813" y="2189894"/>
            <a:chExt cx="2116656" cy="120032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947888C-172B-0E5E-2FD4-EECD5194017F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Cross-Attention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36F3DB0-E489-4BE5-2ACB-EAEB0EF4E206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A049EB8-DCB5-2F4F-C9F9-E6BA9823FEB4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AACA96F-A250-A9DA-EEEB-E401036BF3DC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01D5B37-3B69-B8AB-D98C-9F9F8A7CC87E}"/>
              </a:ext>
            </a:extLst>
          </p:cNvPr>
          <p:cNvGrpSpPr/>
          <p:nvPr/>
        </p:nvGrpSpPr>
        <p:grpSpPr>
          <a:xfrm>
            <a:off x="243493" y="3840285"/>
            <a:ext cx="1878739" cy="574501"/>
            <a:chOff x="2043017" y="4013810"/>
            <a:chExt cx="1878739" cy="57450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02DC297-8041-EDB3-6772-2CB5211BE76C}"/>
                </a:ext>
              </a:extLst>
            </p:cNvPr>
            <p:cNvSpPr/>
            <p:nvPr/>
          </p:nvSpPr>
          <p:spPr>
            <a:xfrm>
              <a:off x="2043017" y="4013810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Key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A7E28A1-C36C-D9C3-8F1B-B91AA2C802E9}"/>
                </a:ext>
              </a:extLst>
            </p:cNvPr>
            <p:cNvSpPr/>
            <p:nvPr/>
          </p:nvSpPr>
          <p:spPr>
            <a:xfrm>
              <a:off x="3821878" y="4251121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EC28594-36AA-F87D-2453-8329BA62D6D0}"/>
              </a:ext>
            </a:extLst>
          </p:cNvPr>
          <p:cNvGrpSpPr/>
          <p:nvPr/>
        </p:nvGrpSpPr>
        <p:grpSpPr>
          <a:xfrm>
            <a:off x="218523" y="4586566"/>
            <a:ext cx="1878739" cy="574501"/>
            <a:chOff x="2043017" y="4710105"/>
            <a:chExt cx="1878739" cy="5745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C864EAD-FCD7-F426-4D56-3FCFFEF0F0CE}"/>
                </a:ext>
              </a:extLst>
            </p:cNvPr>
            <p:cNvSpPr/>
            <p:nvPr/>
          </p:nvSpPr>
          <p:spPr>
            <a:xfrm>
              <a:off x="2043017" y="4710105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Query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DDEF033-6E19-629C-CDF7-A61B6CCA60B2}"/>
                </a:ext>
              </a:extLst>
            </p:cNvPr>
            <p:cNvSpPr/>
            <p:nvPr/>
          </p:nvSpPr>
          <p:spPr>
            <a:xfrm>
              <a:off x="3821878" y="497250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97D0DD7-9BCF-A5CE-921E-D0B2AF628D4B}"/>
              </a:ext>
            </a:extLst>
          </p:cNvPr>
          <p:cNvGrpSpPr/>
          <p:nvPr/>
        </p:nvGrpSpPr>
        <p:grpSpPr>
          <a:xfrm>
            <a:off x="7323529" y="5065003"/>
            <a:ext cx="1878739" cy="574501"/>
            <a:chOff x="2043017" y="5384474"/>
            <a:chExt cx="1878739" cy="574501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6FFF1-1D95-CF5A-B36E-6DEE79338245}"/>
                </a:ext>
              </a:extLst>
            </p:cNvPr>
            <p:cNvSpPr/>
            <p:nvPr/>
          </p:nvSpPr>
          <p:spPr>
            <a:xfrm>
              <a:off x="2043017" y="5384474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Value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CABFC9-9459-D28C-B593-24F12FA9784D}"/>
                </a:ext>
              </a:extLst>
            </p:cNvPr>
            <p:cNvSpPr/>
            <p:nvPr/>
          </p:nvSpPr>
          <p:spPr>
            <a:xfrm>
              <a:off x="3821878" y="5643423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4B33E2-7B08-6453-C3D8-3AD1722849B5}"/>
              </a:ext>
            </a:extLst>
          </p:cNvPr>
          <p:cNvGrpSpPr/>
          <p:nvPr/>
        </p:nvGrpSpPr>
        <p:grpSpPr>
          <a:xfrm>
            <a:off x="4982629" y="2573614"/>
            <a:ext cx="1878739" cy="574501"/>
            <a:chOff x="2043017" y="3254643"/>
            <a:chExt cx="1878739" cy="5745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FAEB98B-7790-C8BD-1B71-8186A7B2765C}"/>
                </a:ext>
              </a:extLst>
            </p:cNvPr>
            <p:cNvSpPr/>
            <p:nvPr/>
          </p:nvSpPr>
          <p:spPr>
            <a:xfrm>
              <a:off x="2043017" y="3254643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Value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399EEF5-2A1F-D92D-EA3B-0C062BE8E02B}"/>
                </a:ext>
              </a:extLst>
            </p:cNvPr>
            <p:cNvSpPr/>
            <p:nvPr/>
          </p:nvSpPr>
          <p:spPr>
            <a:xfrm>
              <a:off x="3821878" y="352973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A624142-4BF5-AA99-12A5-65032CE74AE9}"/>
              </a:ext>
            </a:extLst>
          </p:cNvPr>
          <p:cNvGrpSpPr/>
          <p:nvPr/>
        </p:nvGrpSpPr>
        <p:grpSpPr>
          <a:xfrm>
            <a:off x="218523" y="2558982"/>
            <a:ext cx="1878739" cy="574501"/>
            <a:chOff x="2043017" y="2533522"/>
            <a:chExt cx="1878739" cy="57450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D48900-7CDE-12F0-D410-B80D033DDB87}"/>
                </a:ext>
              </a:extLst>
            </p:cNvPr>
            <p:cNvSpPr/>
            <p:nvPr/>
          </p:nvSpPr>
          <p:spPr>
            <a:xfrm>
              <a:off x="2043017" y="253352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Query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17B03A5-910C-39C6-50A4-E86CC1EAC577}"/>
                </a:ext>
              </a:extLst>
            </p:cNvPr>
            <p:cNvSpPr/>
            <p:nvPr/>
          </p:nvSpPr>
          <p:spPr>
            <a:xfrm>
              <a:off x="3821878" y="2784408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86CDB5-FCA0-BE46-CF38-293A1883C326}"/>
              </a:ext>
            </a:extLst>
          </p:cNvPr>
          <p:cNvGrpSpPr/>
          <p:nvPr/>
        </p:nvGrpSpPr>
        <p:grpSpPr>
          <a:xfrm>
            <a:off x="218523" y="1823309"/>
            <a:ext cx="1878739" cy="574501"/>
            <a:chOff x="2054247" y="1812402"/>
            <a:chExt cx="1878739" cy="5745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C176C06-AB5B-9450-9578-13E22ADF5E97}"/>
                </a:ext>
              </a:extLst>
            </p:cNvPr>
            <p:cNvSpPr/>
            <p:nvPr/>
          </p:nvSpPr>
          <p:spPr>
            <a:xfrm>
              <a:off x="2054247" y="181240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Key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348C467-5BA7-7D82-60A1-D37D30FB9238}"/>
                </a:ext>
              </a:extLst>
            </p:cNvPr>
            <p:cNvSpPr/>
            <p:nvPr/>
          </p:nvSpPr>
          <p:spPr>
            <a:xfrm>
              <a:off x="3833108" y="205669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6655933-872E-501F-E0CB-50CA6AA0E665}"/>
              </a:ext>
            </a:extLst>
          </p:cNvPr>
          <p:cNvGrpSpPr/>
          <p:nvPr/>
        </p:nvGrpSpPr>
        <p:grpSpPr>
          <a:xfrm>
            <a:off x="2537398" y="1598311"/>
            <a:ext cx="2116656" cy="1200329"/>
            <a:chOff x="5921813" y="2189894"/>
            <a:chExt cx="2116656" cy="1200329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2FB05B4-1237-9F5F-91C3-8D0E897A0894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BBBE632-0A77-48FB-A176-5A5A47F93AEA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9C71999E-E474-83EB-AC4A-E9FB5E30F028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29C803E3-C647-F281-1C73-A9BAEFF8E66D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113131D-F0FA-0182-10D7-166D10EE5DEE}"/>
              </a:ext>
            </a:extLst>
          </p:cNvPr>
          <p:cNvGrpSpPr/>
          <p:nvPr/>
        </p:nvGrpSpPr>
        <p:grpSpPr>
          <a:xfrm>
            <a:off x="2537398" y="4396876"/>
            <a:ext cx="2116656" cy="1200329"/>
            <a:chOff x="5921813" y="2189894"/>
            <a:chExt cx="2116656" cy="1200329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CE32244-4E8F-D8D7-0851-FC2D2B844192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5F4BEB9-2BF6-6F44-A12F-C2D7BA3EE171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5640DF02-D4FA-DD75-7179-66495F0B2003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1F35C50-4584-1CAD-C331-7A5201C56197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60D7A46-F6C4-CEE3-200C-8D61C1A9D384}"/>
              </a:ext>
            </a:extLst>
          </p:cNvPr>
          <p:cNvCxnSpPr>
            <a:cxnSpLocks/>
            <a:stCxn id="45" idx="6"/>
            <a:endCxn id="97" idx="2"/>
          </p:cNvCxnSpPr>
          <p:nvPr/>
        </p:nvCxnSpPr>
        <p:spPr>
          <a:xfrm>
            <a:off x="2122232" y="4127535"/>
            <a:ext cx="763075" cy="7388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D81FE9F-C214-3F12-C652-E372C012B73E}"/>
              </a:ext>
            </a:extLst>
          </p:cNvPr>
          <p:cNvCxnSpPr>
            <a:cxnSpLocks/>
            <a:stCxn id="46" idx="6"/>
            <a:endCxn id="98" idx="2"/>
          </p:cNvCxnSpPr>
          <p:nvPr/>
        </p:nvCxnSpPr>
        <p:spPr>
          <a:xfrm>
            <a:off x="2097262" y="4898906"/>
            <a:ext cx="788045" cy="250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E1D3572F-430D-DE8C-8192-0E145F689C8E}"/>
              </a:ext>
            </a:extLst>
          </p:cNvPr>
          <p:cNvCxnSpPr>
            <a:cxnSpLocks/>
            <a:stCxn id="50" idx="6"/>
            <a:endCxn id="92" idx="2"/>
          </p:cNvCxnSpPr>
          <p:nvPr/>
        </p:nvCxnSpPr>
        <p:spPr>
          <a:xfrm flipV="1">
            <a:off x="2097262" y="2067812"/>
            <a:ext cx="788045" cy="49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A72D2F9A-367B-2F82-6BD9-2B1937CB862E}"/>
              </a:ext>
            </a:extLst>
          </p:cNvPr>
          <p:cNvCxnSpPr>
            <a:cxnSpLocks/>
            <a:stCxn id="49" idx="6"/>
            <a:endCxn id="93" idx="2"/>
          </p:cNvCxnSpPr>
          <p:nvPr/>
        </p:nvCxnSpPr>
        <p:spPr>
          <a:xfrm flipV="1">
            <a:off x="2097262" y="2350831"/>
            <a:ext cx="788045" cy="508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37126DD-B3AA-938A-DAEE-CEB81633D772}"/>
              </a:ext>
            </a:extLst>
          </p:cNvPr>
          <p:cNvCxnSpPr>
            <a:cxnSpLocks/>
            <a:stCxn id="49" idx="6"/>
            <a:endCxn id="41" idx="1"/>
          </p:cNvCxnSpPr>
          <p:nvPr/>
        </p:nvCxnSpPr>
        <p:spPr>
          <a:xfrm>
            <a:off x="2097262" y="2859807"/>
            <a:ext cx="802672" cy="818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F09BFB6-F85E-3765-68B2-AC1934D96B4E}"/>
              </a:ext>
            </a:extLst>
          </p:cNvPr>
          <p:cNvCxnSpPr>
            <a:cxnSpLocks/>
            <a:stCxn id="46" idx="6"/>
            <a:endCxn id="38" idx="3"/>
          </p:cNvCxnSpPr>
          <p:nvPr/>
        </p:nvCxnSpPr>
        <p:spPr>
          <a:xfrm flipV="1">
            <a:off x="2097262" y="3465742"/>
            <a:ext cx="802672" cy="1433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F11E202-E869-DF06-9FB9-DBA29CACD43C}"/>
              </a:ext>
            </a:extLst>
          </p:cNvPr>
          <p:cNvGrpSpPr/>
          <p:nvPr/>
        </p:nvGrpSpPr>
        <p:grpSpPr>
          <a:xfrm>
            <a:off x="7229782" y="1886437"/>
            <a:ext cx="2116656" cy="1200329"/>
            <a:chOff x="5921813" y="2189894"/>
            <a:chExt cx="2116656" cy="1200329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18F58ED-D207-4F27-E1B9-24F01194911D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1C507E-8170-669A-90D1-885AB650923D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D34C0B7-D4AA-6308-2018-21DBE7FB998E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0BF7ECCB-6BF7-60B6-496A-C23531E75020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C475110-109D-B090-B9DA-0814D36CEF3D}"/>
              </a:ext>
            </a:extLst>
          </p:cNvPr>
          <p:cNvGrpSpPr/>
          <p:nvPr/>
        </p:nvGrpSpPr>
        <p:grpSpPr>
          <a:xfrm>
            <a:off x="7204571" y="3553891"/>
            <a:ext cx="2166595" cy="1200329"/>
            <a:chOff x="5921813" y="2189894"/>
            <a:chExt cx="2166595" cy="120032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58A45CA-BA16-D0EA-CD25-E0138DAD36CD}"/>
                </a:ext>
              </a:extLst>
            </p:cNvPr>
            <p:cNvSpPr txBox="1"/>
            <p:nvPr/>
          </p:nvSpPr>
          <p:spPr>
            <a:xfrm>
              <a:off x="5921813" y="2189894"/>
              <a:ext cx="2116656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Local Modulation (</a:t>
              </a:r>
            </a:p>
            <a:p>
              <a:pPr lvl="1"/>
              <a:r>
                <a:rPr lang="en-US" dirty="0"/>
                <a:t>Scale Tensor</a:t>
              </a:r>
            </a:p>
            <a:p>
              <a:pPr lvl="1"/>
              <a:r>
                <a:rPr lang="en-US" dirty="0"/>
                <a:t>Attention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D6E878F0-7354-7AA8-28E5-8281ADDD84B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CD122F2-35C0-1334-5D9D-D28C884849CD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CCB2347B-029D-E5E9-CC48-B100003DD316}"/>
                </a:ext>
              </a:extLst>
            </p:cNvPr>
            <p:cNvSpPr/>
            <p:nvPr/>
          </p:nvSpPr>
          <p:spPr>
            <a:xfrm>
              <a:off x="7988530" y="2762939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6C7E857-C711-27DF-80CF-150A7F2F805D}"/>
              </a:ext>
            </a:extLst>
          </p:cNvPr>
          <p:cNvGrpSpPr/>
          <p:nvPr/>
        </p:nvGrpSpPr>
        <p:grpSpPr>
          <a:xfrm>
            <a:off x="9619197" y="4075867"/>
            <a:ext cx="2116656" cy="1200329"/>
            <a:chOff x="5921813" y="2189894"/>
            <a:chExt cx="2116656" cy="1200329"/>
          </a:xfrm>
        </p:grpSpPr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40CAC28-1B47-04E3-30F0-E5D95DB3280B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47589A-E960-EA69-2FB5-130DBAC8B17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3A49D41-C084-3F5A-5261-1560640C8BBC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CA88344-FA56-C236-94A8-773DEC7998F4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8B033DAE-BDEA-30F0-0783-C114A7E4FBE5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>
            <a:off x="4654054" y="2235140"/>
            <a:ext cx="2923637" cy="120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636E99C-A14C-86F2-1218-5CBCA139CF6E}"/>
              </a:ext>
            </a:extLst>
          </p:cNvPr>
          <p:cNvCxnSpPr>
            <a:cxnSpLocks/>
            <a:stCxn id="48" idx="7"/>
            <a:endCxn id="122" idx="2"/>
          </p:cNvCxnSpPr>
          <p:nvPr/>
        </p:nvCxnSpPr>
        <p:spPr>
          <a:xfrm flipV="1">
            <a:off x="6846741" y="2638957"/>
            <a:ext cx="730950" cy="224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4B72F37-7DE0-461B-B8BB-0693B66DB4FB}"/>
              </a:ext>
            </a:extLst>
          </p:cNvPr>
          <p:cNvCxnSpPr>
            <a:cxnSpLocks/>
            <a:stCxn id="99" idx="7"/>
            <a:endCxn id="127" idx="2"/>
          </p:cNvCxnSpPr>
          <p:nvPr/>
        </p:nvCxnSpPr>
        <p:spPr>
          <a:xfrm flipV="1">
            <a:off x="4639427" y="4306411"/>
            <a:ext cx="2913053" cy="691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1EC5999-1386-1D23-8C49-FC0B3A63CE28}"/>
              </a:ext>
            </a:extLst>
          </p:cNvPr>
          <p:cNvGrpSpPr/>
          <p:nvPr/>
        </p:nvGrpSpPr>
        <p:grpSpPr>
          <a:xfrm>
            <a:off x="4947317" y="3394056"/>
            <a:ext cx="1914051" cy="369332"/>
            <a:chOff x="6393970" y="3479859"/>
            <a:chExt cx="1914051" cy="369332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026E3CB-A572-1203-0F20-A23F7F57F103}"/>
                </a:ext>
              </a:extLst>
            </p:cNvPr>
            <p:cNvSpPr txBox="1"/>
            <p:nvPr/>
          </p:nvSpPr>
          <p:spPr>
            <a:xfrm>
              <a:off x="6443909" y="3479859"/>
              <a:ext cx="1814173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Keep Max Only</a:t>
              </a:r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7A5F2B43-3A9F-14A8-9623-D5FAF0F30AD7}"/>
                </a:ext>
              </a:extLst>
            </p:cNvPr>
            <p:cNvSpPr/>
            <p:nvPr/>
          </p:nvSpPr>
          <p:spPr>
            <a:xfrm>
              <a:off x="6393970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56E5558D-74B2-EE03-0596-CB8F60475D7E}"/>
                </a:ext>
              </a:extLst>
            </p:cNvPr>
            <p:cNvSpPr/>
            <p:nvPr/>
          </p:nvSpPr>
          <p:spPr>
            <a:xfrm>
              <a:off x="8208143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0A26A5EE-A15A-04FC-6532-12D55FB791DF}"/>
              </a:ext>
            </a:extLst>
          </p:cNvPr>
          <p:cNvCxnSpPr>
            <a:cxnSpLocks/>
            <a:stCxn id="43" idx="6"/>
            <a:endCxn id="152" idx="2"/>
          </p:cNvCxnSpPr>
          <p:nvPr/>
        </p:nvCxnSpPr>
        <p:spPr>
          <a:xfrm flipV="1">
            <a:off x="4654054" y="3588426"/>
            <a:ext cx="293263" cy="9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477CEA6-349F-D907-59D5-CFDD9F1CB3EC}"/>
              </a:ext>
            </a:extLst>
          </p:cNvPr>
          <p:cNvCxnSpPr>
            <a:cxnSpLocks/>
            <a:stCxn id="153" idx="5"/>
            <a:endCxn id="126" idx="2"/>
          </p:cNvCxnSpPr>
          <p:nvPr/>
        </p:nvCxnSpPr>
        <p:spPr>
          <a:xfrm>
            <a:off x="6846741" y="3623738"/>
            <a:ext cx="705739" cy="3996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F3C27B3-31F9-7ACA-4826-E239D8B13361}"/>
              </a:ext>
            </a:extLst>
          </p:cNvPr>
          <p:cNvCxnSpPr>
            <a:cxnSpLocks/>
            <a:stCxn id="47" idx="6"/>
            <a:endCxn id="132" idx="2"/>
          </p:cNvCxnSpPr>
          <p:nvPr/>
        </p:nvCxnSpPr>
        <p:spPr>
          <a:xfrm flipV="1">
            <a:off x="9202268" y="4828387"/>
            <a:ext cx="764838" cy="545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9AE4D64F-9A4A-622E-D504-BA5946E5D850}"/>
              </a:ext>
            </a:extLst>
          </p:cNvPr>
          <p:cNvCxnSpPr>
            <a:cxnSpLocks/>
            <a:stCxn id="128" idx="5"/>
            <a:endCxn id="131" idx="1"/>
          </p:cNvCxnSpPr>
          <p:nvPr/>
        </p:nvCxnSpPr>
        <p:spPr>
          <a:xfrm>
            <a:off x="9356539" y="4212187"/>
            <a:ext cx="625194" cy="297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0ED73E4-D863-26D5-DEF3-A71BBC306710}"/>
              </a:ext>
            </a:extLst>
          </p:cNvPr>
          <p:cNvCxnSpPr>
            <a:cxnSpLocks/>
            <a:stCxn id="123" idx="6"/>
          </p:cNvCxnSpPr>
          <p:nvPr/>
        </p:nvCxnSpPr>
        <p:spPr>
          <a:xfrm>
            <a:off x="9346438" y="2523266"/>
            <a:ext cx="27564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A45363F-4B42-1C8B-D45D-ABD9159FF3E6}"/>
              </a:ext>
            </a:extLst>
          </p:cNvPr>
          <p:cNvCxnSpPr>
            <a:cxnSpLocks/>
            <a:stCxn id="133" idx="6"/>
          </p:cNvCxnSpPr>
          <p:nvPr/>
        </p:nvCxnSpPr>
        <p:spPr>
          <a:xfrm>
            <a:off x="11735853" y="4712696"/>
            <a:ext cx="312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D57BCEAD-B17B-EC79-8859-E994BEF7BDDA}"/>
              </a:ext>
            </a:extLst>
          </p:cNvPr>
          <p:cNvSpPr txBox="1"/>
          <p:nvPr/>
        </p:nvSpPr>
        <p:spPr>
          <a:xfrm>
            <a:off x="9496559" y="2104035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Attention Output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B1187CD9-A70B-42D0-4912-930542DECE0B}"/>
              </a:ext>
            </a:extLst>
          </p:cNvPr>
          <p:cNvSpPr txBox="1"/>
          <p:nvPr/>
        </p:nvSpPr>
        <p:spPr>
          <a:xfrm>
            <a:off x="9424701" y="3677997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Context 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390691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FD043-82CF-6037-B24E-26DF114C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0E0258-D485-8E61-800E-5B602B40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BA2A3-7620-ECCB-A48C-76CFA545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953" y="1019674"/>
            <a:ext cx="5800020" cy="41219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2F466-EC0D-9C8C-9002-15EB97D71078}"/>
              </a:ext>
            </a:extLst>
          </p:cNvPr>
          <p:cNvSpPr txBox="1"/>
          <p:nvPr/>
        </p:nvSpPr>
        <p:spPr>
          <a:xfrm>
            <a:off x="800101" y="1773044"/>
            <a:ext cx="4791779" cy="4198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keep-max only operation is a sequence of operations that retains the highest value in each column (</a:t>
            </a:r>
            <a:r>
              <a:rPr lang="en-US" dirty="0" err="1"/>
              <a:t>L_t</a:t>
            </a:r>
            <a:r>
              <a:rPr lang="en-US" dirty="0"/>
              <a:t> axis).</a:t>
            </a:r>
          </a:p>
          <a:p>
            <a:pPr algn="just">
              <a:lnSpc>
                <a:spcPct val="150000"/>
              </a:lnSpc>
            </a:pPr>
            <a:r>
              <a:rPr lang="en-US" i="1" dirty="0"/>
              <a:t>Intuitively: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r>
              <a:rPr lang="en-US" dirty="0"/>
              <a:t>Keep the highest similarity of the target features in each context image patch.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dirty="0"/>
              <a:t>Each image patch is a segment of a picture that behaves similarly to a singular embedding token in natural language processing.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08BC5-097B-27BA-AD44-2AE0FA3C773F}"/>
              </a:ext>
            </a:extLst>
          </p:cNvPr>
          <p:cNvSpPr txBox="1"/>
          <p:nvPr/>
        </p:nvSpPr>
        <p:spPr>
          <a:xfrm>
            <a:off x="8225928" y="4956932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279127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4FEFD-957E-33E1-22B2-C1779A6E3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33F9E4-CCB8-30FD-9B33-E67FA0FEC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341F4E-FC07-C840-5C01-752850E8E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63" y="1711050"/>
            <a:ext cx="5800020" cy="4121924"/>
          </a:xfrm>
          <a:prstGeom prst="rect">
            <a:avLst/>
          </a:prstGeom>
        </p:spPr>
      </p:pic>
      <p:pic>
        <p:nvPicPr>
          <p:cNvPr id="2" name="Graphic 2">
            <a:extLst>
              <a:ext uri="{FF2B5EF4-FFF2-40B4-BE49-F238E27FC236}">
                <a16:creationId xmlns:a16="http://schemas.microsoft.com/office/drawing/2014/main" id="{A9042F74-5E2A-54C1-BC63-FBBBED604B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32629" y="780927"/>
            <a:ext cx="2015412" cy="529614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C886C4-8026-F835-9078-21DADEB4C2C0}"/>
              </a:ext>
            </a:extLst>
          </p:cNvPr>
          <p:cNvCxnSpPr/>
          <p:nvPr/>
        </p:nvCxnSpPr>
        <p:spPr>
          <a:xfrm>
            <a:off x="6590371" y="3772012"/>
            <a:ext cx="19291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A1B0C8-B552-822E-E591-38282FA026F3}"/>
              </a:ext>
            </a:extLst>
          </p:cNvPr>
          <p:cNvSpPr txBox="1"/>
          <p:nvPr/>
        </p:nvSpPr>
        <p:spPr>
          <a:xfrm>
            <a:off x="2237723" y="5707740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599DA2-39C2-BB3C-E2DB-88FFDD1F522A}"/>
              </a:ext>
            </a:extLst>
          </p:cNvPr>
          <p:cNvSpPr txBox="1"/>
          <p:nvPr/>
        </p:nvSpPr>
        <p:spPr>
          <a:xfrm>
            <a:off x="8732629" y="564830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</p:spTree>
    <p:extLst>
      <p:ext uri="{BB962C8B-B14F-4D97-AF65-F5344CB8AC3E}">
        <p14:creationId xmlns:p14="http://schemas.microsoft.com/office/powerpoint/2010/main" val="639644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F6C9E-ED11-B93E-0898-EF5E21BCC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68C33A-BEEF-0714-A562-B30EA1821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Modulation operation</a:t>
            </a:r>
          </a:p>
        </p:txBody>
      </p:sp>
      <p:pic>
        <p:nvPicPr>
          <p:cNvPr id="4" name="Graphic 1">
            <a:extLst>
              <a:ext uri="{FF2B5EF4-FFF2-40B4-BE49-F238E27FC236}">
                <a16:creationId xmlns:a16="http://schemas.microsoft.com/office/drawing/2014/main" id="{FA31A772-0BC1-5E62-E35A-F17DCF9A8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8830" y="914400"/>
            <a:ext cx="2502535" cy="5045075"/>
          </a:xfrm>
          <a:prstGeom prst="rect">
            <a:avLst/>
          </a:prstGeom>
        </p:spPr>
      </p:pic>
      <p:pic>
        <p:nvPicPr>
          <p:cNvPr id="6" name="Graphic 2">
            <a:extLst>
              <a:ext uri="{FF2B5EF4-FFF2-40B4-BE49-F238E27FC236}">
                <a16:creationId xmlns:a16="http://schemas.microsoft.com/office/drawing/2014/main" id="{186DA560-3218-3FEA-8404-E9A3013A0E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7721" y="1568196"/>
            <a:ext cx="1671109" cy="4391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A738A2-F46B-9A21-986A-0F7F40E31A4B}"/>
              </a:ext>
            </a:extLst>
          </p:cNvPr>
          <p:cNvSpPr txBox="1"/>
          <p:nvPr/>
        </p:nvSpPr>
        <p:spPr>
          <a:xfrm>
            <a:off x="7134412" y="575268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A07E8D-8CFC-EC5F-5544-5799254D6838}"/>
              </a:ext>
            </a:extLst>
          </p:cNvPr>
          <p:cNvSpPr txBox="1"/>
          <p:nvPr/>
        </p:nvSpPr>
        <p:spPr>
          <a:xfrm>
            <a:off x="9404543" y="5758934"/>
            <a:ext cx="1962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Modulation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0723D4-FB0C-954E-6E31-1D65DFCC47DA}"/>
              </a:ext>
            </a:extLst>
          </p:cNvPr>
          <p:cNvSpPr txBox="1"/>
          <p:nvPr/>
        </p:nvSpPr>
        <p:spPr>
          <a:xfrm>
            <a:off x="781687" y="1728439"/>
            <a:ext cx="5937012" cy="420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local modulation is just a broadcasting element-wise multiplication along the Query axis on the self-attention output of the context attention.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resulting tensor is a locally modulated attention map, which will be multiplied with the context Value tensor to generate the output for the next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 </a:t>
            </a:r>
            <a:r>
              <a:rPr lang="en-US" dirty="0"/>
              <a:t>This operation will only be applied to the user-defined </a:t>
            </a:r>
            <a:r>
              <a:rPr lang="en-US" dirty="0" err="1"/>
              <a:t>last_n_layers</a:t>
            </a:r>
            <a:r>
              <a:rPr lang="en-US" dirty="0"/>
              <a:t> of the </a:t>
            </a:r>
            <a:r>
              <a:rPr lang="en-US" dirty="0" err="1"/>
              <a:t>ViT</a:t>
            </a:r>
            <a:r>
              <a:rPr lang="en-US" dirty="0"/>
              <a:t> encoder block; it is not applied to all the encoder blocks in the </a:t>
            </a:r>
            <a:r>
              <a:rPr lang="en-US" dirty="0" err="1"/>
              <a:t>ViT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80640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F65D0-418D-F40F-6529-A842B2EC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B57E452-FBAB-9226-6E63-78A5CF72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 descr="A diagram of a machine&#10;&#10;AI-generated content may be incorrect.">
            <a:extLst>
              <a:ext uri="{FF2B5EF4-FFF2-40B4-BE49-F238E27FC236}">
                <a16:creationId xmlns:a16="http://schemas.microsoft.com/office/drawing/2014/main" id="{722012E9-C421-7DF0-B542-75394D930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325" y="1867774"/>
            <a:ext cx="8515351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EDB664-6C90-26BC-E344-13AC99A46381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0F7871-2B7E-7F8A-DA95-BAC41E065435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21BDC4-8856-244C-B6BB-A150300A4C03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203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6066-EEB3-963E-7435-7521CEA7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52B15A5-A3E5-78F6-B07A-264379DE6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532CED-16C2-3703-7565-A73455E7F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0046" y="1867774"/>
            <a:ext cx="8511909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2B4C857-8E15-C46C-A094-B1756866B7E2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3DD1E-85D5-0737-2972-3B5437251632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246A1D2-45FF-D3FF-1A7A-5D685C9DE6AF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2607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0FEF2-889B-44F8-9FBD-FA080BA8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AA8569-123A-20A2-CBB4-1F935E05D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/>
              <a:t>Modified CRTNet architecture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55DC78E-BEEE-69F9-0D9C-E76E950F923E}"/>
              </a:ext>
            </a:extLst>
          </p:cNvPr>
          <p:cNvSpPr txBox="1"/>
          <p:nvPr/>
        </p:nvSpPr>
        <p:spPr>
          <a:xfrm>
            <a:off x="433349" y="2154168"/>
            <a:ext cx="4750253" cy="4476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However, there is one vital issue: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Positional Encoding in the Transformer takes a bounding box (</a:t>
            </a:r>
            <a:r>
              <a:rPr lang="en-US" dirty="0" err="1"/>
              <a:t>bbox</a:t>
            </a:r>
            <a:r>
              <a:rPr lang="en-US" dirty="0"/>
              <a:t>) as an input.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Why is it a fundamental issue?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The model is responsible for conducting a visual search task to locate the target. </a:t>
            </a:r>
          </a:p>
          <a:p>
            <a:pPr marL="285750" indent="-285750" algn="just">
              <a:lnSpc>
                <a:spcPct val="170000"/>
              </a:lnSpc>
              <a:spcAft>
                <a:spcPts val="600"/>
              </a:spcAft>
              <a:buFontTx/>
              <a:buChar char="-"/>
            </a:pPr>
            <a:r>
              <a:rPr lang="en-US" dirty="0"/>
              <a:t>By having the </a:t>
            </a:r>
            <a:r>
              <a:rPr lang="en-US" dirty="0" err="1"/>
              <a:t>bbox</a:t>
            </a:r>
            <a:r>
              <a:rPr lang="en-US" dirty="0"/>
              <a:t> coordinate in the first place, the model is no longer required to locate the target.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i="1" dirty="0"/>
              <a:t>Note: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original structure is perfectly fine if the model is required to conduct object identification (classification).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i="1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</p:txBody>
      </p:sp>
      <p:pic>
        <p:nvPicPr>
          <p:cNvPr id="4" name="Picture 3" descr="A computer code with many text&#10;&#10;AI-generated content may be incorrect.">
            <a:extLst>
              <a:ext uri="{FF2B5EF4-FFF2-40B4-BE49-F238E27FC236}">
                <a16:creationId xmlns:a16="http://schemas.microsoft.com/office/drawing/2014/main" id="{5B276613-27C3-460A-034D-C9BCD3A5F0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207" b="-1"/>
          <a:stretch>
            <a:fillRect/>
          </a:stretch>
        </p:blipFill>
        <p:spPr>
          <a:xfrm>
            <a:off x="5100404" y="722376"/>
            <a:ext cx="6495042" cy="541964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8F823F5-8B3B-D185-A2CC-04838ADAC10E}"/>
              </a:ext>
            </a:extLst>
          </p:cNvPr>
          <p:cNvSpPr/>
          <p:nvPr/>
        </p:nvSpPr>
        <p:spPr>
          <a:xfrm>
            <a:off x="8886632" y="2310724"/>
            <a:ext cx="909941" cy="17501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32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89283-16B1-EF53-795E-E7721DF6E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D59AE99-0307-5B36-6C16-028FCD910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744686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Naïve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F03830E-BFD6-5883-491B-8963C1E66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282" y="723900"/>
            <a:ext cx="7353299" cy="3033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1634F6-2BEA-E764-319B-0169296489E2}"/>
              </a:ext>
            </a:extLst>
          </p:cNvPr>
          <p:cNvSpPr txBox="1"/>
          <p:nvPr/>
        </p:nvSpPr>
        <p:spPr>
          <a:xfrm>
            <a:off x="685800" y="4503915"/>
            <a:ext cx="11146971" cy="2290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simply remove the </a:t>
            </a:r>
            <a:r>
              <a:rPr lang="en-US" dirty="0" err="1"/>
              <a:t>target_bbox</a:t>
            </a:r>
            <a:r>
              <a:rPr lang="en-US" dirty="0"/>
              <a:t> as the parameter, and we don’t need to modify the </a:t>
            </a:r>
            <a:r>
              <a:rPr lang="en-US" dirty="0" err="1"/>
              <a:t>target_encoding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just need to modify the </a:t>
            </a:r>
            <a:r>
              <a:rPr lang="en-US" dirty="0" err="1"/>
              <a:t>context_encoding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=&gt; The model might lose the “sense” of the target present in the context surrounding.</a:t>
            </a:r>
          </a:p>
        </p:txBody>
      </p:sp>
    </p:spTree>
    <p:extLst>
      <p:ext uri="{BB962C8B-B14F-4D97-AF65-F5344CB8AC3E}">
        <p14:creationId xmlns:p14="http://schemas.microsoft.com/office/powerpoint/2010/main" val="1610944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A8F126-0200-82A0-DBB4-5D3C2A5F4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B4D8EC-34FE-5646-9A5A-C7107DBD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3614058" cy="2529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AEC30C3-7BE6-73B8-3D32-44E88356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28" y="250301"/>
            <a:ext cx="5817018" cy="63573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3EA239-8A0C-C0BD-3DBD-EB9EAC46B865}"/>
              </a:ext>
            </a:extLst>
          </p:cNvPr>
          <p:cNvSpPr txBox="1"/>
          <p:nvPr/>
        </p:nvSpPr>
        <p:spPr>
          <a:xfrm>
            <a:off x="892454" y="3868902"/>
            <a:ext cx="38373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Solution:</a:t>
            </a:r>
          </a:p>
          <a:p>
            <a:r>
              <a:rPr lang="en-US" dirty="0"/>
              <a:t>Added a Light-weight Attention layer</a:t>
            </a:r>
          </a:p>
          <a:p>
            <a:endParaRPr lang="en-US" dirty="0"/>
          </a:p>
          <a:p>
            <a:r>
              <a:rPr lang="en-US" dirty="0"/>
              <a:t>Query:   Target token</a:t>
            </a:r>
          </a:p>
          <a:p>
            <a:r>
              <a:rPr lang="en-US" dirty="0"/>
              <a:t>Key:       Context PE</a:t>
            </a:r>
          </a:p>
          <a:p>
            <a:r>
              <a:rPr lang="en-US" dirty="0"/>
              <a:t>Value:    Context PE</a:t>
            </a:r>
          </a:p>
        </p:txBody>
      </p:sp>
    </p:spTree>
    <p:extLst>
      <p:ext uri="{BB962C8B-B14F-4D97-AF65-F5344CB8AC3E}">
        <p14:creationId xmlns:p14="http://schemas.microsoft.com/office/powerpoint/2010/main" val="260654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B889-9DE1-FE86-F279-5198FAE9E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860C4DE-7996-040E-4596-795EA25E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11038114" cy="12692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0DDF95-E95B-21F1-FAB2-B5C20F08E272}"/>
              </a:ext>
            </a:extLst>
          </p:cNvPr>
          <p:cNvGrpSpPr/>
          <p:nvPr/>
        </p:nvGrpSpPr>
        <p:grpSpPr>
          <a:xfrm>
            <a:off x="3673394" y="2489510"/>
            <a:ext cx="1001428" cy="598310"/>
            <a:chOff x="2493871" y="2168278"/>
            <a:chExt cx="1001428" cy="59831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12132-A9A9-268C-DE7D-5D8DE9670610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E2607D-8C60-B45D-B8E3-435E31CCB800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C45E769-5FBC-AA3C-1E49-5D30F8E6F97C}"/>
              </a:ext>
            </a:extLst>
          </p:cNvPr>
          <p:cNvSpPr txBox="1"/>
          <p:nvPr/>
        </p:nvSpPr>
        <p:spPr>
          <a:xfrm>
            <a:off x="1728419" y="2494241"/>
            <a:ext cx="1690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Bbox</a:t>
            </a:r>
            <a:r>
              <a:rPr lang="en-US" sz="1200" dirty="0"/>
              <a:t> coordinates (1, 1)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F48024D-0F1D-D3DE-BAEC-0A8AAE518964}"/>
              </a:ext>
            </a:extLst>
          </p:cNvPr>
          <p:cNvGrpSpPr/>
          <p:nvPr/>
        </p:nvGrpSpPr>
        <p:grpSpPr>
          <a:xfrm>
            <a:off x="309642" y="2489510"/>
            <a:ext cx="1378326" cy="1437845"/>
            <a:chOff x="309642" y="2489510"/>
            <a:chExt cx="1378326" cy="143784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BD543AB-B2C7-06D3-5170-CDB516CC0897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866C77A-309C-66E4-83CE-6230544BE397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AC68AA-7E3A-FB4E-6D42-8D57CF5D2711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8372AC8-20B5-5AF3-DB35-A915B993D32C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01BF571-9EBF-7F6A-55EA-2D9729AC1609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7C11313-FC6C-2781-A59D-EA8401B0B30D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FD0436B8-B797-9DC9-B7B6-CB4E1515EF80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DA728908-ECA5-54C0-DB04-06DC04FF668B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BEBC64D-B8B8-F474-63A1-1FB386D5C933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39498C6-4488-FDFC-5CA0-9326816D1872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7A5CCD2D-DB4E-CEB6-FEC1-1DBF89DDD8DA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5C5527-552C-C5C5-FCFF-13038598C6F8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2958587-5936-E424-EFC7-F117A3832E5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19B66AD-9369-D060-C817-C9F6CEEE90B9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B64FD7-36F2-BF07-9615-D0F9AA1EB0CA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040D5D-E88F-F916-2A4D-7C6EF20DCADB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F45E0B-334F-3E17-FEAE-CDA38EC26256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E9176D1-83D8-1E2D-DCD7-4C9371022B9E}"/>
                </a:ext>
              </a:extLst>
            </p:cNvPr>
            <p:cNvSpPr txBox="1"/>
            <p:nvPr/>
          </p:nvSpPr>
          <p:spPr>
            <a:xfrm>
              <a:off x="309642" y="2489510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3AD3E9F3-337E-94BF-B36B-E7B5DACB0AB6}"/>
              </a:ext>
            </a:extLst>
          </p:cNvPr>
          <p:cNvSpPr/>
          <p:nvPr/>
        </p:nvSpPr>
        <p:spPr>
          <a:xfrm>
            <a:off x="2317172" y="4258394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20D0F1C-132E-26D2-C2FD-CD4741A1938A}"/>
              </a:ext>
            </a:extLst>
          </p:cNvPr>
          <p:cNvGrpSpPr/>
          <p:nvPr/>
        </p:nvGrpSpPr>
        <p:grpSpPr>
          <a:xfrm>
            <a:off x="2003494" y="5070054"/>
            <a:ext cx="1001428" cy="598310"/>
            <a:chOff x="2493871" y="2168278"/>
            <a:chExt cx="1001428" cy="59831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7781214-F95C-2B9F-C7EB-65443BCE95FF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75F473D-9C72-FCBD-978E-63E1889A7991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B236D3D-56C0-8504-7346-A4557C6833F8}"/>
              </a:ext>
            </a:extLst>
          </p:cNvPr>
          <p:cNvCxnSpPr>
            <a:cxnSpLocks/>
            <a:stCxn id="30" idx="2"/>
            <a:endCxn id="18" idx="3"/>
          </p:cNvCxnSpPr>
          <p:nvPr/>
        </p:nvCxnSpPr>
        <p:spPr>
          <a:xfrm flipH="1">
            <a:off x="1456470" y="2771240"/>
            <a:ext cx="1117085" cy="73799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F6F69-0397-F841-5F62-D8950BC34894}"/>
              </a:ext>
            </a:extLst>
          </p:cNvPr>
          <p:cNvCxnSpPr>
            <a:cxnSpLocks/>
            <a:stCxn id="15" idx="2"/>
            <a:endCxn id="109" idx="0"/>
          </p:cNvCxnSpPr>
          <p:nvPr/>
        </p:nvCxnSpPr>
        <p:spPr>
          <a:xfrm flipH="1">
            <a:off x="1052570" y="3915020"/>
            <a:ext cx="726" cy="42572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D771F9-38F2-F483-7307-52D19DE604D9}"/>
              </a:ext>
            </a:extLst>
          </p:cNvPr>
          <p:cNvCxnSpPr>
            <a:cxnSpLocks/>
            <a:stCxn id="28" idx="2"/>
            <a:endCxn id="33" idx="6"/>
          </p:cNvCxnSpPr>
          <p:nvPr/>
        </p:nvCxnSpPr>
        <p:spPr>
          <a:xfrm flipH="1">
            <a:off x="2691245" y="3087820"/>
            <a:ext cx="1482863" cy="13515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648033-20F3-1ABD-F952-C762DD0947A8}"/>
              </a:ext>
            </a:extLst>
          </p:cNvPr>
          <p:cNvCxnSpPr>
            <a:cxnSpLocks/>
            <a:stCxn id="33" idx="4"/>
            <a:endCxn id="36" idx="0"/>
          </p:cNvCxnSpPr>
          <p:nvPr/>
        </p:nvCxnSpPr>
        <p:spPr>
          <a:xfrm flipH="1">
            <a:off x="2504208" y="4620399"/>
            <a:ext cx="1" cy="44965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D7C7AB-2C83-E8C6-3B9A-C0273653A463}"/>
              </a:ext>
            </a:extLst>
          </p:cNvPr>
          <p:cNvSpPr txBox="1"/>
          <p:nvPr/>
        </p:nvSpPr>
        <p:spPr>
          <a:xfrm>
            <a:off x="1556158" y="2094551"/>
            <a:ext cx="2270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Architecture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A69A366-79F2-47A6-738B-0E932C74643D}"/>
              </a:ext>
            </a:extLst>
          </p:cNvPr>
          <p:cNvSpPr/>
          <p:nvPr/>
        </p:nvSpPr>
        <p:spPr>
          <a:xfrm>
            <a:off x="918179" y="4340749"/>
            <a:ext cx="268782" cy="270056"/>
          </a:xfrm>
          <a:prstGeom prst="rect">
            <a:avLst/>
          </a:prstGeom>
          <a:solidFill>
            <a:srgbClr val="00B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35AC8AB-EFD5-B8C5-A536-3CE66ECECFCD}"/>
              </a:ext>
            </a:extLst>
          </p:cNvPr>
          <p:cNvCxnSpPr>
            <a:cxnSpLocks/>
            <a:stCxn id="109" idx="3"/>
            <a:endCxn id="33" idx="2"/>
          </p:cNvCxnSpPr>
          <p:nvPr/>
        </p:nvCxnSpPr>
        <p:spPr>
          <a:xfrm flipV="1">
            <a:off x="1186961" y="4439397"/>
            <a:ext cx="1130211" cy="3638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B4668BF-EF8D-568A-F378-DAF08DB7535F}"/>
              </a:ext>
            </a:extLst>
          </p:cNvPr>
          <p:cNvGrpSpPr/>
          <p:nvPr/>
        </p:nvGrpSpPr>
        <p:grpSpPr>
          <a:xfrm>
            <a:off x="10002884" y="2531535"/>
            <a:ext cx="1001428" cy="598310"/>
            <a:chOff x="2493871" y="2168278"/>
            <a:chExt cx="1001428" cy="59831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FA3C6892-66E6-DB04-53B4-35BD5AD28CF5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A8D4D84E-C6D0-537E-0170-FB3E6F3BE2B8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DB8478A-1E2A-F65F-3D5F-9559BED19C33}"/>
              </a:ext>
            </a:extLst>
          </p:cNvPr>
          <p:cNvGrpSpPr/>
          <p:nvPr/>
        </p:nvGrpSpPr>
        <p:grpSpPr>
          <a:xfrm>
            <a:off x="6649690" y="2553691"/>
            <a:ext cx="1378326" cy="1415689"/>
            <a:chOff x="320200" y="2511666"/>
            <a:chExt cx="1378326" cy="1415689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02F5B02C-0707-580D-3365-7A5B8B8D8CC6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63B5B6D1-1C52-AA53-0585-AFCD0F2A0B8A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03020F1B-E567-DADA-2CAE-640A12E7C9D4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41189906-2794-2FFE-DE6D-F821B13A5671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B49DDD9F-E650-024C-6D94-C4586F29E11C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4ACAEB04-BD63-F2A3-7B3F-3994EFCAB664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155E84F3-ACD5-821D-2BD1-4F576AF9F6AD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9D1D00D-8C83-6CCA-8278-8F1C70E7714A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E96E777C-43D4-B7E5-00B9-51353116DA00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A423EC31-02B7-5A9E-2339-E676D9174C9F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D0AEDB37-AE22-5638-00D9-4B2EF3D67A5F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FD8F64D-8EBF-E93B-694C-C00611F3C049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68B08443-6F37-2AEE-2FA5-F04EB094F46C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3B1AFD5-059D-A0C6-2A63-43EBC1363E2D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3D9A15A5-C66E-83C5-ED78-49C5B1E459BE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9A0A8A1D-1E82-9CA0-918E-146DE48B0362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8A648BAE-C856-0165-AE15-AAD4D5C9083B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4B04B88B-0347-852B-F0EF-B28B19C4CC59}"/>
                </a:ext>
              </a:extLst>
            </p:cNvPr>
            <p:cNvSpPr txBox="1"/>
            <p:nvPr/>
          </p:nvSpPr>
          <p:spPr>
            <a:xfrm>
              <a:off x="320200" y="2511666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147" name="Oval 146">
            <a:extLst>
              <a:ext uri="{FF2B5EF4-FFF2-40B4-BE49-F238E27FC236}">
                <a16:creationId xmlns:a16="http://schemas.microsoft.com/office/drawing/2014/main" id="{ED27A6DF-0248-D144-3CFE-10898A7AD111}"/>
              </a:ext>
            </a:extLst>
          </p:cNvPr>
          <p:cNvSpPr/>
          <p:nvPr/>
        </p:nvSpPr>
        <p:spPr>
          <a:xfrm>
            <a:off x="9647356" y="4828420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E083B3F-6B17-3547-F815-5EF508713BF8}"/>
              </a:ext>
            </a:extLst>
          </p:cNvPr>
          <p:cNvGrpSpPr/>
          <p:nvPr/>
        </p:nvGrpSpPr>
        <p:grpSpPr>
          <a:xfrm>
            <a:off x="9351286" y="5417552"/>
            <a:ext cx="1001428" cy="598310"/>
            <a:chOff x="2493871" y="2168278"/>
            <a:chExt cx="1001428" cy="59831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6DC9FD03-E056-6FF7-2971-F66CEE251E81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7A0A7951-4255-D24E-6BAB-6BDB7004CA1A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CE370B9-8661-45F3-EB43-3E8288A64027}"/>
              </a:ext>
            </a:extLst>
          </p:cNvPr>
          <p:cNvCxnSpPr>
            <a:cxnSpLocks/>
            <a:stCxn id="125" idx="2"/>
            <a:endCxn id="147" idx="7"/>
          </p:cNvCxnSpPr>
          <p:nvPr/>
        </p:nvCxnSpPr>
        <p:spPr>
          <a:xfrm flipH="1">
            <a:off x="9966647" y="3129845"/>
            <a:ext cx="536951" cy="1751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3E7DFF63-D53F-FD26-1981-4FEBA32D0F76}"/>
              </a:ext>
            </a:extLst>
          </p:cNvPr>
          <p:cNvCxnSpPr>
            <a:cxnSpLocks/>
            <a:stCxn id="147" idx="4"/>
            <a:endCxn id="150" idx="0"/>
          </p:cNvCxnSpPr>
          <p:nvPr/>
        </p:nvCxnSpPr>
        <p:spPr>
          <a:xfrm>
            <a:off x="9834393" y="5190425"/>
            <a:ext cx="17607" cy="22712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7F92343A-7CE5-F700-959B-5666FB8F104D}"/>
              </a:ext>
            </a:extLst>
          </p:cNvPr>
          <p:cNvSpPr txBox="1"/>
          <p:nvPr/>
        </p:nvSpPr>
        <p:spPr>
          <a:xfrm>
            <a:off x="7885648" y="2136576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Modified Architecture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A7372CCD-6B1D-6AD8-0D1D-F24DBAA2128F}"/>
              </a:ext>
            </a:extLst>
          </p:cNvPr>
          <p:cNvSpPr/>
          <p:nvPr/>
        </p:nvSpPr>
        <p:spPr>
          <a:xfrm>
            <a:off x="8874229" y="4890493"/>
            <a:ext cx="268782" cy="270056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A5F24AB6-CBCA-93B7-8F9E-81C5B02F8A30}"/>
              </a:ext>
            </a:extLst>
          </p:cNvPr>
          <p:cNvCxnSpPr>
            <a:cxnSpLocks/>
            <a:stCxn id="156" idx="3"/>
            <a:endCxn id="147" idx="2"/>
          </p:cNvCxnSpPr>
          <p:nvPr/>
        </p:nvCxnSpPr>
        <p:spPr>
          <a:xfrm flipV="1">
            <a:off x="9143011" y="5009423"/>
            <a:ext cx="504345" cy="1609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908FB5D6-F42E-4C5F-8746-9AA7BB8E2D2C}"/>
              </a:ext>
            </a:extLst>
          </p:cNvPr>
          <p:cNvGrpSpPr/>
          <p:nvPr/>
        </p:nvGrpSpPr>
        <p:grpSpPr>
          <a:xfrm>
            <a:off x="8311836" y="2529949"/>
            <a:ext cx="1078665" cy="1417749"/>
            <a:chOff x="377805" y="2509606"/>
            <a:chExt cx="1078665" cy="1417749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60FBEDA-8B05-24EB-CF2D-D1AF3F93869B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A86431F0-BDC2-1B56-6004-C6E29D3773B8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560BA541-6202-7576-B5C2-E478BF8EF169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39FF77A7-3FF0-2715-F69C-6A208CEF5BCA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tx1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5" name="Rectangle 184">
                  <a:extLst>
                    <a:ext uri="{FF2B5EF4-FFF2-40B4-BE49-F238E27FC236}">
                      <a16:creationId xmlns:a16="http://schemas.microsoft.com/office/drawing/2014/main" id="{8B42D25C-6AAA-1C51-C13A-ACC74311DB10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Rectangle 185">
                  <a:extLst>
                    <a:ext uri="{FF2B5EF4-FFF2-40B4-BE49-F238E27FC236}">
                      <a16:creationId xmlns:a16="http://schemas.microsoft.com/office/drawing/2014/main" id="{26C03939-6A80-0BB4-2367-C2DCFB8FFE50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7" name="Rectangle 186">
                  <a:extLst>
                    <a:ext uri="{FF2B5EF4-FFF2-40B4-BE49-F238E27FC236}">
                      <a16:creationId xmlns:a16="http://schemas.microsoft.com/office/drawing/2014/main" id="{955A50CE-B98F-7A8C-4DDD-95C534842179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chemeClr val="bg2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94A80F6-0F7B-3650-8C82-1C630E99BCF3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C3E4B2A4-4807-0388-4F3A-C5BB3850E4CB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27859A71-EE10-0CDD-B216-8E497D1D0F67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D1EC371-2643-B6D0-4D75-F07ABE54E612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D3E1D777-9774-E992-BEC3-4E8A0E02AA3B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8E44706-8AED-F5AE-0955-5571A80A17D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9B6D3C2-71DC-2C34-24F8-FA92C57B1955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4801583-F597-2C67-792C-1B17A3758235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26A2E691-9616-897C-B680-050DD20273FE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6819533-B9CF-800E-39EA-7B3D332B94A5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BA5F2DD3-1B51-EF26-7AD0-572DB293DE0A}"/>
                </a:ext>
              </a:extLst>
            </p:cNvPr>
            <p:cNvSpPr txBox="1"/>
            <p:nvPr/>
          </p:nvSpPr>
          <p:spPr>
            <a:xfrm>
              <a:off x="611523" y="2509606"/>
              <a:ext cx="8098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Attention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E54D0891-7793-6ECC-8224-EDE200D7F14E}"/>
              </a:ext>
            </a:extLst>
          </p:cNvPr>
          <p:cNvGrpSpPr/>
          <p:nvPr/>
        </p:nvGrpSpPr>
        <p:grpSpPr>
          <a:xfrm>
            <a:off x="7891586" y="4223856"/>
            <a:ext cx="374073" cy="418397"/>
            <a:chOff x="7310043" y="4227454"/>
            <a:chExt cx="374073" cy="418397"/>
          </a:xfrm>
        </p:grpSpPr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F2E2D3C-F8BC-B0E1-2D8B-CA41A29BA401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F184880-8D38-26BA-B07F-012C71F24C7D}"/>
                </a:ext>
              </a:extLst>
            </p:cNvPr>
            <p:cNvSpPr txBox="1"/>
            <p:nvPr/>
          </p:nvSpPr>
          <p:spPr>
            <a:xfrm>
              <a:off x="7350244" y="4276519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*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6A9080B-A14B-CBC5-DB7D-F8D03A1D826A}"/>
              </a:ext>
            </a:extLst>
          </p:cNvPr>
          <p:cNvGrpSpPr/>
          <p:nvPr/>
        </p:nvGrpSpPr>
        <p:grpSpPr>
          <a:xfrm>
            <a:off x="7872131" y="4808790"/>
            <a:ext cx="470838" cy="433461"/>
            <a:chOff x="7310043" y="4227454"/>
            <a:chExt cx="408034" cy="380458"/>
          </a:xfrm>
        </p:grpSpPr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F2CDFA9-49BF-7EB9-68DF-6738E4918D4D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6896540-3595-4350-9A93-56E007E94E35}"/>
                </a:ext>
              </a:extLst>
            </p:cNvPr>
            <p:cNvSpPr txBox="1"/>
            <p:nvPr/>
          </p:nvSpPr>
          <p:spPr>
            <a:xfrm>
              <a:off x="7365095" y="4238580"/>
              <a:ext cx="352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⅀</a:t>
              </a:r>
            </a:p>
          </p:txBody>
        </p:sp>
      </p:grp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76676649-35FC-60E5-11E9-D5A2147D3ED7}"/>
              </a:ext>
            </a:extLst>
          </p:cNvPr>
          <p:cNvCxnSpPr>
            <a:cxnSpLocks/>
            <a:stCxn id="143" idx="2"/>
            <a:endCxn id="197" idx="2"/>
          </p:cNvCxnSpPr>
          <p:nvPr/>
        </p:nvCxnSpPr>
        <p:spPr>
          <a:xfrm>
            <a:off x="7382786" y="3957045"/>
            <a:ext cx="508800" cy="44900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69FABE0E-6E67-4245-EC99-A89298504AE8}"/>
              </a:ext>
            </a:extLst>
          </p:cNvPr>
          <p:cNvCxnSpPr>
            <a:cxnSpLocks/>
            <a:stCxn id="188" idx="2"/>
            <a:endCxn id="197" idx="6"/>
          </p:cNvCxnSpPr>
          <p:nvPr/>
        </p:nvCxnSpPr>
        <p:spPr>
          <a:xfrm flipH="1">
            <a:off x="8265659" y="3935363"/>
            <a:ext cx="721668" cy="47069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EE75315A-45AC-9FB8-A633-8E22D37DB5AB}"/>
              </a:ext>
            </a:extLst>
          </p:cNvPr>
          <p:cNvCxnSpPr>
            <a:cxnSpLocks/>
            <a:stCxn id="197" idx="4"/>
            <a:endCxn id="202" idx="0"/>
          </p:cNvCxnSpPr>
          <p:nvPr/>
        </p:nvCxnSpPr>
        <p:spPr>
          <a:xfrm>
            <a:off x="8078623" y="4588250"/>
            <a:ext cx="9333" cy="22054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8E27DA63-E812-0439-603E-4437A35E8A43}"/>
              </a:ext>
            </a:extLst>
          </p:cNvPr>
          <p:cNvCxnSpPr>
            <a:cxnSpLocks/>
            <a:stCxn id="202" idx="6"/>
            <a:endCxn id="156" idx="1"/>
          </p:cNvCxnSpPr>
          <p:nvPr/>
        </p:nvCxnSpPr>
        <p:spPr>
          <a:xfrm>
            <a:off x="8303781" y="5016370"/>
            <a:ext cx="570448" cy="915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46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CA5BB7-3445-5994-B6FB-D03AE881A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5D2608-D5F0-26E4-35B7-0E6237822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4177602" cy="122117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100" dirty="0"/>
              <a:t>Global Modulation </a:t>
            </a:r>
            <a:br>
              <a:rPr lang="en-US" sz="3100" dirty="0"/>
            </a:br>
            <a:r>
              <a:rPr lang="en-US" sz="3100" dirty="0"/>
              <a:t>(TCT architecture)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2">
            <a:extLst>
              <a:ext uri="{FF2B5EF4-FFF2-40B4-BE49-F238E27FC236}">
                <a16:creationId xmlns:a16="http://schemas.microsoft.com/office/drawing/2014/main" id="{623AD403-D0C9-7281-6ACE-E1ACF93D64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91159" y="105511"/>
            <a:ext cx="4300841" cy="675248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8C07FA85-C3BF-80CC-5023-97FB2E12E14E}"/>
              </a:ext>
            </a:extLst>
          </p:cNvPr>
          <p:cNvSpPr txBox="1"/>
          <p:nvPr/>
        </p:nvSpPr>
        <p:spPr>
          <a:xfrm>
            <a:off x="1947333" y="351366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BC3452-CE9C-A549-C081-FA6B3B199CC1}"/>
              </a:ext>
            </a:extLst>
          </p:cNvPr>
          <p:cNvSpPr txBox="1"/>
          <p:nvPr/>
        </p:nvSpPr>
        <p:spPr>
          <a:xfrm>
            <a:off x="653903" y="1948259"/>
            <a:ext cx="6583353" cy="46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Global Modulation is an </a:t>
            </a:r>
            <a:r>
              <a:rPr lang="en-US" b="1" dirty="0"/>
              <a:t>element-wise multiplication</a:t>
            </a:r>
            <a:r>
              <a:rPr lang="en-US" dirty="0"/>
              <a:t> between the CRT attention output and the second residual output of the </a:t>
            </a:r>
            <a:r>
              <a:rPr lang="en-US" dirty="0" err="1"/>
              <a:t>ViT</a:t>
            </a:r>
            <a:r>
              <a:rPr lang="en-US" dirty="0"/>
              <a:t> Transformer Architecture.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</a:t>
            </a:r>
            <a:r>
              <a:rPr lang="en-US" b="1" dirty="0"/>
              <a:t>global modulation output </a:t>
            </a:r>
            <a:r>
              <a:rPr lang="en-US" dirty="0"/>
              <a:t>is then </a:t>
            </a:r>
            <a:r>
              <a:rPr lang="en-US" b="1" dirty="0"/>
              <a:t>summed </a:t>
            </a:r>
            <a:r>
              <a:rPr lang="en-US" dirty="0"/>
              <a:t>with </a:t>
            </a:r>
            <a:r>
              <a:rPr lang="en-US" b="1" dirty="0"/>
              <a:t>the final feed-forward layer output</a:t>
            </a:r>
            <a:r>
              <a:rPr lang="en-US" dirty="0"/>
              <a:t>,</a:t>
            </a:r>
            <a:r>
              <a:rPr lang="en-US" b="1" dirty="0"/>
              <a:t> </a:t>
            </a:r>
            <a:r>
              <a:rPr lang="en-US" dirty="0"/>
              <a:t>resulting in the final attention map for that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This operation is only applied </a:t>
            </a:r>
            <a:r>
              <a:rPr lang="en-US" b="1" dirty="0"/>
              <a:t>ONCE</a:t>
            </a:r>
            <a:r>
              <a:rPr lang="en-US" dirty="0"/>
              <a:t> in a </a:t>
            </a:r>
            <a:r>
              <a:rPr lang="en-US" b="1" dirty="0"/>
              <a:t>pre-selected</a:t>
            </a:r>
            <a:r>
              <a:rPr lang="en-US" dirty="0"/>
              <a:t> (user-defined) </a:t>
            </a:r>
            <a:r>
              <a:rPr lang="en-US" dirty="0" err="1"/>
              <a:t>ViT</a:t>
            </a:r>
            <a:r>
              <a:rPr lang="en-US" dirty="0"/>
              <a:t> Encoder Block (other encoder blocks do not have a global modulation operation)</a:t>
            </a:r>
          </a:p>
        </p:txBody>
      </p:sp>
    </p:spTree>
    <p:extLst>
      <p:ext uri="{BB962C8B-B14F-4D97-AF65-F5344CB8AC3E}">
        <p14:creationId xmlns:p14="http://schemas.microsoft.com/office/powerpoint/2010/main" val="2585496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30E5A-D9D2-95B4-1B0C-92B95ABA6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Augmentation for </a:t>
            </a:r>
            <a:r>
              <a:rPr lang="en-US" dirty="0" err="1"/>
              <a:t>CRTNet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59578-2424-9E7D-2B6E-706042D570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221992"/>
            <a:ext cx="10691265" cy="1701422"/>
          </a:xfrm>
        </p:spPr>
        <p:txBody>
          <a:bodyPr/>
          <a:lstStyle/>
          <a:p>
            <a:r>
              <a:rPr lang="en-US" dirty="0"/>
              <a:t>We select 18 image categories from the COCO dataset </a:t>
            </a:r>
            <a:r>
              <a:rPr lang="en-SG" dirty="0"/>
              <a:t>(Lin et al., 2015) and conduct augmentation on both context and target images.</a:t>
            </a:r>
          </a:p>
          <a:p>
            <a:r>
              <a:rPr lang="en-SG" dirty="0"/>
              <a:t>There are 3 selections for Context Image and 3 selections for Target Image to form 1 image pair.</a:t>
            </a:r>
          </a:p>
          <a:p>
            <a:pPr marL="0" indent="0">
              <a:buNone/>
            </a:pPr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E92041-607D-25AC-6D5E-19F70B7285D7}"/>
              </a:ext>
            </a:extLst>
          </p:cNvPr>
          <p:cNvSpPr txBox="1"/>
          <p:nvPr/>
        </p:nvSpPr>
        <p:spPr>
          <a:xfrm>
            <a:off x="6966985" y="3429000"/>
            <a:ext cx="488831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SG" dirty="0"/>
              <a:t>Target input selections: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Original target image.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Random target image of the same category.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Black rectangle of the target image size.</a:t>
            </a:r>
          </a:p>
          <a:p>
            <a:pPr marL="342900" indent="-342900">
              <a:buAutoNum type="arabicParenBoth"/>
            </a:pP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1EBC4E-C588-827E-C1ED-119B33032AEF}"/>
              </a:ext>
            </a:extLst>
          </p:cNvPr>
          <p:cNvSpPr txBox="1"/>
          <p:nvPr/>
        </p:nvSpPr>
        <p:spPr>
          <a:xfrm>
            <a:off x="784924" y="3429000"/>
            <a:ext cx="609777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SG" dirty="0"/>
              <a:t>Context input selections: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Original context image with original target image.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Original context image with a random target of the same category.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dirty="0"/>
              <a:t>Original context image with a black rectangle covering the target region.</a:t>
            </a:r>
          </a:p>
          <a:p>
            <a:pPr marL="342900" indent="-342900">
              <a:buAutoNum type="arabicParenBoth"/>
            </a:pPr>
            <a:endParaRPr lang="en-SG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A2B4E0C-D84B-B27B-CE9D-878B7E0009E1}"/>
              </a:ext>
            </a:extLst>
          </p:cNvPr>
          <p:cNvCxnSpPr>
            <a:cxnSpLocks/>
          </p:cNvCxnSpPr>
          <p:nvPr/>
        </p:nvCxnSpPr>
        <p:spPr>
          <a:xfrm>
            <a:off x="6882696" y="3529584"/>
            <a:ext cx="0" cy="241401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2720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A0F446E-EC8E-C33D-5E4E-8390860EED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1652" y="821964"/>
            <a:ext cx="6043306" cy="47866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D31A07-A971-0389-CE03-4532E8DB9E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00" y="1205264"/>
            <a:ext cx="2164230" cy="21217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90C33C3-188D-BBD1-AC85-5D613E7A9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637" y="3877912"/>
            <a:ext cx="2164230" cy="21217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07500EC-C86E-6439-A5F4-9FA5833C3C38}"/>
              </a:ext>
            </a:extLst>
          </p:cNvPr>
          <p:cNvSpPr txBox="1"/>
          <p:nvPr/>
        </p:nvSpPr>
        <p:spPr>
          <a:xfrm>
            <a:off x="1061482" y="858294"/>
            <a:ext cx="1832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Context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A1320C-17DD-771E-B42D-9D19B60C0F8F}"/>
              </a:ext>
            </a:extLst>
          </p:cNvPr>
          <p:cNvSpPr txBox="1"/>
          <p:nvPr/>
        </p:nvSpPr>
        <p:spPr>
          <a:xfrm>
            <a:off x="1204584" y="3595338"/>
            <a:ext cx="1675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Target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3F8AEF-F193-604E-8FB3-426DE57F1E75}"/>
              </a:ext>
            </a:extLst>
          </p:cNvPr>
          <p:cNvSpPr txBox="1"/>
          <p:nvPr/>
        </p:nvSpPr>
        <p:spPr>
          <a:xfrm>
            <a:off x="4920243" y="5666704"/>
            <a:ext cx="6294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the Target and Context combinations for </a:t>
            </a:r>
            <a:r>
              <a:rPr lang="en-US" dirty="0" err="1"/>
              <a:t>CRTNet</a:t>
            </a:r>
            <a:r>
              <a:rPr lang="en-US" dirty="0"/>
              <a:t> Training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D5305B-CAAB-1E69-251D-4A9947C4AD5E}"/>
              </a:ext>
            </a:extLst>
          </p:cNvPr>
          <p:cNvSpPr/>
          <p:nvPr/>
        </p:nvSpPr>
        <p:spPr>
          <a:xfrm>
            <a:off x="1337043" y="1285472"/>
            <a:ext cx="517394" cy="774064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C9D962B-6314-B25E-995D-CE0A74764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535" y="79649"/>
            <a:ext cx="10691265" cy="1307592"/>
          </a:xfrm>
        </p:spPr>
        <p:txBody>
          <a:bodyPr/>
          <a:lstStyle/>
          <a:p>
            <a:r>
              <a:rPr lang="en-US" dirty="0"/>
              <a:t>Data Augmentation for </a:t>
            </a:r>
            <a:r>
              <a:rPr lang="en-US" dirty="0" err="1"/>
              <a:t>CRTNet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training</a:t>
            </a:r>
          </a:p>
        </p:txBody>
      </p:sp>
    </p:spTree>
    <p:extLst>
      <p:ext uri="{BB962C8B-B14F-4D97-AF65-F5344CB8AC3E}">
        <p14:creationId xmlns:p14="http://schemas.microsoft.com/office/powerpoint/2010/main" val="8679453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8316E-43E5-E710-9A3A-56B360BFE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CRTNet</a:t>
            </a:r>
            <a:r>
              <a:rPr lang="en-US" dirty="0"/>
              <a:t> Recognition </a:t>
            </a:r>
            <a:r>
              <a:rPr lang="en-US" dirty="0">
                <a:solidFill>
                  <a:srgbClr val="FF0000"/>
                </a:solidFill>
              </a:rPr>
              <a:t>TEST</a:t>
            </a:r>
            <a:r>
              <a:rPr lang="en-US" dirty="0"/>
              <a:t> Performance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640112-313A-68D2-8595-21050221C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634" y="1800385"/>
            <a:ext cx="5653211" cy="4321445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BB7E213-8C6A-FDFB-1C78-982AF1A99C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623960"/>
              </p:ext>
            </p:extLst>
          </p:nvPr>
        </p:nvGraphicFramePr>
        <p:xfrm>
          <a:off x="6705600" y="1950862"/>
          <a:ext cx="4686300" cy="147813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71550">
                  <a:extLst>
                    <a:ext uri="{9D8B030D-6E8A-4147-A177-3AD203B41FA5}">
                      <a16:colId xmlns:a16="http://schemas.microsoft.com/office/drawing/2014/main" val="1266745552"/>
                    </a:ext>
                  </a:extLst>
                </a:gridCol>
                <a:gridCol w="1861185">
                  <a:extLst>
                    <a:ext uri="{9D8B030D-6E8A-4147-A177-3AD203B41FA5}">
                      <a16:colId xmlns:a16="http://schemas.microsoft.com/office/drawing/2014/main" val="573536048"/>
                    </a:ext>
                  </a:extLst>
                </a:gridCol>
                <a:gridCol w="1853565">
                  <a:extLst>
                    <a:ext uri="{9D8B030D-6E8A-4147-A177-3AD203B41FA5}">
                      <a16:colId xmlns:a16="http://schemas.microsoft.com/office/drawing/2014/main" val="3123355784"/>
                    </a:ext>
                  </a:extLst>
                </a:gridCol>
              </a:tblGrid>
              <a:tr h="7629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Epoch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Test Accuracy</a:t>
                      </a:r>
                      <a:endParaRPr lang="en-SG" sz="1200" kern="100">
                        <a:effectLst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(CRT cross-attention PE)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Test Accuracy</a:t>
                      </a:r>
                      <a:endParaRPr lang="en-SG" sz="1200" kern="100">
                        <a:effectLst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(CRT bbox-guided PE)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94581064"/>
                  </a:ext>
                </a:extLst>
              </a:tr>
              <a:tr h="3576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</a:t>
                      </a:r>
                      <a:r>
                        <a:rPr lang="en-US" sz="1200" kern="100">
                          <a:effectLst/>
                        </a:rPr>
                        <a:t>5</a:t>
                      </a:r>
                      <a:r>
                        <a:rPr lang="vi-VN" sz="1200" kern="100">
                          <a:effectLst/>
                        </a:rPr>
                        <a:t>.</a:t>
                      </a:r>
                      <a:r>
                        <a:rPr lang="en-US" sz="1200" kern="100">
                          <a:effectLst/>
                        </a:rPr>
                        <a:t>44</a:t>
                      </a:r>
                      <a:r>
                        <a:rPr lang="vi-VN" sz="1200" kern="100">
                          <a:effectLst/>
                        </a:rPr>
                        <a:t>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70.38%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12339994"/>
                  </a:ext>
                </a:extLst>
              </a:tr>
              <a:tr h="3576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24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85.31</a:t>
                      </a:r>
                      <a:r>
                        <a:rPr lang="vi-VN" sz="1200" kern="100">
                          <a:effectLst/>
                        </a:rPr>
                        <a:t>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 dirty="0">
                          <a:effectLst/>
                        </a:rPr>
                        <a:t>71.56</a:t>
                      </a:r>
                      <a:r>
                        <a:rPr lang="vi-VN" sz="1200" kern="100" dirty="0">
                          <a:effectLst/>
                        </a:rPr>
                        <a:t>%</a:t>
                      </a:r>
                      <a:endParaRPr lang="en-SG" sz="12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899468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08855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80C05A-2F8A-DD4B-E8AD-B96737F49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4"/>
            <a:ext cx="4928191" cy="954106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Experiment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Graphic 21" descr="Microscope">
            <a:extLst>
              <a:ext uri="{FF2B5EF4-FFF2-40B4-BE49-F238E27FC236}">
                <a16:creationId xmlns:a16="http://schemas.microsoft.com/office/drawing/2014/main" id="{C36D3089-A5FD-63B3-6C54-1F298D0504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10149" y="723901"/>
            <a:ext cx="5410200" cy="5410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742E718-8580-0A46-F99C-173816424208}"/>
              </a:ext>
            </a:extLst>
          </p:cNvPr>
          <p:cNvSpPr txBox="1"/>
          <p:nvPr/>
        </p:nvSpPr>
        <p:spPr>
          <a:xfrm>
            <a:off x="685798" y="1818166"/>
            <a:ext cx="49281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pple Braille" pitchFamily="2" charset="0"/>
              </a:rPr>
              <a:t>TCT model performance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12209551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D649B-3E73-6530-FA51-480D87A2C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CE65D-1BD9-1D1E-9E95-712316C07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Benchmark dataset COCO-Search18 (Lin et al., 2015)</a:t>
            </a:r>
            <a:r>
              <a:rPr lang="en-SG" dirty="0"/>
              <a:t>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5405A4-087E-F6D6-1F4E-0A73F543A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572" y="2067926"/>
            <a:ext cx="5072937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24454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3A46F-7EE9-576B-D281-B6196D874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Benchmark dataset SCEGRAM </a:t>
            </a:r>
            <a:r>
              <a:rPr lang="en-GB" dirty="0"/>
              <a:t>(</a:t>
            </a:r>
            <a:r>
              <a:rPr lang="en-GB" dirty="0" err="1"/>
              <a:t>Öhlschläger</a:t>
            </a:r>
            <a:r>
              <a:rPr lang="en-GB" dirty="0"/>
              <a:t> &amp; Võ, 2017)</a:t>
            </a:r>
            <a:r>
              <a:rPr lang="en-SG" dirty="0"/>
              <a:t> 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1A3A3C-C7CB-CE08-AF3E-6CC758EB4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73" y="2074892"/>
            <a:ext cx="5072936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38883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05912-11B3-D239-2B9A-26FF9D7CB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A04AC-09A8-FC28-A3D9-CCF41AD4E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Benchmark dataset </a:t>
            </a:r>
            <a:r>
              <a:rPr lang="en-US" dirty="0" err="1"/>
              <a:t>NaturalDesign</a:t>
            </a:r>
            <a:r>
              <a:rPr lang="en-US" dirty="0"/>
              <a:t> (Zhang et al., 2018)</a:t>
            </a:r>
            <a:r>
              <a:rPr lang="en-SG" dirty="0"/>
              <a:t> 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03B580-1317-2E03-AD3B-7C61E9C44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73" y="2074892"/>
            <a:ext cx="5072937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655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458E3-520F-6F1A-0F66-C19763479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ED400-AC59-ECF2-1BE7-D760E74B8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Benchmark dataset </a:t>
            </a:r>
            <a:r>
              <a:rPr lang="en-US" dirty="0" err="1"/>
              <a:t>ContextBreak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A97DA7-0B8F-6AE0-41AF-352212D7C6CF}"/>
              </a:ext>
            </a:extLst>
          </p:cNvPr>
          <p:cNvSpPr>
            <a:spLocks/>
          </p:cNvSpPr>
          <p:nvPr/>
        </p:nvSpPr>
        <p:spPr>
          <a:xfrm>
            <a:off x="794573" y="2074892"/>
            <a:ext cx="5072937" cy="3875674"/>
          </a:xfrm>
          <a:prstGeom prst="rect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2508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4BB1D-D247-7916-8C24-9AFA2160F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13721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Contribution and future direction</a:t>
            </a:r>
          </a:p>
        </p:txBody>
      </p:sp>
      <p:pic>
        <p:nvPicPr>
          <p:cNvPr id="7" name="Graphic 6" descr="Bullseye">
            <a:extLst>
              <a:ext uri="{FF2B5EF4-FFF2-40B4-BE49-F238E27FC236}">
                <a16:creationId xmlns:a16="http://schemas.microsoft.com/office/drawing/2014/main" id="{C83CB4C3-1C2F-6EF1-754A-F9C5ED7659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5392793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29730</TotalTime>
  <Words>2069</Words>
  <Application>Microsoft Macintosh PowerPoint</Application>
  <PresentationFormat>Widescreen</PresentationFormat>
  <Paragraphs>567</Paragraphs>
  <Slides>48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6" baseType="lpstr">
      <vt:lpstr>Apple Braille</vt:lpstr>
      <vt:lpstr>Aptos</vt:lpstr>
      <vt:lpstr>Arial</vt:lpstr>
      <vt:lpstr>Calisto MT</vt:lpstr>
      <vt:lpstr>Symbol</vt:lpstr>
      <vt:lpstr>Times New Roman</vt:lpstr>
      <vt:lpstr>Univers Condensed</vt:lpstr>
      <vt:lpstr>ChronicleVTI</vt:lpstr>
      <vt:lpstr>Target and Context Aware Transformer for Visual Search Task</vt:lpstr>
      <vt:lpstr>Outline</vt:lpstr>
      <vt:lpstr>Introduction</vt:lpstr>
      <vt:lpstr>Introduction – Outline</vt:lpstr>
      <vt:lpstr>Introduction – Visual search</vt:lpstr>
      <vt:lpstr>Introduction - Contributions</vt:lpstr>
      <vt:lpstr>Literature Review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Proposed TCT architecture </vt:lpstr>
      <vt:lpstr>TCT model components </vt:lpstr>
      <vt:lpstr>Modified Visual Transformer (one encoder block) </vt:lpstr>
      <vt:lpstr>Keep Max Only</vt:lpstr>
      <vt:lpstr>Keep Max Only</vt:lpstr>
      <vt:lpstr>Local Modulation operation</vt:lpstr>
      <vt:lpstr>original CRTNet architecture</vt:lpstr>
      <vt:lpstr>Modified CRTNet architecture</vt:lpstr>
      <vt:lpstr>Modified CRTNet architecture</vt:lpstr>
      <vt:lpstr>Modified CRTNet architecture Naïve Solution</vt:lpstr>
      <vt:lpstr>Modified CRTNet architecture heuristic bbox solution</vt:lpstr>
      <vt:lpstr>Modified CRTNet architecture heuristic bbox solution</vt:lpstr>
      <vt:lpstr>Global Modulation  (TCT architecture)</vt:lpstr>
      <vt:lpstr>Data Augmentation for CRTNet training</vt:lpstr>
      <vt:lpstr>Data Augmentation for CRTNet training</vt:lpstr>
      <vt:lpstr>CRTNet Recognition TEST Performance</vt:lpstr>
      <vt:lpstr>Experiment  </vt:lpstr>
      <vt:lpstr>Benchmark dataset COCO-Search18 (Lin et al., 2015) </vt:lpstr>
      <vt:lpstr>Benchmark dataset SCEGRAM (Öhlschläger &amp; Võ, 2017) </vt:lpstr>
      <vt:lpstr>Benchmark dataset NaturalDesign (Zhang et al., 2018) </vt:lpstr>
      <vt:lpstr>Benchmark dataset ContextBreak</vt:lpstr>
      <vt:lpstr>Contribution and future direction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42</cp:revision>
  <dcterms:created xsi:type="dcterms:W3CDTF">2026-03-25T08:10:11Z</dcterms:created>
  <dcterms:modified xsi:type="dcterms:W3CDTF">2026-05-05T08:47:16Z</dcterms:modified>
</cp:coreProperties>
</file>