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3" r:id="rId1"/>
  </p:sldMasterIdLst>
  <p:notesMasterIdLst>
    <p:notesMasterId r:id="rId53"/>
  </p:notesMasterIdLst>
  <p:sldIdLst>
    <p:sldId id="256" r:id="rId2"/>
    <p:sldId id="257" r:id="rId3"/>
    <p:sldId id="262" r:id="rId4"/>
    <p:sldId id="258" r:id="rId5"/>
    <p:sldId id="259" r:id="rId6"/>
    <p:sldId id="260" r:id="rId7"/>
    <p:sldId id="261" r:id="rId8"/>
    <p:sldId id="263" r:id="rId9"/>
    <p:sldId id="264" r:id="rId10"/>
    <p:sldId id="265" r:id="rId11"/>
    <p:sldId id="266" r:id="rId12"/>
    <p:sldId id="268" r:id="rId13"/>
    <p:sldId id="267" r:id="rId14"/>
    <p:sldId id="269" r:id="rId15"/>
    <p:sldId id="270" r:id="rId16"/>
    <p:sldId id="272" r:id="rId17"/>
    <p:sldId id="273" r:id="rId18"/>
    <p:sldId id="274" r:id="rId19"/>
    <p:sldId id="275" r:id="rId20"/>
    <p:sldId id="276" r:id="rId21"/>
    <p:sldId id="277" r:id="rId22"/>
    <p:sldId id="278" r:id="rId23"/>
    <p:sldId id="279" r:id="rId24"/>
    <p:sldId id="283" r:id="rId25"/>
    <p:sldId id="284" r:id="rId26"/>
    <p:sldId id="280" r:id="rId27"/>
    <p:sldId id="281" r:id="rId28"/>
    <p:sldId id="282"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1" r:id="rId45"/>
    <p:sldId id="300" r:id="rId46"/>
    <p:sldId id="302" r:id="rId47"/>
    <p:sldId id="303" r:id="rId48"/>
    <p:sldId id="304" r:id="rId49"/>
    <p:sldId id="305" r:id="rId50"/>
    <p:sldId id="306" r:id="rId51"/>
    <p:sldId id="30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p:restoredTop sz="55753"/>
  </p:normalViewPr>
  <p:slideViewPr>
    <p:cSldViewPr snapToGrid="0">
      <p:cViewPr varScale="1">
        <p:scale>
          <a:sx n="67" d="100"/>
          <a:sy n="67" d="100"/>
        </p:scale>
        <p:origin x="26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6F1668-4786-49EE-8EBC-94635B62F98D}"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6C392DF3-853A-4983-B34B-FA698DCC44D6}">
      <dgm:prSet/>
      <dgm:spPr/>
      <dgm:t>
        <a:bodyPr/>
        <a:lstStyle/>
        <a:p>
          <a:r>
            <a:rPr lang="en-US" dirty="0"/>
            <a:t>Introduction</a:t>
          </a:r>
        </a:p>
      </dgm:t>
    </dgm:pt>
    <dgm:pt modelId="{4E04BA09-F03A-4132-9A7B-BA966DDD2217}" type="parTrans" cxnId="{56F94A7A-5322-4316-AD89-7D2F00A5EE09}">
      <dgm:prSet/>
      <dgm:spPr/>
      <dgm:t>
        <a:bodyPr/>
        <a:lstStyle/>
        <a:p>
          <a:endParaRPr lang="en-US"/>
        </a:p>
      </dgm:t>
    </dgm:pt>
    <dgm:pt modelId="{FB0482E8-4B8D-4545-A5C3-9E38B92525FA}" type="sibTrans" cxnId="{56F94A7A-5322-4316-AD89-7D2F00A5EE09}">
      <dgm:prSet/>
      <dgm:spPr/>
      <dgm:t>
        <a:bodyPr/>
        <a:lstStyle/>
        <a:p>
          <a:endParaRPr lang="en-US"/>
        </a:p>
      </dgm:t>
    </dgm:pt>
    <dgm:pt modelId="{7A3CAF09-89CE-4087-8A8A-00AD97D3FB24}">
      <dgm:prSet/>
      <dgm:spPr/>
      <dgm:t>
        <a:bodyPr/>
        <a:lstStyle/>
        <a:p>
          <a:r>
            <a:rPr lang="en-US" dirty="0"/>
            <a:t>Literature Review</a:t>
          </a:r>
        </a:p>
      </dgm:t>
    </dgm:pt>
    <dgm:pt modelId="{1BD86D96-1F6D-47E7-A1B3-04CF3458634D}" type="parTrans" cxnId="{784EF82B-BAAD-469F-9CAA-161BC6E5B5F1}">
      <dgm:prSet/>
      <dgm:spPr/>
      <dgm:t>
        <a:bodyPr/>
        <a:lstStyle/>
        <a:p>
          <a:endParaRPr lang="en-US"/>
        </a:p>
      </dgm:t>
    </dgm:pt>
    <dgm:pt modelId="{0CE0C50F-6FB0-4CAF-A25A-CC2672EB8E6C}" type="sibTrans" cxnId="{784EF82B-BAAD-469F-9CAA-161BC6E5B5F1}">
      <dgm:prSet/>
      <dgm:spPr/>
      <dgm:t>
        <a:bodyPr/>
        <a:lstStyle/>
        <a:p>
          <a:endParaRPr lang="en-US"/>
        </a:p>
      </dgm:t>
    </dgm:pt>
    <dgm:pt modelId="{9E34A830-0085-4DBE-B8AE-8622CFB72BEA}">
      <dgm:prSet/>
      <dgm:spPr/>
      <dgm:t>
        <a:bodyPr/>
        <a:lstStyle/>
        <a:p>
          <a:r>
            <a:rPr lang="en-US" dirty="0"/>
            <a:t>TCT Architecture</a:t>
          </a:r>
        </a:p>
      </dgm:t>
    </dgm:pt>
    <dgm:pt modelId="{3D23B6C7-F7C5-437B-8FAD-FA5522E22697}" type="parTrans" cxnId="{2E4AEF4C-4567-471A-BA59-6B333ED96976}">
      <dgm:prSet/>
      <dgm:spPr/>
      <dgm:t>
        <a:bodyPr/>
        <a:lstStyle/>
        <a:p>
          <a:endParaRPr lang="en-US"/>
        </a:p>
      </dgm:t>
    </dgm:pt>
    <dgm:pt modelId="{84BD5997-2D8F-4FD3-A26A-A45C713BF79C}" type="sibTrans" cxnId="{2E4AEF4C-4567-471A-BA59-6B333ED96976}">
      <dgm:prSet/>
      <dgm:spPr/>
      <dgm:t>
        <a:bodyPr/>
        <a:lstStyle/>
        <a:p>
          <a:endParaRPr lang="en-US"/>
        </a:p>
      </dgm:t>
    </dgm:pt>
    <dgm:pt modelId="{B7D448E4-D35C-4FC9-98F3-FD0C217FE932}">
      <dgm:prSet/>
      <dgm:spPr/>
      <dgm:t>
        <a:bodyPr/>
        <a:lstStyle/>
        <a:p>
          <a:r>
            <a:rPr lang="en-US" dirty="0"/>
            <a:t>Experiments</a:t>
          </a:r>
        </a:p>
      </dgm:t>
    </dgm:pt>
    <dgm:pt modelId="{A643C5E8-1A9F-423C-9BD0-143EA206A3F4}" type="parTrans" cxnId="{07A4281C-B0DC-4E15-87BA-C1C610788E32}">
      <dgm:prSet/>
      <dgm:spPr/>
      <dgm:t>
        <a:bodyPr/>
        <a:lstStyle/>
        <a:p>
          <a:endParaRPr lang="en-US"/>
        </a:p>
      </dgm:t>
    </dgm:pt>
    <dgm:pt modelId="{740A130C-BFBF-4EBF-A4C1-977A915A46E7}" type="sibTrans" cxnId="{07A4281C-B0DC-4E15-87BA-C1C610788E32}">
      <dgm:prSet/>
      <dgm:spPr/>
      <dgm:t>
        <a:bodyPr/>
        <a:lstStyle/>
        <a:p>
          <a:endParaRPr lang="en-US"/>
        </a:p>
      </dgm:t>
    </dgm:pt>
    <dgm:pt modelId="{A45CE270-3AAF-4979-A581-EC4A3EB9E88D}">
      <dgm:prSet/>
      <dgm:spPr/>
      <dgm:t>
        <a:bodyPr/>
        <a:lstStyle/>
        <a:p>
          <a:r>
            <a:rPr lang="en-US" dirty="0"/>
            <a:t>Contributions and Future Directions</a:t>
          </a:r>
        </a:p>
      </dgm:t>
    </dgm:pt>
    <dgm:pt modelId="{2FE405CC-285A-434B-BC71-B46CD5F71018}" type="parTrans" cxnId="{ABDE0752-06BA-4636-BCB1-304600C32384}">
      <dgm:prSet/>
      <dgm:spPr/>
      <dgm:t>
        <a:bodyPr/>
        <a:lstStyle/>
        <a:p>
          <a:endParaRPr lang="en-US"/>
        </a:p>
      </dgm:t>
    </dgm:pt>
    <dgm:pt modelId="{CCDAF1A2-828B-4D8D-BE75-7B9601A01BB8}" type="sibTrans" cxnId="{ABDE0752-06BA-4636-BCB1-304600C32384}">
      <dgm:prSet/>
      <dgm:spPr/>
      <dgm:t>
        <a:bodyPr/>
        <a:lstStyle/>
        <a:p>
          <a:endParaRPr lang="en-US"/>
        </a:p>
      </dgm:t>
    </dgm:pt>
    <dgm:pt modelId="{C6DA7C71-2489-4F42-963C-E28CB6E48095}" type="pres">
      <dgm:prSet presAssocID="{F46F1668-4786-49EE-8EBC-94635B62F98D}" presName="hierChild1" presStyleCnt="0">
        <dgm:presLayoutVars>
          <dgm:chPref val="1"/>
          <dgm:dir/>
          <dgm:animOne val="branch"/>
          <dgm:animLvl val="lvl"/>
          <dgm:resizeHandles/>
        </dgm:presLayoutVars>
      </dgm:prSet>
      <dgm:spPr/>
    </dgm:pt>
    <dgm:pt modelId="{CE5CD56B-F1E4-254E-8DCA-0D0FA1965D1C}" type="pres">
      <dgm:prSet presAssocID="{6C392DF3-853A-4983-B34B-FA698DCC44D6}" presName="hierRoot1" presStyleCnt="0"/>
      <dgm:spPr/>
    </dgm:pt>
    <dgm:pt modelId="{A8584874-52DE-7D49-A047-976D5E92C70D}" type="pres">
      <dgm:prSet presAssocID="{6C392DF3-853A-4983-B34B-FA698DCC44D6}" presName="composite" presStyleCnt="0"/>
      <dgm:spPr/>
    </dgm:pt>
    <dgm:pt modelId="{36BF2225-AE22-314B-AF2D-55228814F298}" type="pres">
      <dgm:prSet presAssocID="{6C392DF3-853A-4983-B34B-FA698DCC44D6}" presName="background" presStyleLbl="node0" presStyleIdx="0" presStyleCnt="5"/>
      <dgm:spPr/>
    </dgm:pt>
    <dgm:pt modelId="{4B64EEEB-0D9F-344A-BC29-E0FE1AE9120E}" type="pres">
      <dgm:prSet presAssocID="{6C392DF3-853A-4983-B34B-FA698DCC44D6}" presName="text" presStyleLbl="fgAcc0" presStyleIdx="0" presStyleCnt="5">
        <dgm:presLayoutVars>
          <dgm:chPref val="3"/>
        </dgm:presLayoutVars>
      </dgm:prSet>
      <dgm:spPr/>
    </dgm:pt>
    <dgm:pt modelId="{F0207811-F6D6-8843-B1AF-A58F09B64E40}" type="pres">
      <dgm:prSet presAssocID="{6C392DF3-853A-4983-B34B-FA698DCC44D6}" presName="hierChild2" presStyleCnt="0"/>
      <dgm:spPr/>
    </dgm:pt>
    <dgm:pt modelId="{80FF5771-6F0D-5146-B43D-B5EA0AEA780D}" type="pres">
      <dgm:prSet presAssocID="{7A3CAF09-89CE-4087-8A8A-00AD97D3FB24}" presName="hierRoot1" presStyleCnt="0"/>
      <dgm:spPr/>
    </dgm:pt>
    <dgm:pt modelId="{46EA9D36-013E-7747-8C05-65C748CD8947}" type="pres">
      <dgm:prSet presAssocID="{7A3CAF09-89CE-4087-8A8A-00AD97D3FB24}" presName="composite" presStyleCnt="0"/>
      <dgm:spPr/>
    </dgm:pt>
    <dgm:pt modelId="{B3BA8365-D843-DB44-9342-3EA7CAFA27C7}" type="pres">
      <dgm:prSet presAssocID="{7A3CAF09-89CE-4087-8A8A-00AD97D3FB24}" presName="background" presStyleLbl="node0" presStyleIdx="1" presStyleCnt="5"/>
      <dgm:spPr/>
    </dgm:pt>
    <dgm:pt modelId="{2AA862F7-F98C-0C41-BAFE-D002CD2FAC9E}" type="pres">
      <dgm:prSet presAssocID="{7A3CAF09-89CE-4087-8A8A-00AD97D3FB24}" presName="text" presStyleLbl="fgAcc0" presStyleIdx="1" presStyleCnt="5">
        <dgm:presLayoutVars>
          <dgm:chPref val="3"/>
        </dgm:presLayoutVars>
      </dgm:prSet>
      <dgm:spPr/>
    </dgm:pt>
    <dgm:pt modelId="{B52A9E15-3AAB-2643-92B0-47526ED319BC}" type="pres">
      <dgm:prSet presAssocID="{7A3CAF09-89CE-4087-8A8A-00AD97D3FB24}" presName="hierChild2" presStyleCnt="0"/>
      <dgm:spPr/>
    </dgm:pt>
    <dgm:pt modelId="{9F697780-A044-E544-ACB6-DAB9599AB66D}" type="pres">
      <dgm:prSet presAssocID="{9E34A830-0085-4DBE-B8AE-8622CFB72BEA}" presName="hierRoot1" presStyleCnt="0"/>
      <dgm:spPr/>
    </dgm:pt>
    <dgm:pt modelId="{6597D490-4C58-DC4B-BBAC-6619E55CB213}" type="pres">
      <dgm:prSet presAssocID="{9E34A830-0085-4DBE-B8AE-8622CFB72BEA}" presName="composite" presStyleCnt="0"/>
      <dgm:spPr/>
    </dgm:pt>
    <dgm:pt modelId="{0D6D2B9E-40F5-234A-83E0-C92322AA872D}" type="pres">
      <dgm:prSet presAssocID="{9E34A830-0085-4DBE-B8AE-8622CFB72BEA}" presName="background" presStyleLbl="node0" presStyleIdx="2" presStyleCnt="5"/>
      <dgm:spPr/>
    </dgm:pt>
    <dgm:pt modelId="{D2EBED80-8A3C-A545-8213-CA0EA282634E}" type="pres">
      <dgm:prSet presAssocID="{9E34A830-0085-4DBE-B8AE-8622CFB72BEA}" presName="text" presStyleLbl="fgAcc0" presStyleIdx="2" presStyleCnt="5">
        <dgm:presLayoutVars>
          <dgm:chPref val="3"/>
        </dgm:presLayoutVars>
      </dgm:prSet>
      <dgm:spPr/>
    </dgm:pt>
    <dgm:pt modelId="{4AA97A98-35CF-2244-8D39-16A64EF351E0}" type="pres">
      <dgm:prSet presAssocID="{9E34A830-0085-4DBE-B8AE-8622CFB72BEA}" presName="hierChild2" presStyleCnt="0"/>
      <dgm:spPr/>
    </dgm:pt>
    <dgm:pt modelId="{6CFBE8F8-F2E5-0542-A0AF-830865796367}" type="pres">
      <dgm:prSet presAssocID="{B7D448E4-D35C-4FC9-98F3-FD0C217FE932}" presName="hierRoot1" presStyleCnt="0"/>
      <dgm:spPr/>
    </dgm:pt>
    <dgm:pt modelId="{EB73D22B-CFB2-E642-9B75-003B4780592C}" type="pres">
      <dgm:prSet presAssocID="{B7D448E4-D35C-4FC9-98F3-FD0C217FE932}" presName="composite" presStyleCnt="0"/>
      <dgm:spPr/>
    </dgm:pt>
    <dgm:pt modelId="{2EAE4AEB-41BD-0E4E-B186-0B4CC87AD595}" type="pres">
      <dgm:prSet presAssocID="{B7D448E4-D35C-4FC9-98F3-FD0C217FE932}" presName="background" presStyleLbl="node0" presStyleIdx="3" presStyleCnt="5"/>
      <dgm:spPr/>
    </dgm:pt>
    <dgm:pt modelId="{0CF1CBF2-421F-B646-91D1-2B6854447566}" type="pres">
      <dgm:prSet presAssocID="{B7D448E4-D35C-4FC9-98F3-FD0C217FE932}" presName="text" presStyleLbl="fgAcc0" presStyleIdx="3" presStyleCnt="5">
        <dgm:presLayoutVars>
          <dgm:chPref val="3"/>
        </dgm:presLayoutVars>
      </dgm:prSet>
      <dgm:spPr/>
    </dgm:pt>
    <dgm:pt modelId="{C6509B7E-09DF-EC43-8A7B-54508E2A9171}" type="pres">
      <dgm:prSet presAssocID="{B7D448E4-D35C-4FC9-98F3-FD0C217FE932}" presName="hierChild2" presStyleCnt="0"/>
      <dgm:spPr/>
    </dgm:pt>
    <dgm:pt modelId="{A9DF3CE1-A2E0-9E48-8049-BCD5675C491D}" type="pres">
      <dgm:prSet presAssocID="{A45CE270-3AAF-4979-A581-EC4A3EB9E88D}" presName="hierRoot1" presStyleCnt="0"/>
      <dgm:spPr/>
    </dgm:pt>
    <dgm:pt modelId="{E5970852-FF4D-B644-AFBF-9C5E07419EC0}" type="pres">
      <dgm:prSet presAssocID="{A45CE270-3AAF-4979-A581-EC4A3EB9E88D}" presName="composite" presStyleCnt="0"/>
      <dgm:spPr/>
    </dgm:pt>
    <dgm:pt modelId="{A1A7C6F4-DE72-6A45-9699-5BC45B5DC225}" type="pres">
      <dgm:prSet presAssocID="{A45CE270-3AAF-4979-A581-EC4A3EB9E88D}" presName="background" presStyleLbl="node0" presStyleIdx="4" presStyleCnt="5"/>
      <dgm:spPr/>
    </dgm:pt>
    <dgm:pt modelId="{7FC1DD06-56ED-9A49-8332-09B3E3A4776C}" type="pres">
      <dgm:prSet presAssocID="{A45CE270-3AAF-4979-A581-EC4A3EB9E88D}" presName="text" presStyleLbl="fgAcc0" presStyleIdx="4" presStyleCnt="5">
        <dgm:presLayoutVars>
          <dgm:chPref val="3"/>
        </dgm:presLayoutVars>
      </dgm:prSet>
      <dgm:spPr/>
    </dgm:pt>
    <dgm:pt modelId="{5CB21571-B228-D747-A8B2-54EB5842AE02}" type="pres">
      <dgm:prSet presAssocID="{A45CE270-3AAF-4979-A581-EC4A3EB9E88D}" presName="hierChild2" presStyleCnt="0"/>
      <dgm:spPr/>
    </dgm:pt>
  </dgm:ptLst>
  <dgm:cxnLst>
    <dgm:cxn modelId="{9EC15F05-9564-0141-8821-C4BAB3F810F4}" type="presOf" srcId="{7A3CAF09-89CE-4087-8A8A-00AD97D3FB24}" destId="{2AA862F7-F98C-0C41-BAFE-D002CD2FAC9E}" srcOrd="0" destOrd="0" presId="urn:microsoft.com/office/officeart/2005/8/layout/hierarchy1"/>
    <dgm:cxn modelId="{01225014-3BE0-034D-9F07-7A497BD4A719}" type="presOf" srcId="{F46F1668-4786-49EE-8EBC-94635B62F98D}" destId="{C6DA7C71-2489-4F42-963C-E28CB6E48095}" srcOrd="0" destOrd="0" presId="urn:microsoft.com/office/officeart/2005/8/layout/hierarchy1"/>
    <dgm:cxn modelId="{07A4281C-B0DC-4E15-87BA-C1C610788E32}" srcId="{F46F1668-4786-49EE-8EBC-94635B62F98D}" destId="{B7D448E4-D35C-4FC9-98F3-FD0C217FE932}" srcOrd="3" destOrd="0" parTransId="{A643C5E8-1A9F-423C-9BD0-143EA206A3F4}" sibTransId="{740A130C-BFBF-4EBF-A4C1-977A915A46E7}"/>
    <dgm:cxn modelId="{3C63D328-97A1-994D-9DBE-D6824F108C00}" type="presOf" srcId="{A45CE270-3AAF-4979-A581-EC4A3EB9E88D}" destId="{7FC1DD06-56ED-9A49-8332-09B3E3A4776C}" srcOrd="0" destOrd="0" presId="urn:microsoft.com/office/officeart/2005/8/layout/hierarchy1"/>
    <dgm:cxn modelId="{784EF82B-BAAD-469F-9CAA-161BC6E5B5F1}" srcId="{F46F1668-4786-49EE-8EBC-94635B62F98D}" destId="{7A3CAF09-89CE-4087-8A8A-00AD97D3FB24}" srcOrd="1" destOrd="0" parTransId="{1BD86D96-1F6D-47E7-A1B3-04CF3458634D}" sibTransId="{0CE0C50F-6FB0-4CAF-A25A-CC2672EB8E6C}"/>
    <dgm:cxn modelId="{7A840639-F150-8B43-AE5B-C5D5A931CAA8}" type="presOf" srcId="{6C392DF3-853A-4983-B34B-FA698DCC44D6}" destId="{4B64EEEB-0D9F-344A-BC29-E0FE1AE9120E}" srcOrd="0" destOrd="0" presId="urn:microsoft.com/office/officeart/2005/8/layout/hierarchy1"/>
    <dgm:cxn modelId="{2E4AEF4C-4567-471A-BA59-6B333ED96976}" srcId="{F46F1668-4786-49EE-8EBC-94635B62F98D}" destId="{9E34A830-0085-4DBE-B8AE-8622CFB72BEA}" srcOrd="2" destOrd="0" parTransId="{3D23B6C7-F7C5-437B-8FAD-FA5522E22697}" sibTransId="{84BD5997-2D8F-4FD3-A26A-A45C713BF79C}"/>
    <dgm:cxn modelId="{ABDE0752-06BA-4636-BCB1-304600C32384}" srcId="{F46F1668-4786-49EE-8EBC-94635B62F98D}" destId="{A45CE270-3AAF-4979-A581-EC4A3EB9E88D}" srcOrd="4" destOrd="0" parTransId="{2FE405CC-285A-434B-BC71-B46CD5F71018}" sibTransId="{CCDAF1A2-828B-4D8D-BE75-7B9601A01BB8}"/>
    <dgm:cxn modelId="{14DD3268-6F92-A849-9C82-B817016DA893}" type="presOf" srcId="{9E34A830-0085-4DBE-B8AE-8622CFB72BEA}" destId="{D2EBED80-8A3C-A545-8213-CA0EA282634E}" srcOrd="0" destOrd="0" presId="urn:microsoft.com/office/officeart/2005/8/layout/hierarchy1"/>
    <dgm:cxn modelId="{56F94A7A-5322-4316-AD89-7D2F00A5EE09}" srcId="{F46F1668-4786-49EE-8EBC-94635B62F98D}" destId="{6C392DF3-853A-4983-B34B-FA698DCC44D6}" srcOrd="0" destOrd="0" parTransId="{4E04BA09-F03A-4132-9A7B-BA966DDD2217}" sibTransId="{FB0482E8-4B8D-4545-A5C3-9E38B92525FA}"/>
    <dgm:cxn modelId="{0B2676E2-C7ED-2646-AC49-FC5DBF9BDB64}" type="presOf" srcId="{B7D448E4-D35C-4FC9-98F3-FD0C217FE932}" destId="{0CF1CBF2-421F-B646-91D1-2B6854447566}" srcOrd="0" destOrd="0" presId="urn:microsoft.com/office/officeart/2005/8/layout/hierarchy1"/>
    <dgm:cxn modelId="{548AA75E-3966-F647-B054-37D71CABF6E0}" type="presParOf" srcId="{C6DA7C71-2489-4F42-963C-E28CB6E48095}" destId="{CE5CD56B-F1E4-254E-8DCA-0D0FA1965D1C}" srcOrd="0" destOrd="0" presId="urn:microsoft.com/office/officeart/2005/8/layout/hierarchy1"/>
    <dgm:cxn modelId="{8AE474FB-A4A9-A54F-A0B1-DAF6FA16678D}" type="presParOf" srcId="{CE5CD56B-F1E4-254E-8DCA-0D0FA1965D1C}" destId="{A8584874-52DE-7D49-A047-976D5E92C70D}" srcOrd="0" destOrd="0" presId="urn:microsoft.com/office/officeart/2005/8/layout/hierarchy1"/>
    <dgm:cxn modelId="{00931ECF-1EA1-E741-9D6E-52354BCF5095}" type="presParOf" srcId="{A8584874-52DE-7D49-A047-976D5E92C70D}" destId="{36BF2225-AE22-314B-AF2D-55228814F298}" srcOrd="0" destOrd="0" presId="urn:microsoft.com/office/officeart/2005/8/layout/hierarchy1"/>
    <dgm:cxn modelId="{8050AC1D-7912-5B43-A54C-02C7C5E8D390}" type="presParOf" srcId="{A8584874-52DE-7D49-A047-976D5E92C70D}" destId="{4B64EEEB-0D9F-344A-BC29-E0FE1AE9120E}" srcOrd="1" destOrd="0" presId="urn:microsoft.com/office/officeart/2005/8/layout/hierarchy1"/>
    <dgm:cxn modelId="{0E40CCA9-EBEB-A048-848C-9D3AB72D07E9}" type="presParOf" srcId="{CE5CD56B-F1E4-254E-8DCA-0D0FA1965D1C}" destId="{F0207811-F6D6-8843-B1AF-A58F09B64E40}" srcOrd="1" destOrd="0" presId="urn:microsoft.com/office/officeart/2005/8/layout/hierarchy1"/>
    <dgm:cxn modelId="{3F86DD10-0A8D-B545-A97F-EA0AF063AB79}" type="presParOf" srcId="{C6DA7C71-2489-4F42-963C-E28CB6E48095}" destId="{80FF5771-6F0D-5146-B43D-B5EA0AEA780D}" srcOrd="1" destOrd="0" presId="urn:microsoft.com/office/officeart/2005/8/layout/hierarchy1"/>
    <dgm:cxn modelId="{C20ED35A-A8C5-2446-BB38-14D4D8A87525}" type="presParOf" srcId="{80FF5771-6F0D-5146-B43D-B5EA0AEA780D}" destId="{46EA9D36-013E-7747-8C05-65C748CD8947}" srcOrd="0" destOrd="0" presId="urn:microsoft.com/office/officeart/2005/8/layout/hierarchy1"/>
    <dgm:cxn modelId="{0E40A92A-66B5-2E42-8076-CCDEF8E8AACD}" type="presParOf" srcId="{46EA9D36-013E-7747-8C05-65C748CD8947}" destId="{B3BA8365-D843-DB44-9342-3EA7CAFA27C7}" srcOrd="0" destOrd="0" presId="urn:microsoft.com/office/officeart/2005/8/layout/hierarchy1"/>
    <dgm:cxn modelId="{3BB35B97-19DB-6445-A826-5F64DAF2F780}" type="presParOf" srcId="{46EA9D36-013E-7747-8C05-65C748CD8947}" destId="{2AA862F7-F98C-0C41-BAFE-D002CD2FAC9E}" srcOrd="1" destOrd="0" presId="urn:microsoft.com/office/officeart/2005/8/layout/hierarchy1"/>
    <dgm:cxn modelId="{CBAB30C2-EC3E-1C46-B20D-1AB133BA4A0B}" type="presParOf" srcId="{80FF5771-6F0D-5146-B43D-B5EA0AEA780D}" destId="{B52A9E15-3AAB-2643-92B0-47526ED319BC}" srcOrd="1" destOrd="0" presId="urn:microsoft.com/office/officeart/2005/8/layout/hierarchy1"/>
    <dgm:cxn modelId="{439476F9-3596-1E4D-A4C6-26BF9A1DFA1B}" type="presParOf" srcId="{C6DA7C71-2489-4F42-963C-E28CB6E48095}" destId="{9F697780-A044-E544-ACB6-DAB9599AB66D}" srcOrd="2" destOrd="0" presId="urn:microsoft.com/office/officeart/2005/8/layout/hierarchy1"/>
    <dgm:cxn modelId="{80DFBB73-F681-F34C-BBFD-797185147CF7}" type="presParOf" srcId="{9F697780-A044-E544-ACB6-DAB9599AB66D}" destId="{6597D490-4C58-DC4B-BBAC-6619E55CB213}" srcOrd="0" destOrd="0" presId="urn:microsoft.com/office/officeart/2005/8/layout/hierarchy1"/>
    <dgm:cxn modelId="{FEE6AD60-0891-AC44-9DE9-2553DDBA7FC1}" type="presParOf" srcId="{6597D490-4C58-DC4B-BBAC-6619E55CB213}" destId="{0D6D2B9E-40F5-234A-83E0-C92322AA872D}" srcOrd="0" destOrd="0" presId="urn:microsoft.com/office/officeart/2005/8/layout/hierarchy1"/>
    <dgm:cxn modelId="{25304580-A198-0A44-AF58-BE20BAB26451}" type="presParOf" srcId="{6597D490-4C58-DC4B-BBAC-6619E55CB213}" destId="{D2EBED80-8A3C-A545-8213-CA0EA282634E}" srcOrd="1" destOrd="0" presId="urn:microsoft.com/office/officeart/2005/8/layout/hierarchy1"/>
    <dgm:cxn modelId="{F2C253A3-F87C-634D-BE1F-3D0FB866276E}" type="presParOf" srcId="{9F697780-A044-E544-ACB6-DAB9599AB66D}" destId="{4AA97A98-35CF-2244-8D39-16A64EF351E0}" srcOrd="1" destOrd="0" presId="urn:microsoft.com/office/officeart/2005/8/layout/hierarchy1"/>
    <dgm:cxn modelId="{7CF76448-F399-9B40-A829-D15417C2CA47}" type="presParOf" srcId="{C6DA7C71-2489-4F42-963C-E28CB6E48095}" destId="{6CFBE8F8-F2E5-0542-A0AF-830865796367}" srcOrd="3" destOrd="0" presId="urn:microsoft.com/office/officeart/2005/8/layout/hierarchy1"/>
    <dgm:cxn modelId="{7B146F86-DC01-A048-AFCD-A4FD95A97113}" type="presParOf" srcId="{6CFBE8F8-F2E5-0542-A0AF-830865796367}" destId="{EB73D22B-CFB2-E642-9B75-003B4780592C}" srcOrd="0" destOrd="0" presId="urn:microsoft.com/office/officeart/2005/8/layout/hierarchy1"/>
    <dgm:cxn modelId="{49739F32-0310-884C-97C3-BE438451E3D0}" type="presParOf" srcId="{EB73D22B-CFB2-E642-9B75-003B4780592C}" destId="{2EAE4AEB-41BD-0E4E-B186-0B4CC87AD595}" srcOrd="0" destOrd="0" presId="urn:microsoft.com/office/officeart/2005/8/layout/hierarchy1"/>
    <dgm:cxn modelId="{DFC919BA-8351-604A-AB30-9BECD0C71531}" type="presParOf" srcId="{EB73D22B-CFB2-E642-9B75-003B4780592C}" destId="{0CF1CBF2-421F-B646-91D1-2B6854447566}" srcOrd="1" destOrd="0" presId="urn:microsoft.com/office/officeart/2005/8/layout/hierarchy1"/>
    <dgm:cxn modelId="{EF6AAB75-8919-D049-9C7B-5C35E2774CE3}" type="presParOf" srcId="{6CFBE8F8-F2E5-0542-A0AF-830865796367}" destId="{C6509B7E-09DF-EC43-8A7B-54508E2A9171}" srcOrd="1" destOrd="0" presId="urn:microsoft.com/office/officeart/2005/8/layout/hierarchy1"/>
    <dgm:cxn modelId="{44305411-8959-EA4D-B7C9-FD4ED7D679CB}" type="presParOf" srcId="{C6DA7C71-2489-4F42-963C-E28CB6E48095}" destId="{A9DF3CE1-A2E0-9E48-8049-BCD5675C491D}" srcOrd="4" destOrd="0" presId="urn:microsoft.com/office/officeart/2005/8/layout/hierarchy1"/>
    <dgm:cxn modelId="{B16A0AC8-95EC-FF4E-B424-2BFE9E3FBA1D}" type="presParOf" srcId="{A9DF3CE1-A2E0-9E48-8049-BCD5675C491D}" destId="{E5970852-FF4D-B644-AFBF-9C5E07419EC0}" srcOrd="0" destOrd="0" presId="urn:microsoft.com/office/officeart/2005/8/layout/hierarchy1"/>
    <dgm:cxn modelId="{0CD52DCD-0B0E-7C4A-900F-C0CE1943BDDC}" type="presParOf" srcId="{E5970852-FF4D-B644-AFBF-9C5E07419EC0}" destId="{A1A7C6F4-DE72-6A45-9699-5BC45B5DC225}" srcOrd="0" destOrd="0" presId="urn:microsoft.com/office/officeart/2005/8/layout/hierarchy1"/>
    <dgm:cxn modelId="{D5B2360F-0060-F044-B0C2-129CF885A73B}" type="presParOf" srcId="{E5970852-FF4D-B644-AFBF-9C5E07419EC0}" destId="{7FC1DD06-56ED-9A49-8332-09B3E3A4776C}" srcOrd="1" destOrd="0" presId="urn:microsoft.com/office/officeart/2005/8/layout/hierarchy1"/>
    <dgm:cxn modelId="{0D3C81A6-64DB-4A4A-ABD3-5372A2F27FC7}" type="presParOf" srcId="{A9DF3CE1-A2E0-9E48-8049-BCD5675C491D}" destId="{5CB21571-B228-D747-A8B2-54EB5842AE0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BF2225-AE22-314B-AF2D-55228814F298}">
      <dsp:nvSpPr>
        <dsp:cNvPr id="0" name=""/>
        <dsp:cNvSpPr/>
      </dsp:nvSpPr>
      <dsp:spPr>
        <a:xfrm>
          <a:off x="3654" y="1210702"/>
          <a:ext cx="1780750" cy="11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64EEEB-0D9F-344A-BC29-E0FE1AE9120E}">
      <dsp:nvSpPr>
        <dsp:cNvPr id="0" name=""/>
        <dsp:cNvSpPr/>
      </dsp:nvSpPr>
      <dsp:spPr>
        <a:xfrm>
          <a:off x="201515" y="1398670"/>
          <a:ext cx="1780750" cy="11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Introduction</a:t>
          </a:r>
        </a:p>
      </dsp:txBody>
      <dsp:txXfrm>
        <a:off x="234634" y="1431789"/>
        <a:ext cx="1714512" cy="1064538"/>
      </dsp:txXfrm>
    </dsp:sp>
    <dsp:sp modelId="{B3BA8365-D843-DB44-9342-3EA7CAFA27C7}">
      <dsp:nvSpPr>
        <dsp:cNvPr id="0" name=""/>
        <dsp:cNvSpPr/>
      </dsp:nvSpPr>
      <dsp:spPr>
        <a:xfrm>
          <a:off x="2180127" y="1210702"/>
          <a:ext cx="1780750" cy="11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A862F7-F98C-0C41-BAFE-D002CD2FAC9E}">
      <dsp:nvSpPr>
        <dsp:cNvPr id="0" name=""/>
        <dsp:cNvSpPr/>
      </dsp:nvSpPr>
      <dsp:spPr>
        <a:xfrm>
          <a:off x="2377988" y="1398670"/>
          <a:ext cx="1780750" cy="11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Literature Review</a:t>
          </a:r>
        </a:p>
      </dsp:txBody>
      <dsp:txXfrm>
        <a:off x="2411107" y="1431789"/>
        <a:ext cx="1714512" cy="1064538"/>
      </dsp:txXfrm>
    </dsp:sp>
    <dsp:sp modelId="{0D6D2B9E-40F5-234A-83E0-C92322AA872D}">
      <dsp:nvSpPr>
        <dsp:cNvPr id="0" name=""/>
        <dsp:cNvSpPr/>
      </dsp:nvSpPr>
      <dsp:spPr>
        <a:xfrm>
          <a:off x="4356600" y="1210702"/>
          <a:ext cx="1780750" cy="11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EBED80-8A3C-A545-8213-CA0EA282634E}">
      <dsp:nvSpPr>
        <dsp:cNvPr id="0" name=""/>
        <dsp:cNvSpPr/>
      </dsp:nvSpPr>
      <dsp:spPr>
        <a:xfrm>
          <a:off x="4554461" y="1398670"/>
          <a:ext cx="1780750" cy="11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TCT Architecture</a:t>
          </a:r>
        </a:p>
      </dsp:txBody>
      <dsp:txXfrm>
        <a:off x="4587580" y="1431789"/>
        <a:ext cx="1714512" cy="1064538"/>
      </dsp:txXfrm>
    </dsp:sp>
    <dsp:sp modelId="{2EAE4AEB-41BD-0E4E-B186-0B4CC87AD595}">
      <dsp:nvSpPr>
        <dsp:cNvPr id="0" name=""/>
        <dsp:cNvSpPr/>
      </dsp:nvSpPr>
      <dsp:spPr>
        <a:xfrm>
          <a:off x="6533073" y="1210702"/>
          <a:ext cx="1780750" cy="11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F1CBF2-421F-B646-91D1-2B6854447566}">
      <dsp:nvSpPr>
        <dsp:cNvPr id="0" name=""/>
        <dsp:cNvSpPr/>
      </dsp:nvSpPr>
      <dsp:spPr>
        <a:xfrm>
          <a:off x="6730934" y="1398670"/>
          <a:ext cx="1780750" cy="11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Experiments</a:t>
          </a:r>
        </a:p>
      </dsp:txBody>
      <dsp:txXfrm>
        <a:off x="6764053" y="1431789"/>
        <a:ext cx="1714512" cy="1064538"/>
      </dsp:txXfrm>
    </dsp:sp>
    <dsp:sp modelId="{A1A7C6F4-DE72-6A45-9699-5BC45B5DC225}">
      <dsp:nvSpPr>
        <dsp:cNvPr id="0" name=""/>
        <dsp:cNvSpPr/>
      </dsp:nvSpPr>
      <dsp:spPr>
        <a:xfrm>
          <a:off x="8709545" y="1210702"/>
          <a:ext cx="1780750" cy="11307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C1DD06-56ED-9A49-8332-09B3E3A4776C}">
      <dsp:nvSpPr>
        <dsp:cNvPr id="0" name=""/>
        <dsp:cNvSpPr/>
      </dsp:nvSpPr>
      <dsp:spPr>
        <a:xfrm>
          <a:off x="8907407" y="1398670"/>
          <a:ext cx="1780750" cy="11307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Contributions and Future Directions</a:t>
          </a:r>
        </a:p>
      </dsp:txBody>
      <dsp:txXfrm>
        <a:off x="8940526" y="1431789"/>
        <a:ext cx="1714512" cy="106453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9C0C59-185E-874E-8468-6092D83992DA}" type="datetimeFigureOut">
              <a:rPr lang="en-US" smtClean="0"/>
              <a:t>5/7/26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32F5B2-8E9E-A043-910C-D623E320FEF5}" type="slidenum">
              <a:rPr lang="en-US" smtClean="0"/>
              <a:t>‹#›</a:t>
            </a:fld>
            <a:endParaRPr lang="en-US"/>
          </a:p>
        </p:txBody>
      </p:sp>
    </p:spTree>
    <p:extLst>
      <p:ext uri="{BB962C8B-B14F-4D97-AF65-F5344CB8AC3E}">
        <p14:creationId xmlns:p14="http://schemas.microsoft.com/office/powerpoint/2010/main" val="2712966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Prof. Zhang Mengmi and Prof. Lim Wei Yang Bryan to my FYP presentation about Target and Context Aware Transformer for visual search task</a:t>
            </a:r>
          </a:p>
        </p:txBody>
      </p:sp>
      <p:sp>
        <p:nvSpPr>
          <p:cNvPr id="4" name="Slide Number Placeholder 3"/>
          <p:cNvSpPr>
            <a:spLocks noGrp="1"/>
          </p:cNvSpPr>
          <p:nvPr>
            <p:ph type="sldNum" sz="quarter" idx="5"/>
          </p:nvPr>
        </p:nvSpPr>
        <p:spPr/>
        <p:txBody>
          <a:bodyPr/>
          <a:lstStyle/>
          <a:p>
            <a:fld id="{7332F5B2-8E9E-A043-910C-D623E320FEF5}" type="slidenum">
              <a:rPr lang="en-US" smtClean="0"/>
              <a:t>1</a:t>
            </a:fld>
            <a:endParaRPr lang="en-US"/>
          </a:p>
        </p:txBody>
      </p:sp>
    </p:spTree>
    <p:extLst>
      <p:ext uri="{BB962C8B-B14F-4D97-AF65-F5344CB8AC3E}">
        <p14:creationId xmlns:p14="http://schemas.microsoft.com/office/powerpoint/2010/main" val="1069812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5 main points which will be covered in the presentations</a:t>
            </a:r>
          </a:p>
        </p:txBody>
      </p:sp>
      <p:sp>
        <p:nvSpPr>
          <p:cNvPr id="4" name="Slide Number Placeholder 3"/>
          <p:cNvSpPr>
            <a:spLocks noGrp="1"/>
          </p:cNvSpPr>
          <p:nvPr>
            <p:ph type="sldNum" sz="quarter" idx="5"/>
          </p:nvPr>
        </p:nvSpPr>
        <p:spPr/>
        <p:txBody>
          <a:bodyPr/>
          <a:lstStyle/>
          <a:p>
            <a:fld id="{7332F5B2-8E9E-A043-910C-D623E320FEF5}" type="slidenum">
              <a:rPr lang="en-US" smtClean="0"/>
              <a:t>2</a:t>
            </a:fld>
            <a:endParaRPr lang="en-US"/>
          </a:p>
        </p:txBody>
      </p:sp>
    </p:spTree>
    <p:extLst>
      <p:ext uri="{BB962C8B-B14F-4D97-AF65-F5344CB8AC3E}">
        <p14:creationId xmlns:p14="http://schemas.microsoft.com/office/powerpoint/2010/main" val="4108695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begin with the introduction</a:t>
            </a:r>
          </a:p>
        </p:txBody>
      </p:sp>
      <p:sp>
        <p:nvSpPr>
          <p:cNvPr id="4" name="Slide Number Placeholder 3"/>
          <p:cNvSpPr>
            <a:spLocks noGrp="1"/>
          </p:cNvSpPr>
          <p:nvPr>
            <p:ph type="sldNum" sz="quarter" idx="5"/>
          </p:nvPr>
        </p:nvSpPr>
        <p:spPr/>
        <p:txBody>
          <a:bodyPr/>
          <a:lstStyle/>
          <a:p>
            <a:fld id="{7332F5B2-8E9E-A043-910C-D623E320FEF5}" type="slidenum">
              <a:rPr lang="en-US" smtClean="0"/>
              <a:t>3</a:t>
            </a:fld>
            <a:endParaRPr lang="en-US"/>
          </a:p>
        </p:txBody>
      </p:sp>
    </p:spTree>
    <p:extLst>
      <p:ext uri="{BB962C8B-B14F-4D97-AF65-F5344CB8AC3E}">
        <p14:creationId xmlns:p14="http://schemas.microsoft.com/office/powerpoint/2010/main" val="3859195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current existing visual search model are only depend on the context image information to infer the attention map to find the target.  Most of the models are recognition task-based rather than an attention-map-based visual search model.</a:t>
            </a:r>
          </a:p>
          <a:p>
            <a:endParaRPr lang="en-US" dirty="0"/>
          </a:p>
          <a:p>
            <a:r>
              <a:rPr lang="en-US" dirty="0"/>
              <a:t>Therefore, we propose a new attention-map-based and top-down visual search model that mimicking human search behavior</a:t>
            </a:r>
          </a:p>
        </p:txBody>
      </p:sp>
      <p:sp>
        <p:nvSpPr>
          <p:cNvPr id="4" name="Slide Number Placeholder 3"/>
          <p:cNvSpPr>
            <a:spLocks noGrp="1"/>
          </p:cNvSpPr>
          <p:nvPr>
            <p:ph type="sldNum" sz="quarter" idx="5"/>
          </p:nvPr>
        </p:nvSpPr>
        <p:spPr/>
        <p:txBody>
          <a:bodyPr/>
          <a:lstStyle/>
          <a:p>
            <a:fld id="{7332F5B2-8E9E-A043-910C-D623E320FEF5}" type="slidenum">
              <a:rPr lang="en-US" smtClean="0"/>
              <a:t>4</a:t>
            </a:fld>
            <a:endParaRPr lang="en-US"/>
          </a:p>
        </p:txBody>
      </p:sp>
    </p:spTree>
    <p:extLst>
      <p:ext uri="{BB962C8B-B14F-4D97-AF65-F5344CB8AC3E}">
        <p14:creationId xmlns:p14="http://schemas.microsoft.com/office/powerpoint/2010/main" val="1486947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further deep dive into the topic, we need to understand what is visual search.</a:t>
            </a:r>
          </a:p>
          <a:p>
            <a:endParaRPr lang="en-US" dirty="0"/>
          </a:p>
          <a:p>
            <a:r>
              <a:rPr lang="en-US" dirty="0"/>
              <a:t>Visual search is academically defined by Treisman and </a:t>
            </a:r>
            <a:r>
              <a:rPr lang="en-US" dirty="0" err="1"/>
              <a:t>Gelade</a:t>
            </a:r>
            <a:r>
              <a:rPr lang="en-US" dirty="0"/>
              <a:t> in 1980 is a process of locating a target in a search </a:t>
            </a:r>
            <a:r>
              <a:rPr lang="en-US" dirty="0" err="1"/>
              <a:t>scence</a:t>
            </a:r>
            <a:r>
              <a:rPr lang="en-US" dirty="0"/>
              <a:t>, display, images, </a:t>
            </a:r>
            <a:r>
              <a:rPr lang="en-US" dirty="0" err="1"/>
              <a:t>etc</a:t>
            </a:r>
            <a:r>
              <a:rPr lang="en-US" dirty="0"/>
              <a:t>, that contain multiple distractors.</a:t>
            </a:r>
          </a:p>
        </p:txBody>
      </p:sp>
      <p:sp>
        <p:nvSpPr>
          <p:cNvPr id="4" name="Slide Number Placeholder 3"/>
          <p:cNvSpPr>
            <a:spLocks noGrp="1"/>
          </p:cNvSpPr>
          <p:nvPr>
            <p:ph type="sldNum" sz="quarter" idx="5"/>
          </p:nvPr>
        </p:nvSpPr>
        <p:spPr/>
        <p:txBody>
          <a:bodyPr/>
          <a:lstStyle/>
          <a:p>
            <a:fld id="{7332F5B2-8E9E-A043-910C-D623E320FEF5}" type="slidenum">
              <a:rPr lang="en-US" smtClean="0"/>
              <a:t>5</a:t>
            </a:fld>
            <a:endParaRPr lang="en-US"/>
          </a:p>
        </p:txBody>
      </p:sp>
    </p:spTree>
    <p:extLst>
      <p:ext uri="{BB962C8B-B14F-4D97-AF65-F5344CB8AC3E}">
        <p14:creationId xmlns:p14="http://schemas.microsoft.com/office/powerpoint/2010/main" val="2023858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32F5B2-8E9E-A043-910C-D623E320FEF5}" type="slidenum">
              <a:rPr lang="en-US" smtClean="0"/>
              <a:t>6</a:t>
            </a:fld>
            <a:endParaRPr lang="en-US"/>
          </a:p>
        </p:txBody>
      </p:sp>
    </p:spTree>
    <p:extLst>
      <p:ext uri="{BB962C8B-B14F-4D97-AF65-F5344CB8AC3E}">
        <p14:creationId xmlns:p14="http://schemas.microsoft.com/office/powerpoint/2010/main" val="2196602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move on to literature review to understand more on the cognitive search theory to understand how human conduct visual search and how it can be transformed into computational model</a:t>
            </a:r>
          </a:p>
        </p:txBody>
      </p:sp>
      <p:sp>
        <p:nvSpPr>
          <p:cNvPr id="4" name="Slide Number Placeholder 3"/>
          <p:cNvSpPr>
            <a:spLocks noGrp="1"/>
          </p:cNvSpPr>
          <p:nvPr>
            <p:ph type="sldNum" sz="quarter" idx="5"/>
          </p:nvPr>
        </p:nvSpPr>
        <p:spPr/>
        <p:txBody>
          <a:bodyPr/>
          <a:lstStyle/>
          <a:p>
            <a:fld id="{7332F5B2-8E9E-A043-910C-D623E320FEF5}" type="slidenum">
              <a:rPr lang="en-US" smtClean="0"/>
              <a:t>7</a:t>
            </a:fld>
            <a:endParaRPr lang="en-US"/>
          </a:p>
        </p:txBody>
      </p:sp>
    </p:spTree>
    <p:extLst>
      <p:ext uri="{BB962C8B-B14F-4D97-AF65-F5344CB8AC3E}">
        <p14:creationId xmlns:p14="http://schemas.microsoft.com/office/powerpoint/2010/main" val="3531833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1980, Treisman and Gelade proposed an Feature Integration Theory that human require attention map to overlay a scene to conduct a sequence of searching.</a:t>
            </a:r>
          </a:p>
          <a:p>
            <a:endParaRPr lang="en-US" dirty="0"/>
          </a:p>
          <a:p>
            <a:r>
              <a:rPr lang="en-US" dirty="0"/>
              <a:t>There are 3 main approach</a:t>
            </a:r>
          </a:p>
          <a:p>
            <a:pPr marL="171450" indent="-171450">
              <a:buFontTx/>
              <a:buChar char="-"/>
            </a:pPr>
            <a:r>
              <a:rPr lang="en-US" dirty="0"/>
              <a:t>Bottom-up: we focus on the </a:t>
            </a:r>
            <a:r>
              <a:rPr lang="en-US" dirty="0" err="1"/>
              <a:t>scence</a:t>
            </a:r>
            <a:r>
              <a:rPr lang="en-US" dirty="0"/>
              <a:t> saliency</a:t>
            </a:r>
          </a:p>
          <a:p>
            <a:pPr marL="171450" indent="-171450">
              <a:buFontTx/>
              <a:buChar char="-"/>
            </a:pPr>
            <a:r>
              <a:rPr lang="en-US" dirty="0"/>
              <a:t>Top-down: which is goal driven</a:t>
            </a:r>
          </a:p>
          <a:p>
            <a:pPr marL="171450" indent="-171450">
              <a:buFontTx/>
              <a:buChar char="-"/>
            </a:pPr>
            <a:r>
              <a:rPr lang="en-US" dirty="0"/>
              <a:t>Or the combination of both</a:t>
            </a:r>
          </a:p>
        </p:txBody>
      </p:sp>
      <p:sp>
        <p:nvSpPr>
          <p:cNvPr id="4" name="Slide Number Placeholder 3"/>
          <p:cNvSpPr>
            <a:spLocks noGrp="1"/>
          </p:cNvSpPr>
          <p:nvPr>
            <p:ph type="sldNum" sz="quarter" idx="5"/>
          </p:nvPr>
        </p:nvSpPr>
        <p:spPr/>
        <p:txBody>
          <a:bodyPr/>
          <a:lstStyle/>
          <a:p>
            <a:fld id="{7332F5B2-8E9E-A043-910C-D623E320FEF5}" type="slidenum">
              <a:rPr lang="en-US" smtClean="0"/>
              <a:t>8</a:t>
            </a:fld>
            <a:endParaRPr lang="en-US"/>
          </a:p>
        </p:txBody>
      </p:sp>
    </p:spTree>
    <p:extLst>
      <p:ext uri="{BB962C8B-B14F-4D97-AF65-F5344CB8AC3E}">
        <p14:creationId xmlns:p14="http://schemas.microsoft.com/office/powerpoint/2010/main" val="3574829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Later in the 1980, Posner conducted many various experiments to formalize the relationship between the eye movement and the attention map</a:t>
            </a:r>
          </a:p>
          <a:p>
            <a:endParaRPr lang="en-US" dirty="0"/>
          </a:p>
          <a:p>
            <a:r>
              <a:rPr lang="en-US" dirty="0"/>
              <a:t>There are 2 types of attention:</a:t>
            </a:r>
          </a:p>
          <a:p>
            <a:pPr marL="171450" indent="-171450">
              <a:buFontTx/>
              <a:buChar char="-"/>
            </a:pPr>
            <a:r>
              <a:rPr lang="en-US" dirty="0"/>
              <a:t>Covert Attention: which require no head or eye movement, the attention are produced from the the current scene.</a:t>
            </a:r>
          </a:p>
          <a:p>
            <a:pPr marL="171450" indent="-171450">
              <a:buFontTx/>
              <a:buChar char="-"/>
            </a:pPr>
            <a:r>
              <a:rPr lang="en-US" dirty="0"/>
              <a:t>The other one is the overt attention which requires head and eye movement, producing an attention shift</a:t>
            </a:r>
          </a:p>
          <a:p>
            <a:pPr marL="171450" indent="-171450">
              <a:buFontTx/>
              <a:buChar char="-"/>
            </a:pPr>
            <a:endParaRPr lang="en-US" dirty="0"/>
          </a:p>
          <a:p>
            <a:pPr marL="171450" indent="-171450">
              <a:buFontTx/>
              <a:buChar char="-"/>
            </a:pPr>
            <a:r>
              <a:rPr lang="en-US" dirty="0"/>
              <a:t>=&gt;He discovered that Covert attention is the means of routing information and controlling search priority.</a:t>
            </a:r>
          </a:p>
        </p:txBody>
      </p:sp>
      <p:sp>
        <p:nvSpPr>
          <p:cNvPr id="4" name="Slide Number Placeholder 3"/>
          <p:cNvSpPr>
            <a:spLocks noGrp="1"/>
          </p:cNvSpPr>
          <p:nvPr>
            <p:ph type="sldNum" sz="quarter" idx="5"/>
          </p:nvPr>
        </p:nvSpPr>
        <p:spPr/>
        <p:txBody>
          <a:bodyPr/>
          <a:lstStyle/>
          <a:p>
            <a:fld id="{7332F5B2-8E9E-A043-910C-D623E320FEF5}" type="slidenum">
              <a:rPr lang="en-US" smtClean="0"/>
              <a:t>9</a:t>
            </a:fld>
            <a:endParaRPr lang="en-US"/>
          </a:p>
        </p:txBody>
      </p:sp>
    </p:spTree>
    <p:extLst>
      <p:ext uri="{BB962C8B-B14F-4D97-AF65-F5344CB8AC3E}">
        <p14:creationId xmlns:p14="http://schemas.microsoft.com/office/powerpoint/2010/main" val="569595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E42DE-5F9C-0613-96F9-183D0FD015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6CE30-EA71-0879-EE45-9DBA6960C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5360-5E8D-4250-DCD5-2E6206E05A88}"/>
              </a:ext>
            </a:extLst>
          </p:cNvPr>
          <p:cNvSpPr>
            <a:spLocks noGrp="1"/>
          </p:cNvSpPr>
          <p:nvPr>
            <p:ph type="body" idx="1"/>
          </p:nvPr>
        </p:nvSpPr>
        <p:spPr/>
        <p:txBody>
          <a:bodyPr/>
          <a:lstStyle/>
          <a:p>
            <a:r>
              <a:rPr lang="en-US" dirty="0"/>
              <a:t>In 1984, Posner and his partner Cohen discovered Inhibition of Return which prevent human from revisiting attended area.</a:t>
            </a:r>
          </a:p>
          <a:p>
            <a:endParaRPr lang="en-US" dirty="0"/>
          </a:p>
          <a:p>
            <a:r>
              <a:rPr lang="en-US" dirty="0"/>
              <a:t>They proposed that the Inhibited area is located in the mental map rather than in the retinotopic coordinates inside our eyes.</a:t>
            </a:r>
          </a:p>
          <a:p>
            <a:endParaRPr lang="en-US" dirty="0"/>
          </a:p>
          <a:p>
            <a:r>
              <a:rPr lang="en-US" dirty="0"/>
              <a:t>Their finding laid the foundation for bio-inspired DNN visual search model</a:t>
            </a:r>
          </a:p>
          <a:p>
            <a:endParaRPr lang="en-US" dirty="0"/>
          </a:p>
          <a:p>
            <a:r>
              <a:rPr lang="en-US" dirty="0"/>
              <a:t>It is regarded as IOR, which is embedded into every visual search model to prevent them from revisiting the attended area.</a:t>
            </a:r>
          </a:p>
        </p:txBody>
      </p:sp>
      <p:sp>
        <p:nvSpPr>
          <p:cNvPr id="4" name="Slide Number Placeholder 3">
            <a:extLst>
              <a:ext uri="{FF2B5EF4-FFF2-40B4-BE49-F238E27FC236}">
                <a16:creationId xmlns:a16="http://schemas.microsoft.com/office/drawing/2014/main" id="{1A1937DC-7868-5AF0-5F6D-6E8E376073DA}"/>
              </a:ext>
            </a:extLst>
          </p:cNvPr>
          <p:cNvSpPr>
            <a:spLocks noGrp="1"/>
          </p:cNvSpPr>
          <p:nvPr>
            <p:ph type="sldNum" sz="quarter" idx="5"/>
          </p:nvPr>
        </p:nvSpPr>
        <p:spPr/>
        <p:txBody>
          <a:bodyPr/>
          <a:lstStyle/>
          <a:p>
            <a:fld id="{7332F5B2-8E9E-A043-910C-D623E320FEF5}" type="slidenum">
              <a:rPr lang="en-US" smtClean="0"/>
              <a:t>10</a:t>
            </a:fld>
            <a:endParaRPr lang="en-US"/>
          </a:p>
        </p:txBody>
      </p:sp>
    </p:spTree>
    <p:extLst>
      <p:ext uri="{BB962C8B-B14F-4D97-AF65-F5344CB8AC3E}">
        <p14:creationId xmlns:p14="http://schemas.microsoft.com/office/powerpoint/2010/main" val="1056342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F1EAC-B71B-FDE6-27B5-1160AB6CF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D243A-8815-03A6-E882-F43ABEC0C9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F77F9-2814-84C2-573F-53A4D07E5FB0}"/>
              </a:ext>
            </a:extLst>
          </p:cNvPr>
          <p:cNvSpPr>
            <a:spLocks noGrp="1"/>
          </p:cNvSpPr>
          <p:nvPr>
            <p:ph type="body" idx="1"/>
          </p:nvPr>
        </p:nvSpPr>
        <p:spPr/>
        <p:txBody>
          <a:bodyPr/>
          <a:lstStyle/>
          <a:p>
            <a:r>
              <a:rPr lang="en-US" dirty="0"/>
              <a:t>In 1994, Wolfe reconstruct a conceptual model to demonstrate the theory of combination of bottom-up and top-down approach</a:t>
            </a:r>
          </a:p>
          <a:p>
            <a:endParaRPr lang="en-US" dirty="0"/>
          </a:p>
          <a:p>
            <a:r>
              <a:rPr lang="en-US" dirty="0"/>
              <a:t>The model can illustrate and emphasis the role of each approach:</a:t>
            </a:r>
          </a:p>
          <a:p>
            <a:r>
              <a:rPr lang="en-US" dirty="0"/>
              <a:t>The bottom-up approach help human to distinguish item from each other</a:t>
            </a:r>
          </a:p>
          <a:p>
            <a:r>
              <a:rPr lang="en-US" dirty="0"/>
              <a:t>The top-down approach help human to find similarity between item and guide the search process</a:t>
            </a:r>
          </a:p>
          <a:p>
            <a:endParaRPr lang="en-US" dirty="0"/>
          </a:p>
          <a:p>
            <a:r>
              <a:rPr lang="en-US" dirty="0"/>
              <a:t>The combination of both build a weighted map rather than equally summed </a:t>
            </a:r>
          </a:p>
        </p:txBody>
      </p:sp>
      <p:sp>
        <p:nvSpPr>
          <p:cNvPr id="4" name="Slide Number Placeholder 3">
            <a:extLst>
              <a:ext uri="{FF2B5EF4-FFF2-40B4-BE49-F238E27FC236}">
                <a16:creationId xmlns:a16="http://schemas.microsoft.com/office/drawing/2014/main" id="{8FE64EC1-7751-E5EF-DAF8-BAC5868CDAAE}"/>
              </a:ext>
            </a:extLst>
          </p:cNvPr>
          <p:cNvSpPr>
            <a:spLocks noGrp="1"/>
          </p:cNvSpPr>
          <p:nvPr>
            <p:ph type="sldNum" sz="quarter" idx="5"/>
          </p:nvPr>
        </p:nvSpPr>
        <p:spPr/>
        <p:txBody>
          <a:bodyPr/>
          <a:lstStyle/>
          <a:p>
            <a:fld id="{7332F5B2-8E9E-A043-910C-D623E320FEF5}" type="slidenum">
              <a:rPr lang="en-US" smtClean="0"/>
              <a:t>11</a:t>
            </a:fld>
            <a:endParaRPr lang="en-US"/>
          </a:p>
        </p:txBody>
      </p:sp>
    </p:spTree>
    <p:extLst>
      <p:ext uri="{BB962C8B-B14F-4D97-AF65-F5344CB8AC3E}">
        <p14:creationId xmlns:p14="http://schemas.microsoft.com/office/powerpoint/2010/main" val="2802333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0B700-F042-2921-1CD0-4E009C048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99BDB-7D43-A81B-32BE-F44845555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7184F4-289C-16FC-E762-D4E4A65BD7E6}"/>
              </a:ext>
            </a:extLst>
          </p:cNvPr>
          <p:cNvSpPr>
            <a:spLocks noGrp="1"/>
          </p:cNvSpPr>
          <p:nvPr>
            <p:ph type="body" idx="1"/>
          </p:nvPr>
        </p:nvSpPr>
        <p:spPr/>
        <p:txBody>
          <a:bodyPr/>
          <a:lstStyle/>
          <a:p>
            <a:r>
              <a:rPr lang="en-US" dirty="0"/>
              <a:t>We can clearly see different path but they are combined together to build an attention map to overlay the search scene</a:t>
            </a:r>
          </a:p>
        </p:txBody>
      </p:sp>
      <p:sp>
        <p:nvSpPr>
          <p:cNvPr id="4" name="Slide Number Placeholder 3">
            <a:extLst>
              <a:ext uri="{FF2B5EF4-FFF2-40B4-BE49-F238E27FC236}">
                <a16:creationId xmlns:a16="http://schemas.microsoft.com/office/drawing/2014/main" id="{0CA0BAF2-F186-03B4-3234-75EBAA42D2BF}"/>
              </a:ext>
            </a:extLst>
          </p:cNvPr>
          <p:cNvSpPr>
            <a:spLocks noGrp="1"/>
          </p:cNvSpPr>
          <p:nvPr>
            <p:ph type="sldNum" sz="quarter" idx="5"/>
          </p:nvPr>
        </p:nvSpPr>
        <p:spPr/>
        <p:txBody>
          <a:bodyPr/>
          <a:lstStyle/>
          <a:p>
            <a:fld id="{7332F5B2-8E9E-A043-910C-D623E320FEF5}" type="slidenum">
              <a:rPr lang="en-US" smtClean="0"/>
              <a:t>12</a:t>
            </a:fld>
            <a:endParaRPr lang="en-US"/>
          </a:p>
        </p:txBody>
      </p:sp>
    </p:spTree>
    <p:extLst>
      <p:ext uri="{BB962C8B-B14F-4D97-AF65-F5344CB8AC3E}">
        <p14:creationId xmlns:p14="http://schemas.microsoft.com/office/powerpoint/2010/main" val="14193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361E3-A865-728E-7FBF-6F571D5CC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E31FD-4816-952F-E834-91B942FD44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441665-3C04-54D7-EB5C-7613BFBE8CC6}"/>
              </a:ext>
            </a:extLst>
          </p:cNvPr>
          <p:cNvSpPr>
            <a:spLocks noGrp="1"/>
          </p:cNvSpPr>
          <p:nvPr>
            <p:ph type="body" idx="1"/>
          </p:nvPr>
        </p:nvSpPr>
        <p:spPr/>
        <p:txBody>
          <a:bodyPr/>
          <a:lstStyle/>
          <a:p>
            <a:r>
              <a:rPr lang="en-US" dirty="0"/>
              <a:t>In 1998, Chun &amp; Jiang proposed human required a visual context to guides the search process</a:t>
            </a:r>
          </a:p>
          <a:p>
            <a:endParaRPr lang="en-US" dirty="0"/>
          </a:p>
          <a:p>
            <a:r>
              <a:rPr lang="en-US" dirty="0"/>
              <a:t>They argue that context could be learned implicitly from historical encounter which optimize the search process</a:t>
            </a:r>
          </a:p>
          <a:p>
            <a:endParaRPr lang="en-US" dirty="0"/>
          </a:p>
          <a:p>
            <a:r>
              <a:rPr lang="en-US" dirty="0"/>
              <a:t>They conclude the model or an intelligence system without any learning mechanism is maladaptive to visual search task.</a:t>
            </a:r>
          </a:p>
        </p:txBody>
      </p:sp>
      <p:sp>
        <p:nvSpPr>
          <p:cNvPr id="4" name="Slide Number Placeholder 3">
            <a:extLst>
              <a:ext uri="{FF2B5EF4-FFF2-40B4-BE49-F238E27FC236}">
                <a16:creationId xmlns:a16="http://schemas.microsoft.com/office/drawing/2014/main" id="{5FC8637B-06CA-C46A-7E99-FDD289D46734}"/>
              </a:ext>
            </a:extLst>
          </p:cNvPr>
          <p:cNvSpPr>
            <a:spLocks noGrp="1"/>
          </p:cNvSpPr>
          <p:nvPr>
            <p:ph type="sldNum" sz="quarter" idx="5"/>
          </p:nvPr>
        </p:nvSpPr>
        <p:spPr/>
        <p:txBody>
          <a:bodyPr/>
          <a:lstStyle/>
          <a:p>
            <a:fld id="{7332F5B2-8E9E-A043-910C-D623E320FEF5}" type="slidenum">
              <a:rPr lang="en-US" smtClean="0"/>
              <a:t>13</a:t>
            </a:fld>
            <a:endParaRPr lang="en-US"/>
          </a:p>
        </p:txBody>
      </p:sp>
    </p:spTree>
    <p:extLst>
      <p:ext uri="{BB962C8B-B14F-4D97-AF65-F5344CB8AC3E}">
        <p14:creationId xmlns:p14="http://schemas.microsoft.com/office/powerpoint/2010/main" val="2208211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03533-2EEF-596A-5F46-9CAB8E8B2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FF3CB-49F5-5EDD-98D0-C5CE2FD02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CCB77-B320-EDFD-ADD3-8C3543F2D83F}"/>
              </a:ext>
            </a:extLst>
          </p:cNvPr>
          <p:cNvSpPr>
            <a:spLocks noGrp="1"/>
          </p:cNvSpPr>
          <p:nvPr>
            <p:ph type="body" idx="1"/>
          </p:nvPr>
        </p:nvSpPr>
        <p:spPr/>
        <p:txBody>
          <a:bodyPr/>
          <a:lstStyle/>
          <a:p>
            <a:r>
              <a:rPr lang="en-US" dirty="0"/>
              <a:t>Recently in 2021, Wolf refined his previous model and introduced a scene guidance mechanism</a:t>
            </a:r>
          </a:p>
          <a:p>
            <a:endParaRPr lang="en-US" dirty="0"/>
          </a:p>
          <a:p>
            <a:r>
              <a:rPr lang="en-US" dirty="0"/>
              <a:t>There are 2 main types of guidance syntactic guidance and semantic guidance.</a:t>
            </a:r>
          </a:p>
          <a:p>
            <a:endParaRPr lang="en-US" dirty="0"/>
          </a:p>
          <a:p>
            <a:r>
              <a:rPr lang="en-US" dirty="0"/>
              <a:t>We can see that Wolfe leveraged proposal from Chun &amp; Jiang in 1998 to refine his model.</a:t>
            </a:r>
          </a:p>
        </p:txBody>
      </p:sp>
      <p:sp>
        <p:nvSpPr>
          <p:cNvPr id="4" name="Slide Number Placeholder 3">
            <a:extLst>
              <a:ext uri="{FF2B5EF4-FFF2-40B4-BE49-F238E27FC236}">
                <a16:creationId xmlns:a16="http://schemas.microsoft.com/office/drawing/2014/main" id="{0B2D4B9F-781D-35AF-9C0F-EA0FBD3B2E14}"/>
              </a:ext>
            </a:extLst>
          </p:cNvPr>
          <p:cNvSpPr>
            <a:spLocks noGrp="1"/>
          </p:cNvSpPr>
          <p:nvPr>
            <p:ph type="sldNum" sz="quarter" idx="5"/>
          </p:nvPr>
        </p:nvSpPr>
        <p:spPr/>
        <p:txBody>
          <a:bodyPr/>
          <a:lstStyle/>
          <a:p>
            <a:fld id="{7332F5B2-8E9E-A043-910C-D623E320FEF5}" type="slidenum">
              <a:rPr lang="en-US" smtClean="0"/>
              <a:t>14</a:t>
            </a:fld>
            <a:endParaRPr lang="en-US"/>
          </a:p>
        </p:txBody>
      </p:sp>
    </p:spTree>
    <p:extLst>
      <p:ext uri="{BB962C8B-B14F-4D97-AF65-F5344CB8AC3E}">
        <p14:creationId xmlns:p14="http://schemas.microsoft.com/office/powerpoint/2010/main" val="3690465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8BE03-06A6-4482-4F33-E3F81B0FB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CD6B8-627D-1A7E-DD33-865AF464F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E0A79-3AED-85DE-4FA9-43540C90FEF3}"/>
              </a:ext>
            </a:extLst>
          </p:cNvPr>
          <p:cNvSpPr>
            <a:spLocks noGrp="1"/>
          </p:cNvSpPr>
          <p:nvPr>
            <p:ph type="body" idx="1"/>
          </p:nvPr>
        </p:nvSpPr>
        <p:spPr/>
        <p:txBody>
          <a:bodyPr/>
          <a:lstStyle/>
          <a:p>
            <a:r>
              <a:rPr lang="en-US" dirty="0"/>
              <a:t>This is an more illustrative image on Wolfe model as we can see, the propose model now have awareness and context guidance to contribute into the visual search process.</a:t>
            </a:r>
          </a:p>
        </p:txBody>
      </p:sp>
      <p:sp>
        <p:nvSpPr>
          <p:cNvPr id="4" name="Slide Number Placeholder 3">
            <a:extLst>
              <a:ext uri="{FF2B5EF4-FFF2-40B4-BE49-F238E27FC236}">
                <a16:creationId xmlns:a16="http://schemas.microsoft.com/office/drawing/2014/main" id="{6FDC057F-A8E3-D65D-F050-CC97BE314A6E}"/>
              </a:ext>
            </a:extLst>
          </p:cNvPr>
          <p:cNvSpPr>
            <a:spLocks noGrp="1"/>
          </p:cNvSpPr>
          <p:nvPr>
            <p:ph type="sldNum" sz="quarter" idx="5"/>
          </p:nvPr>
        </p:nvSpPr>
        <p:spPr/>
        <p:txBody>
          <a:bodyPr/>
          <a:lstStyle/>
          <a:p>
            <a:fld id="{7332F5B2-8E9E-A043-910C-D623E320FEF5}" type="slidenum">
              <a:rPr lang="en-US" smtClean="0"/>
              <a:t>15</a:t>
            </a:fld>
            <a:endParaRPr lang="en-US"/>
          </a:p>
        </p:txBody>
      </p:sp>
    </p:spTree>
    <p:extLst>
      <p:ext uri="{BB962C8B-B14F-4D97-AF65-F5344CB8AC3E}">
        <p14:creationId xmlns:p14="http://schemas.microsoft.com/office/powerpoint/2010/main" val="788098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C860-F29F-5484-9868-90E51A3B7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FB06F-1333-1535-B2B5-89CBABE44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AF1DB-03C8-318D-5461-4A8DF215FD74}"/>
              </a:ext>
            </a:extLst>
          </p:cNvPr>
          <p:cNvSpPr>
            <a:spLocks noGrp="1"/>
          </p:cNvSpPr>
          <p:nvPr>
            <p:ph type="body" idx="1"/>
          </p:nvPr>
        </p:nvSpPr>
        <p:spPr/>
        <p:txBody>
          <a:bodyPr/>
          <a:lstStyle/>
          <a:p>
            <a:r>
              <a:rPr lang="en-US" dirty="0"/>
              <a:t>Right after VGG16 model is published in 2018, Dr. Zhang Mengmi and her colleague proposed an bio-inspired model, IVSN which use top-down approach for visual search through first order approximation, the attention map is resize to match the original context image to conduct visual search process.</a:t>
            </a:r>
          </a:p>
        </p:txBody>
      </p:sp>
      <p:sp>
        <p:nvSpPr>
          <p:cNvPr id="4" name="Slide Number Placeholder 3">
            <a:extLst>
              <a:ext uri="{FF2B5EF4-FFF2-40B4-BE49-F238E27FC236}">
                <a16:creationId xmlns:a16="http://schemas.microsoft.com/office/drawing/2014/main" id="{09FC2005-9544-FB73-3EC3-366C43489E3D}"/>
              </a:ext>
            </a:extLst>
          </p:cNvPr>
          <p:cNvSpPr>
            <a:spLocks noGrp="1"/>
          </p:cNvSpPr>
          <p:nvPr>
            <p:ph type="sldNum" sz="quarter" idx="5"/>
          </p:nvPr>
        </p:nvSpPr>
        <p:spPr/>
        <p:txBody>
          <a:bodyPr/>
          <a:lstStyle/>
          <a:p>
            <a:fld id="{7332F5B2-8E9E-A043-910C-D623E320FEF5}" type="slidenum">
              <a:rPr lang="en-US" smtClean="0"/>
              <a:t>16</a:t>
            </a:fld>
            <a:endParaRPr lang="en-US"/>
          </a:p>
        </p:txBody>
      </p:sp>
    </p:spTree>
    <p:extLst>
      <p:ext uri="{BB962C8B-B14F-4D97-AF65-F5344CB8AC3E}">
        <p14:creationId xmlns:p14="http://schemas.microsoft.com/office/powerpoint/2010/main" val="2635628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FC4F0-8DBD-DCDF-D517-89804E2AE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79014-C86C-6519-D204-D1B57D44E7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36227-16BA-9EB9-4510-716735A676A1}"/>
              </a:ext>
            </a:extLst>
          </p:cNvPr>
          <p:cNvSpPr>
            <a:spLocks noGrp="1"/>
          </p:cNvSpPr>
          <p:nvPr>
            <p:ph type="body" idx="1"/>
          </p:nvPr>
        </p:nvSpPr>
        <p:spPr/>
        <p:txBody>
          <a:bodyPr/>
          <a:lstStyle/>
          <a:p>
            <a:r>
              <a:rPr lang="en-US" dirty="0"/>
              <a:t>We can take a look into how the IVSN model construct an attention map.</a:t>
            </a:r>
          </a:p>
          <a:p>
            <a:endParaRPr lang="en-US" dirty="0"/>
          </a:p>
          <a:p>
            <a:r>
              <a:rPr lang="en-US" dirty="0"/>
              <a:t>We can see that the model take in both Context and Target image at the same time, and they are both going through the VGG16 model, but at the final layer, in the target side, the model apply a max pool layer while on the context side the model keep the size intact.</a:t>
            </a:r>
          </a:p>
          <a:p>
            <a:endParaRPr lang="en-US" dirty="0"/>
          </a:p>
          <a:p>
            <a:r>
              <a:rPr lang="en-US" dirty="0"/>
              <a:t>On the left-hand side, we can see how it conducts a first-order approximation, the final output of the target side is then dot-product with each entry of the context output side to produce a 1D attention map.</a:t>
            </a:r>
          </a:p>
          <a:p>
            <a:endParaRPr lang="en-US" dirty="0"/>
          </a:p>
        </p:txBody>
      </p:sp>
      <p:sp>
        <p:nvSpPr>
          <p:cNvPr id="4" name="Slide Number Placeholder 3">
            <a:extLst>
              <a:ext uri="{FF2B5EF4-FFF2-40B4-BE49-F238E27FC236}">
                <a16:creationId xmlns:a16="http://schemas.microsoft.com/office/drawing/2014/main" id="{F18E9D63-0C0F-0169-826E-FF43EB473B83}"/>
              </a:ext>
            </a:extLst>
          </p:cNvPr>
          <p:cNvSpPr>
            <a:spLocks noGrp="1"/>
          </p:cNvSpPr>
          <p:nvPr>
            <p:ph type="sldNum" sz="quarter" idx="5"/>
          </p:nvPr>
        </p:nvSpPr>
        <p:spPr/>
        <p:txBody>
          <a:bodyPr/>
          <a:lstStyle/>
          <a:p>
            <a:fld id="{7332F5B2-8E9E-A043-910C-D623E320FEF5}" type="slidenum">
              <a:rPr lang="en-US" smtClean="0"/>
              <a:t>17</a:t>
            </a:fld>
            <a:endParaRPr lang="en-US"/>
          </a:p>
        </p:txBody>
      </p:sp>
    </p:spTree>
    <p:extLst>
      <p:ext uri="{BB962C8B-B14F-4D97-AF65-F5344CB8AC3E}">
        <p14:creationId xmlns:p14="http://schemas.microsoft.com/office/powerpoint/2010/main" val="4247262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9481B-0512-9519-4F32-7015AEAB7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D7E53-E720-2104-047B-3791CD9FB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1D6D2-1EBB-7851-E4B4-0B9B5FB7ECE5}"/>
              </a:ext>
            </a:extLst>
          </p:cNvPr>
          <p:cNvSpPr>
            <a:spLocks noGrp="1"/>
          </p:cNvSpPr>
          <p:nvPr>
            <p:ph type="body" idx="1"/>
          </p:nvPr>
        </p:nvSpPr>
        <p:spPr/>
        <p:txBody>
          <a:bodyPr/>
          <a:lstStyle/>
          <a:p>
            <a:r>
              <a:rPr lang="en-US" dirty="0"/>
              <a:t>But we do not stop at that point, we still need to find where the target is</a:t>
            </a:r>
          </a:p>
          <a:p>
            <a:endParaRPr lang="en-US" dirty="0"/>
          </a:p>
          <a:p>
            <a:r>
              <a:rPr lang="en-US" dirty="0"/>
              <a:t>This algorithm will show how can we find the target with Inhibition of return IOR.</a:t>
            </a:r>
          </a:p>
        </p:txBody>
      </p:sp>
      <p:sp>
        <p:nvSpPr>
          <p:cNvPr id="4" name="Slide Number Placeholder 3">
            <a:extLst>
              <a:ext uri="{FF2B5EF4-FFF2-40B4-BE49-F238E27FC236}">
                <a16:creationId xmlns:a16="http://schemas.microsoft.com/office/drawing/2014/main" id="{1EB86F68-B46D-0E96-8D3C-C09085582DB5}"/>
              </a:ext>
            </a:extLst>
          </p:cNvPr>
          <p:cNvSpPr>
            <a:spLocks noGrp="1"/>
          </p:cNvSpPr>
          <p:nvPr>
            <p:ph type="sldNum" sz="quarter" idx="5"/>
          </p:nvPr>
        </p:nvSpPr>
        <p:spPr/>
        <p:txBody>
          <a:bodyPr/>
          <a:lstStyle/>
          <a:p>
            <a:fld id="{7332F5B2-8E9E-A043-910C-D623E320FEF5}" type="slidenum">
              <a:rPr lang="en-US" smtClean="0"/>
              <a:t>18</a:t>
            </a:fld>
            <a:endParaRPr lang="en-US"/>
          </a:p>
        </p:txBody>
      </p:sp>
    </p:spTree>
    <p:extLst>
      <p:ext uri="{BB962C8B-B14F-4D97-AF65-F5344CB8AC3E}">
        <p14:creationId xmlns:p14="http://schemas.microsoft.com/office/powerpoint/2010/main" val="326439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9FE84-1E88-1FF5-4E2B-FEE852B59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BB506-B408-A8E8-7C5D-DAB8B7CA0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38415-54C6-A7C0-44DF-651DC63C318E}"/>
              </a:ext>
            </a:extLst>
          </p:cNvPr>
          <p:cNvSpPr>
            <a:spLocks noGrp="1"/>
          </p:cNvSpPr>
          <p:nvPr>
            <p:ph type="body" idx="1"/>
          </p:nvPr>
        </p:nvSpPr>
        <p:spPr/>
        <p:txBody>
          <a:bodyPr/>
          <a:lstStyle/>
          <a:p>
            <a:r>
              <a:rPr lang="en-US" dirty="0"/>
              <a:t>First we will find the highest similarity between the target and the context (the brightest spot on the attention map)</a:t>
            </a:r>
          </a:p>
        </p:txBody>
      </p:sp>
      <p:sp>
        <p:nvSpPr>
          <p:cNvPr id="4" name="Slide Number Placeholder 3">
            <a:extLst>
              <a:ext uri="{FF2B5EF4-FFF2-40B4-BE49-F238E27FC236}">
                <a16:creationId xmlns:a16="http://schemas.microsoft.com/office/drawing/2014/main" id="{D2ADEFDA-8F21-1035-38A1-98764CC4F282}"/>
              </a:ext>
            </a:extLst>
          </p:cNvPr>
          <p:cNvSpPr>
            <a:spLocks noGrp="1"/>
          </p:cNvSpPr>
          <p:nvPr>
            <p:ph type="sldNum" sz="quarter" idx="5"/>
          </p:nvPr>
        </p:nvSpPr>
        <p:spPr/>
        <p:txBody>
          <a:bodyPr/>
          <a:lstStyle/>
          <a:p>
            <a:fld id="{7332F5B2-8E9E-A043-910C-D623E320FEF5}" type="slidenum">
              <a:rPr lang="en-US" smtClean="0"/>
              <a:t>19</a:t>
            </a:fld>
            <a:endParaRPr lang="en-US"/>
          </a:p>
        </p:txBody>
      </p:sp>
    </p:spTree>
    <p:extLst>
      <p:ext uri="{BB962C8B-B14F-4D97-AF65-F5344CB8AC3E}">
        <p14:creationId xmlns:p14="http://schemas.microsoft.com/office/powerpoint/2010/main" val="20432819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9AE0-425F-D645-FFA2-ED6A942BA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446B0-8513-7138-7FEE-3670ABE43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4F6F1-241B-6819-0A4C-1F2CD74280E0}"/>
              </a:ext>
            </a:extLst>
          </p:cNvPr>
          <p:cNvSpPr>
            <a:spLocks noGrp="1"/>
          </p:cNvSpPr>
          <p:nvPr>
            <p:ph type="body" idx="1"/>
          </p:nvPr>
        </p:nvSpPr>
        <p:spPr/>
        <p:txBody>
          <a:bodyPr/>
          <a:lstStyle/>
          <a:p>
            <a:r>
              <a:rPr lang="en-US" dirty="0"/>
              <a:t>If that spot is the desire destination we will return the result</a:t>
            </a:r>
          </a:p>
        </p:txBody>
      </p:sp>
      <p:sp>
        <p:nvSpPr>
          <p:cNvPr id="4" name="Slide Number Placeholder 3">
            <a:extLst>
              <a:ext uri="{FF2B5EF4-FFF2-40B4-BE49-F238E27FC236}">
                <a16:creationId xmlns:a16="http://schemas.microsoft.com/office/drawing/2014/main" id="{9E78C8A6-8684-7473-BC93-DDF734E14B94}"/>
              </a:ext>
            </a:extLst>
          </p:cNvPr>
          <p:cNvSpPr>
            <a:spLocks noGrp="1"/>
          </p:cNvSpPr>
          <p:nvPr>
            <p:ph type="sldNum" sz="quarter" idx="5"/>
          </p:nvPr>
        </p:nvSpPr>
        <p:spPr/>
        <p:txBody>
          <a:bodyPr/>
          <a:lstStyle/>
          <a:p>
            <a:fld id="{7332F5B2-8E9E-A043-910C-D623E320FEF5}" type="slidenum">
              <a:rPr lang="en-US" smtClean="0"/>
              <a:t>20</a:t>
            </a:fld>
            <a:endParaRPr lang="en-US"/>
          </a:p>
        </p:txBody>
      </p:sp>
    </p:spTree>
    <p:extLst>
      <p:ext uri="{BB962C8B-B14F-4D97-AF65-F5344CB8AC3E}">
        <p14:creationId xmlns:p14="http://schemas.microsoft.com/office/powerpoint/2010/main" val="25275594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36DE6-B0D6-4185-7B92-17DE7761C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20987-4CCA-9195-545B-C262B717AC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4A125-BC2B-F44F-6094-868706C80A18}"/>
              </a:ext>
            </a:extLst>
          </p:cNvPr>
          <p:cNvSpPr>
            <a:spLocks noGrp="1"/>
          </p:cNvSpPr>
          <p:nvPr>
            <p:ph type="body" idx="1"/>
          </p:nvPr>
        </p:nvSpPr>
        <p:spPr/>
        <p:txBody>
          <a:bodyPr/>
          <a:lstStyle/>
          <a:p>
            <a:r>
              <a:rPr lang="en-US" dirty="0"/>
              <a:t>Otherwise we will continue with the following steps</a:t>
            </a:r>
          </a:p>
        </p:txBody>
      </p:sp>
      <p:sp>
        <p:nvSpPr>
          <p:cNvPr id="4" name="Slide Number Placeholder 3">
            <a:extLst>
              <a:ext uri="{FF2B5EF4-FFF2-40B4-BE49-F238E27FC236}">
                <a16:creationId xmlns:a16="http://schemas.microsoft.com/office/drawing/2014/main" id="{61191889-DE14-544E-F923-8EB38609B8E8}"/>
              </a:ext>
            </a:extLst>
          </p:cNvPr>
          <p:cNvSpPr>
            <a:spLocks noGrp="1"/>
          </p:cNvSpPr>
          <p:nvPr>
            <p:ph type="sldNum" sz="quarter" idx="5"/>
          </p:nvPr>
        </p:nvSpPr>
        <p:spPr/>
        <p:txBody>
          <a:bodyPr/>
          <a:lstStyle/>
          <a:p>
            <a:fld id="{7332F5B2-8E9E-A043-910C-D623E320FEF5}" type="slidenum">
              <a:rPr lang="en-US" smtClean="0"/>
              <a:t>21</a:t>
            </a:fld>
            <a:endParaRPr lang="en-US"/>
          </a:p>
        </p:txBody>
      </p:sp>
    </p:spTree>
    <p:extLst>
      <p:ext uri="{BB962C8B-B14F-4D97-AF65-F5344CB8AC3E}">
        <p14:creationId xmlns:p14="http://schemas.microsoft.com/office/powerpoint/2010/main" val="40065888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4C87-8855-0B10-3A71-D1A039E85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A9F8F-98EF-6F25-A3C7-030EEEF8A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F6D4D-682B-3720-D7E1-599E212F6051}"/>
              </a:ext>
            </a:extLst>
          </p:cNvPr>
          <p:cNvSpPr>
            <a:spLocks noGrp="1"/>
          </p:cNvSpPr>
          <p:nvPr>
            <p:ph type="body" idx="1"/>
          </p:nvPr>
        </p:nvSpPr>
        <p:spPr/>
        <p:txBody>
          <a:bodyPr/>
          <a:lstStyle/>
          <a:p>
            <a:r>
              <a:rPr lang="en-US" dirty="0"/>
              <a:t>We will set them to “0” which effectively means that we will never visit that spot again in the future</a:t>
            </a:r>
          </a:p>
        </p:txBody>
      </p:sp>
      <p:sp>
        <p:nvSpPr>
          <p:cNvPr id="4" name="Slide Number Placeholder 3">
            <a:extLst>
              <a:ext uri="{FF2B5EF4-FFF2-40B4-BE49-F238E27FC236}">
                <a16:creationId xmlns:a16="http://schemas.microsoft.com/office/drawing/2014/main" id="{0E87A6FE-17EE-34FD-2121-D50C18B2EF22}"/>
              </a:ext>
            </a:extLst>
          </p:cNvPr>
          <p:cNvSpPr>
            <a:spLocks noGrp="1"/>
          </p:cNvSpPr>
          <p:nvPr>
            <p:ph type="sldNum" sz="quarter" idx="5"/>
          </p:nvPr>
        </p:nvSpPr>
        <p:spPr/>
        <p:txBody>
          <a:bodyPr/>
          <a:lstStyle/>
          <a:p>
            <a:fld id="{7332F5B2-8E9E-A043-910C-D623E320FEF5}" type="slidenum">
              <a:rPr lang="en-US" smtClean="0"/>
              <a:t>22</a:t>
            </a:fld>
            <a:endParaRPr lang="en-US"/>
          </a:p>
        </p:txBody>
      </p:sp>
    </p:spTree>
    <p:extLst>
      <p:ext uri="{BB962C8B-B14F-4D97-AF65-F5344CB8AC3E}">
        <p14:creationId xmlns:p14="http://schemas.microsoft.com/office/powerpoint/2010/main" val="31915176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2BCBE-DF07-0486-449E-57C64662C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94138-6ABE-83A3-A165-9F915FB46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F1B68F-CA6C-2E51-27BC-F1B4533CECA4}"/>
              </a:ext>
            </a:extLst>
          </p:cNvPr>
          <p:cNvSpPr>
            <a:spLocks noGrp="1"/>
          </p:cNvSpPr>
          <p:nvPr>
            <p:ph type="body" idx="1"/>
          </p:nvPr>
        </p:nvSpPr>
        <p:spPr/>
        <p:txBody>
          <a:bodyPr/>
          <a:lstStyle/>
          <a:p>
            <a:r>
              <a:rPr lang="en-US" dirty="0"/>
              <a:t>And we keep repeating until we find the target</a:t>
            </a:r>
          </a:p>
        </p:txBody>
      </p:sp>
      <p:sp>
        <p:nvSpPr>
          <p:cNvPr id="4" name="Slide Number Placeholder 3">
            <a:extLst>
              <a:ext uri="{FF2B5EF4-FFF2-40B4-BE49-F238E27FC236}">
                <a16:creationId xmlns:a16="http://schemas.microsoft.com/office/drawing/2014/main" id="{941BFF5C-A011-F511-648B-C4C7CAEEBB63}"/>
              </a:ext>
            </a:extLst>
          </p:cNvPr>
          <p:cNvSpPr>
            <a:spLocks noGrp="1"/>
          </p:cNvSpPr>
          <p:nvPr>
            <p:ph type="sldNum" sz="quarter" idx="5"/>
          </p:nvPr>
        </p:nvSpPr>
        <p:spPr/>
        <p:txBody>
          <a:bodyPr/>
          <a:lstStyle/>
          <a:p>
            <a:fld id="{7332F5B2-8E9E-A043-910C-D623E320FEF5}" type="slidenum">
              <a:rPr lang="en-US" smtClean="0"/>
              <a:t>23</a:t>
            </a:fld>
            <a:endParaRPr lang="en-US"/>
          </a:p>
        </p:txBody>
      </p:sp>
    </p:spTree>
    <p:extLst>
      <p:ext uri="{BB962C8B-B14F-4D97-AF65-F5344CB8AC3E}">
        <p14:creationId xmlns:p14="http://schemas.microsoft.com/office/powerpoint/2010/main" val="3276410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21DF8-EEFA-8563-4677-7B994660E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CCBF27-3A72-0E0C-A640-69735F9A0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48BD99-0337-DFD8-7EFB-CFBF25350767}"/>
              </a:ext>
            </a:extLst>
          </p:cNvPr>
          <p:cNvSpPr>
            <a:spLocks noGrp="1"/>
          </p:cNvSpPr>
          <p:nvPr>
            <p:ph type="body" idx="1"/>
          </p:nvPr>
        </p:nvSpPr>
        <p:spPr/>
        <p:txBody>
          <a:bodyPr/>
          <a:lstStyle/>
          <a:p>
            <a:r>
              <a:rPr lang="en-US" dirty="0"/>
              <a:t>Let say this spot is the target</a:t>
            </a:r>
          </a:p>
        </p:txBody>
      </p:sp>
      <p:sp>
        <p:nvSpPr>
          <p:cNvPr id="4" name="Slide Number Placeholder 3">
            <a:extLst>
              <a:ext uri="{FF2B5EF4-FFF2-40B4-BE49-F238E27FC236}">
                <a16:creationId xmlns:a16="http://schemas.microsoft.com/office/drawing/2014/main" id="{D75C5288-3EB1-40A0-6447-50C02EEC4AB4}"/>
              </a:ext>
            </a:extLst>
          </p:cNvPr>
          <p:cNvSpPr>
            <a:spLocks noGrp="1"/>
          </p:cNvSpPr>
          <p:nvPr>
            <p:ph type="sldNum" sz="quarter" idx="5"/>
          </p:nvPr>
        </p:nvSpPr>
        <p:spPr/>
        <p:txBody>
          <a:bodyPr/>
          <a:lstStyle/>
          <a:p>
            <a:fld id="{7332F5B2-8E9E-A043-910C-D623E320FEF5}" type="slidenum">
              <a:rPr lang="en-US" smtClean="0"/>
              <a:t>24</a:t>
            </a:fld>
            <a:endParaRPr lang="en-US"/>
          </a:p>
        </p:txBody>
      </p:sp>
    </p:spTree>
    <p:extLst>
      <p:ext uri="{BB962C8B-B14F-4D97-AF65-F5344CB8AC3E}">
        <p14:creationId xmlns:p14="http://schemas.microsoft.com/office/powerpoint/2010/main" val="3707092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86D46-D967-564C-0ABD-EE69AE0EB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DE493-5B62-41AA-497A-09998D392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27B9C0-9F15-BD2D-2CDD-D68FADA79C64}"/>
              </a:ext>
            </a:extLst>
          </p:cNvPr>
          <p:cNvSpPr>
            <a:spLocks noGrp="1"/>
          </p:cNvSpPr>
          <p:nvPr>
            <p:ph type="body" idx="1"/>
          </p:nvPr>
        </p:nvSpPr>
        <p:spPr/>
        <p:txBody>
          <a:bodyPr/>
          <a:lstStyle/>
          <a:p>
            <a:r>
              <a:rPr lang="en-US" dirty="0"/>
              <a:t>We return the value</a:t>
            </a:r>
          </a:p>
        </p:txBody>
      </p:sp>
      <p:sp>
        <p:nvSpPr>
          <p:cNvPr id="4" name="Slide Number Placeholder 3">
            <a:extLst>
              <a:ext uri="{FF2B5EF4-FFF2-40B4-BE49-F238E27FC236}">
                <a16:creationId xmlns:a16="http://schemas.microsoft.com/office/drawing/2014/main" id="{8B3AF785-693A-B074-66DE-DADC83C00F03}"/>
              </a:ext>
            </a:extLst>
          </p:cNvPr>
          <p:cNvSpPr>
            <a:spLocks noGrp="1"/>
          </p:cNvSpPr>
          <p:nvPr>
            <p:ph type="sldNum" sz="quarter" idx="5"/>
          </p:nvPr>
        </p:nvSpPr>
        <p:spPr/>
        <p:txBody>
          <a:bodyPr/>
          <a:lstStyle/>
          <a:p>
            <a:fld id="{7332F5B2-8E9E-A043-910C-D623E320FEF5}" type="slidenum">
              <a:rPr lang="en-US" smtClean="0"/>
              <a:t>25</a:t>
            </a:fld>
            <a:endParaRPr lang="en-US"/>
          </a:p>
        </p:txBody>
      </p:sp>
    </p:spTree>
    <p:extLst>
      <p:ext uri="{BB962C8B-B14F-4D97-AF65-F5344CB8AC3E}">
        <p14:creationId xmlns:p14="http://schemas.microsoft.com/office/powerpoint/2010/main" val="26524560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ED86F-A59F-D823-FDB2-813F3E0DA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A5735-758E-66F4-A897-8C3D3548A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69AE2-96AC-8E27-2CCE-F083B03E0A56}"/>
              </a:ext>
            </a:extLst>
          </p:cNvPr>
          <p:cNvSpPr>
            <a:spLocks noGrp="1"/>
          </p:cNvSpPr>
          <p:nvPr>
            <p:ph type="body" idx="1"/>
          </p:nvPr>
        </p:nvSpPr>
        <p:spPr/>
        <p:txBody>
          <a:bodyPr/>
          <a:lstStyle/>
          <a:p>
            <a:r>
              <a:rPr lang="en-US" dirty="0"/>
              <a:t>Dr. Zhang Mengmi and her colleague research validate the cognitive theory proposed by Wolfe in 1994.</a:t>
            </a:r>
          </a:p>
          <a:p>
            <a:endParaRPr lang="en-US" dirty="0"/>
          </a:p>
          <a:p>
            <a:r>
              <a:rPr lang="en-US" dirty="0"/>
              <a:t>On top of that, the model also show its capability of zero-shot invariant, which allow for searching object of the same categories but with different appearance.</a:t>
            </a:r>
          </a:p>
        </p:txBody>
      </p:sp>
      <p:sp>
        <p:nvSpPr>
          <p:cNvPr id="4" name="Slide Number Placeholder 3">
            <a:extLst>
              <a:ext uri="{FF2B5EF4-FFF2-40B4-BE49-F238E27FC236}">
                <a16:creationId xmlns:a16="http://schemas.microsoft.com/office/drawing/2014/main" id="{A57C739D-62E0-0506-0AD8-CD26B0586097}"/>
              </a:ext>
            </a:extLst>
          </p:cNvPr>
          <p:cNvSpPr>
            <a:spLocks noGrp="1"/>
          </p:cNvSpPr>
          <p:nvPr>
            <p:ph type="sldNum" sz="quarter" idx="5"/>
          </p:nvPr>
        </p:nvSpPr>
        <p:spPr/>
        <p:txBody>
          <a:bodyPr/>
          <a:lstStyle/>
          <a:p>
            <a:fld id="{7332F5B2-8E9E-A043-910C-D623E320FEF5}" type="slidenum">
              <a:rPr lang="en-US" smtClean="0"/>
              <a:t>26</a:t>
            </a:fld>
            <a:endParaRPr lang="en-US"/>
          </a:p>
        </p:txBody>
      </p:sp>
    </p:spTree>
    <p:extLst>
      <p:ext uri="{BB962C8B-B14F-4D97-AF65-F5344CB8AC3E}">
        <p14:creationId xmlns:p14="http://schemas.microsoft.com/office/powerpoint/2010/main" val="12436293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F120F-473B-660E-EA04-7CB2A27E1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4927F-C571-A9E7-1FB6-F73EEB795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3A2BE-EB63-8ADF-4DBD-7A3CB7138FB8}"/>
              </a:ext>
            </a:extLst>
          </p:cNvPr>
          <p:cNvSpPr>
            <a:spLocks noGrp="1"/>
          </p:cNvSpPr>
          <p:nvPr>
            <p:ph type="body" idx="1"/>
          </p:nvPr>
        </p:nvSpPr>
        <p:spPr/>
        <p:txBody>
          <a:bodyPr/>
          <a:lstStyle/>
          <a:p>
            <a:r>
              <a:rPr lang="en-US" dirty="0"/>
              <a:t>Just as Wolfe refined his model, our effort in this FYP is to introduce contextual information to guide the visual search task.</a:t>
            </a:r>
          </a:p>
        </p:txBody>
      </p:sp>
      <p:sp>
        <p:nvSpPr>
          <p:cNvPr id="4" name="Slide Number Placeholder 3">
            <a:extLst>
              <a:ext uri="{FF2B5EF4-FFF2-40B4-BE49-F238E27FC236}">
                <a16:creationId xmlns:a16="http://schemas.microsoft.com/office/drawing/2014/main" id="{87B534EB-ECE1-3C6E-87BD-11DA3FC585CC}"/>
              </a:ext>
            </a:extLst>
          </p:cNvPr>
          <p:cNvSpPr>
            <a:spLocks noGrp="1"/>
          </p:cNvSpPr>
          <p:nvPr>
            <p:ph type="sldNum" sz="quarter" idx="5"/>
          </p:nvPr>
        </p:nvSpPr>
        <p:spPr/>
        <p:txBody>
          <a:bodyPr/>
          <a:lstStyle/>
          <a:p>
            <a:fld id="{7332F5B2-8E9E-A043-910C-D623E320FEF5}" type="slidenum">
              <a:rPr lang="en-US" smtClean="0"/>
              <a:t>27</a:t>
            </a:fld>
            <a:endParaRPr lang="en-US"/>
          </a:p>
        </p:txBody>
      </p:sp>
    </p:spTree>
    <p:extLst>
      <p:ext uri="{BB962C8B-B14F-4D97-AF65-F5344CB8AC3E}">
        <p14:creationId xmlns:p14="http://schemas.microsoft.com/office/powerpoint/2010/main" val="702677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97141-5124-84A7-0D88-24E48ACD0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6AFF1-0B90-33DF-9C35-47B0F08969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4EEF0-415E-95D6-6F17-FE2AFC87A1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661CAF-1A49-FF1F-50A6-7AA993CDF226}"/>
              </a:ext>
            </a:extLst>
          </p:cNvPr>
          <p:cNvSpPr>
            <a:spLocks noGrp="1"/>
          </p:cNvSpPr>
          <p:nvPr>
            <p:ph type="sldNum" sz="quarter" idx="5"/>
          </p:nvPr>
        </p:nvSpPr>
        <p:spPr/>
        <p:txBody>
          <a:bodyPr/>
          <a:lstStyle/>
          <a:p>
            <a:fld id="{7332F5B2-8E9E-A043-910C-D623E320FEF5}" type="slidenum">
              <a:rPr lang="en-US" smtClean="0"/>
              <a:t>28</a:t>
            </a:fld>
            <a:endParaRPr lang="en-US"/>
          </a:p>
        </p:txBody>
      </p:sp>
    </p:spTree>
    <p:extLst>
      <p:ext uri="{BB962C8B-B14F-4D97-AF65-F5344CB8AC3E}">
        <p14:creationId xmlns:p14="http://schemas.microsoft.com/office/powerpoint/2010/main" val="20967825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76BE-6F05-6DC8-ECAF-4EB6D96C4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AB5E6-48BD-CB59-8E2F-682898A90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D3C04-3144-948E-E545-301DF21483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709E00-5766-D2EB-8B51-B6B04EBCAD60}"/>
              </a:ext>
            </a:extLst>
          </p:cNvPr>
          <p:cNvSpPr>
            <a:spLocks noGrp="1"/>
          </p:cNvSpPr>
          <p:nvPr>
            <p:ph type="sldNum" sz="quarter" idx="5"/>
          </p:nvPr>
        </p:nvSpPr>
        <p:spPr/>
        <p:txBody>
          <a:bodyPr/>
          <a:lstStyle/>
          <a:p>
            <a:fld id="{7332F5B2-8E9E-A043-910C-D623E320FEF5}" type="slidenum">
              <a:rPr lang="en-US" smtClean="0"/>
              <a:t>29</a:t>
            </a:fld>
            <a:endParaRPr lang="en-US"/>
          </a:p>
        </p:txBody>
      </p:sp>
    </p:spTree>
    <p:extLst>
      <p:ext uri="{BB962C8B-B14F-4D97-AF65-F5344CB8AC3E}">
        <p14:creationId xmlns:p14="http://schemas.microsoft.com/office/powerpoint/2010/main" val="39899706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74DC4-E2E0-0F3C-E9EE-55EE137F8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B0E4F-28C4-3EBB-E0A5-941FB5718F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678D8-4986-E668-DC0D-130BC0AE2C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A3593-68F6-26EC-4436-19343ACF5C82}"/>
              </a:ext>
            </a:extLst>
          </p:cNvPr>
          <p:cNvSpPr>
            <a:spLocks noGrp="1"/>
          </p:cNvSpPr>
          <p:nvPr>
            <p:ph type="sldNum" sz="quarter" idx="5"/>
          </p:nvPr>
        </p:nvSpPr>
        <p:spPr/>
        <p:txBody>
          <a:bodyPr/>
          <a:lstStyle/>
          <a:p>
            <a:fld id="{7332F5B2-8E9E-A043-910C-D623E320FEF5}" type="slidenum">
              <a:rPr lang="en-US" smtClean="0"/>
              <a:t>30</a:t>
            </a:fld>
            <a:endParaRPr lang="en-US"/>
          </a:p>
        </p:txBody>
      </p:sp>
    </p:spTree>
    <p:extLst>
      <p:ext uri="{BB962C8B-B14F-4D97-AF65-F5344CB8AC3E}">
        <p14:creationId xmlns:p14="http://schemas.microsoft.com/office/powerpoint/2010/main" val="4117757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1E993-E3F9-DF3E-D9B8-3644A060E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A8B7A-40C0-1596-712F-E9E06220E5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4584E-16C2-A258-C327-7043C1311B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2FD689-5E34-E229-B3FB-F5C1E58E4486}"/>
              </a:ext>
            </a:extLst>
          </p:cNvPr>
          <p:cNvSpPr>
            <a:spLocks noGrp="1"/>
          </p:cNvSpPr>
          <p:nvPr>
            <p:ph type="sldNum" sz="quarter" idx="5"/>
          </p:nvPr>
        </p:nvSpPr>
        <p:spPr/>
        <p:txBody>
          <a:bodyPr/>
          <a:lstStyle/>
          <a:p>
            <a:fld id="{7332F5B2-8E9E-A043-910C-D623E320FEF5}" type="slidenum">
              <a:rPr lang="en-US" smtClean="0"/>
              <a:t>31</a:t>
            </a:fld>
            <a:endParaRPr lang="en-US"/>
          </a:p>
        </p:txBody>
      </p:sp>
    </p:spTree>
    <p:extLst>
      <p:ext uri="{BB962C8B-B14F-4D97-AF65-F5344CB8AC3E}">
        <p14:creationId xmlns:p14="http://schemas.microsoft.com/office/powerpoint/2010/main" val="25750305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421E7-A926-4B59-2A47-3631C42F1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3CE71-50AA-B53F-3905-C7E1ADBAB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05F8A-BA2F-5A55-0FDD-93581A2C76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23945F-AE16-7F39-1038-B46BB3243193}"/>
              </a:ext>
            </a:extLst>
          </p:cNvPr>
          <p:cNvSpPr>
            <a:spLocks noGrp="1"/>
          </p:cNvSpPr>
          <p:nvPr>
            <p:ph type="sldNum" sz="quarter" idx="5"/>
          </p:nvPr>
        </p:nvSpPr>
        <p:spPr/>
        <p:txBody>
          <a:bodyPr/>
          <a:lstStyle/>
          <a:p>
            <a:fld id="{7332F5B2-8E9E-A043-910C-D623E320FEF5}" type="slidenum">
              <a:rPr lang="en-US" smtClean="0"/>
              <a:t>32</a:t>
            </a:fld>
            <a:endParaRPr lang="en-US"/>
          </a:p>
        </p:txBody>
      </p:sp>
    </p:spTree>
    <p:extLst>
      <p:ext uri="{BB962C8B-B14F-4D97-AF65-F5344CB8AC3E}">
        <p14:creationId xmlns:p14="http://schemas.microsoft.com/office/powerpoint/2010/main" val="32034458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B23E4-62CC-E4D6-4050-1A9DB464C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07BB1-25DE-7461-71C4-D774BE903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9A08F-29DD-0F22-2B7E-B1C1D5A505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A80A5C-9461-15C7-4FDC-FAAC1ACCB446}"/>
              </a:ext>
            </a:extLst>
          </p:cNvPr>
          <p:cNvSpPr>
            <a:spLocks noGrp="1"/>
          </p:cNvSpPr>
          <p:nvPr>
            <p:ph type="sldNum" sz="quarter" idx="5"/>
          </p:nvPr>
        </p:nvSpPr>
        <p:spPr/>
        <p:txBody>
          <a:bodyPr/>
          <a:lstStyle/>
          <a:p>
            <a:fld id="{7332F5B2-8E9E-A043-910C-D623E320FEF5}" type="slidenum">
              <a:rPr lang="en-US" smtClean="0"/>
              <a:t>33</a:t>
            </a:fld>
            <a:endParaRPr lang="en-US"/>
          </a:p>
        </p:txBody>
      </p:sp>
    </p:spTree>
    <p:extLst>
      <p:ext uri="{BB962C8B-B14F-4D97-AF65-F5344CB8AC3E}">
        <p14:creationId xmlns:p14="http://schemas.microsoft.com/office/powerpoint/2010/main" val="33240647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7B5F4-081B-0F80-C8C6-6E91977B4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F0316-3800-9E9A-6DC5-4D484E3DE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3F533-7A8E-7AF7-1E86-31C4E0EFA1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69204C-4981-CF8A-F6EE-B2D68FED2510}"/>
              </a:ext>
            </a:extLst>
          </p:cNvPr>
          <p:cNvSpPr>
            <a:spLocks noGrp="1"/>
          </p:cNvSpPr>
          <p:nvPr>
            <p:ph type="sldNum" sz="quarter" idx="5"/>
          </p:nvPr>
        </p:nvSpPr>
        <p:spPr/>
        <p:txBody>
          <a:bodyPr/>
          <a:lstStyle/>
          <a:p>
            <a:fld id="{7332F5B2-8E9E-A043-910C-D623E320FEF5}" type="slidenum">
              <a:rPr lang="en-US" smtClean="0"/>
              <a:t>34</a:t>
            </a:fld>
            <a:endParaRPr lang="en-US"/>
          </a:p>
        </p:txBody>
      </p:sp>
    </p:spTree>
    <p:extLst>
      <p:ext uri="{BB962C8B-B14F-4D97-AF65-F5344CB8AC3E}">
        <p14:creationId xmlns:p14="http://schemas.microsoft.com/office/powerpoint/2010/main" val="15157283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D13B-229B-634D-EFC1-3F1063EAA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8D044-5265-6995-B8A8-082AC8326D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DB1E9-3CC7-6E90-1D5F-FC01E48304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1EBC2A-7DF1-FE2D-014B-09B1E1FA4CAC}"/>
              </a:ext>
            </a:extLst>
          </p:cNvPr>
          <p:cNvSpPr>
            <a:spLocks noGrp="1"/>
          </p:cNvSpPr>
          <p:nvPr>
            <p:ph type="sldNum" sz="quarter" idx="5"/>
          </p:nvPr>
        </p:nvSpPr>
        <p:spPr/>
        <p:txBody>
          <a:bodyPr/>
          <a:lstStyle/>
          <a:p>
            <a:fld id="{7332F5B2-8E9E-A043-910C-D623E320FEF5}" type="slidenum">
              <a:rPr lang="en-US" smtClean="0"/>
              <a:t>35</a:t>
            </a:fld>
            <a:endParaRPr lang="en-US"/>
          </a:p>
        </p:txBody>
      </p:sp>
    </p:spTree>
    <p:extLst>
      <p:ext uri="{BB962C8B-B14F-4D97-AF65-F5344CB8AC3E}">
        <p14:creationId xmlns:p14="http://schemas.microsoft.com/office/powerpoint/2010/main" val="2444881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C986C-16BD-404E-2D57-F77711F11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B967A-21E7-F3FA-80F9-AEBD0CBBC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75E3B-16FE-7236-6481-47811C9BE3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652D93-EAF4-561C-B0CC-5326ACB9BD61}"/>
              </a:ext>
            </a:extLst>
          </p:cNvPr>
          <p:cNvSpPr>
            <a:spLocks noGrp="1"/>
          </p:cNvSpPr>
          <p:nvPr>
            <p:ph type="sldNum" sz="quarter" idx="5"/>
          </p:nvPr>
        </p:nvSpPr>
        <p:spPr/>
        <p:txBody>
          <a:bodyPr/>
          <a:lstStyle/>
          <a:p>
            <a:fld id="{7332F5B2-8E9E-A043-910C-D623E320FEF5}" type="slidenum">
              <a:rPr lang="en-US" smtClean="0"/>
              <a:t>36</a:t>
            </a:fld>
            <a:endParaRPr lang="en-US"/>
          </a:p>
        </p:txBody>
      </p:sp>
    </p:spTree>
    <p:extLst>
      <p:ext uri="{BB962C8B-B14F-4D97-AF65-F5344CB8AC3E}">
        <p14:creationId xmlns:p14="http://schemas.microsoft.com/office/powerpoint/2010/main" val="11591141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696E-C70D-894A-0E49-45AA87000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51410-F781-9B68-C30B-B6A0E5A4AE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B411C-448C-5901-9549-ED75B5AD86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2F47A5-DE58-C2F2-C5FB-696874D4DEA8}"/>
              </a:ext>
            </a:extLst>
          </p:cNvPr>
          <p:cNvSpPr>
            <a:spLocks noGrp="1"/>
          </p:cNvSpPr>
          <p:nvPr>
            <p:ph type="sldNum" sz="quarter" idx="5"/>
          </p:nvPr>
        </p:nvSpPr>
        <p:spPr/>
        <p:txBody>
          <a:bodyPr/>
          <a:lstStyle/>
          <a:p>
            <a:fld id="{7332F5B2-8E9E-A043-910C-D623E320FEF5}" type="slidenum">
              <a:rPr lang="en-US" smtClean="0"/>
              <a:t>37</a:t>
            </a:fld>
            <a:endParaRPr lang="en-US"/>
          </a:p>
        </p:txBody>
      </p:sp>
    </p:spTree>
    <p:extLst>
      <p:ext uri="{BB962C8B-B14F-4D97-AF65-F5344CB8AC3E}">
        <p14:creationId xmlns:p14="http://schemas.microsoft.com/office/powerpoint/2010/main" val="28782421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436BD-2676-ED1C-ABA7-18DEC59EC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B4301-168F-EF8C-1517-BEA331C9B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77F62-EBBA-3CA3-F718-623757F73B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720419-5EB5-6EA5-4749-73DC6766D0DF}"/>
              </a:ext>
            </a:extLst>
          </p:cNvPr>
          <p:cNvSpPr>
            <a:spLocks noGrp="1"/>
          </p:cNvSpPr>
          <p:nvPr>
            <p:ph type="sldNum" sz="quarter" idx="5"/>
          </p:nvPr>
        </p:nvSpPr>
        <p:spPr/>
        <p:txBody>
          <a:bodyPr/>
          <a:lstStyle/>
          <a:p>
            <a:fld id="{7332F5B2-8E9E-A043-910C-D623E320FEF5}" type="slidenum">
              <a:rPr lang="en-US" smtClean="0"/>
              <a:t>38</a:t>
            </a:fld>
            <a:endParaRPr lang="en-US"/>
          </a:p>
        </p:txBody>
      </p:sp>
    </p:spTree>
    <p:extLst>
      <p:ext uri="{BB962C8B-B14F-4D97-AF65-F5344CB8AC3E}">
        <p14:creationId xmlns:p14="http://schemas.microsoft.com/office/powerpoint/2010/main" val="15624189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9B938-A59D-FCDF-3C65-DAF51054F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951F0-C82E-0E73-5A91-D23FB158FB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BEAE5-4339-579D-6F1A-F6DF851F08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9152F4-FFFA-CE39-AE5B-A92C3EFB896D}"/>
              </a:ext>
            </a:extLst>
          </p:cNvPr>
          <p:cNvSpPr>
            <a:spLocks noGrp="1"/>
          </p:cNvSpPr>
          <p:nvPr>
            <p:ph type="sldNum" sz="quarter" idx="5"/>
          </p:nvPr>
        </p:nvSpPr>
        <p:spPr/>
        <p:txBody>
          <a:bodyPr/>
          <a:lstStyle/>
          <a:p>
            <a:fld id="{7332F5B2-8E9E-A043-910C-D623E320FEF5}" type="slidenum">
              <a:rPr lang="en-US" smtClean="0"/>
              <a:t>39</a:t>
            </a:fld>
            <a:endParaRPr lang="en-US"/>
          </a:p>
        </p:txBody>
      </p:sp>
    </p:spTree>
    <p:extLst>
      <p:ext uri="{BB962C8B-B14F-4D97-AF65-F5344CB8AC3E}">
        <p14:creationId xmlns:p14="http://schemas.microsoft.com/office/powerpoint/2010/main" val="29409862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32F5B2-8E9E-A043-910C-D623E320FEF5}" type="slidenum">
              <a:rPr lang="en-US" smtClean="0"/>
              <a:t>45</a:t>
            </a:fld>
            <a:endParaRPr lang="en-US"/>
          </a:p>
        </p:txBody>
      </p:sp>
    </p:spTree>
    <p:extLst>
      <p:ext uri="{BB962C8B-B14F-4D97-AF65-F5344CB8AC3E}">
        <p14:creationId xmlns:p14="http://schemas.microsoft.com/office/powerpoint/2010/main" val="19026291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35518-F45D-2A8F-0375-A607D2F6D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F48DA-C6E4-D54E-984A-834D96808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1384F-7691-4BB0-598B-5A80CBE6BF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2E9D7D-E2C1-D514-6477-B60878E42E72}"/>
              </a:ext>
            </a:extLst>
          </p:cNvPr>
          <p:cNvSpPr>
            <a:spLocks noGrp="1"/>
          </p:cNvSpPr>
          <p:nvPr>
            <p:ph type="sldNum" sz="quarter" idx="5"/>
          </p:nvPr>
        </p:nvSpPr>
        <p:spPr/>
        <p:txBody>
          <a:bodyPr/>
          <a:lstStyle/>
          <a:p>
            <a:fld id="{7332F5B2-8E9E-A043-910C-D623E320FEF5}" type="slidenum">
              <a:rPr lang="en-US" smtClean="0"/>
              <a:t>46</a:t>
            </a:fld>
            <a:endParaRPr lang="en-US"/>
          </a:p>
        </p:txBody>
      </p:sp>
    </p:spTree>
    <p:extLst>
      <p:ext uri="{BB962C8B-B14F-4D97-AF65-F5344CB8AC3E}">
        <p14:creationId xmlns:p14="http://schemas.microsoft.com/office/powerpoint/2010/main" val="39476531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28F2E-D6E4-85D8-4D24-EBB2071F6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FAF16-BB65-0863-2889-5D416906A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84FC6-1CF4-BE83-16E6-02A9730158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E8D5F4-0BE2-69F0-17ED-AD420A1C5B79}"/>
              </a:ext>
            </a:extLst>
          </p:cNvPr>
          <p:cNvSpPr>
            <a:spLocks noGrp="1"/>
          </p:cNvSpPr>
          <p:nvPr>
            <p:ph type="sldNum" sz="quarter" idx="5"/>
          </p:nvPr>
        </p:nvSpPr>
        <p:spPr/>
        <p:txBody>
          <a:bodyPr/>
          <a:lstStyle/>
          <a:p>
            <a:fld id="{7332F5B2-8E9E-A043-910C-D623E320FEF5}" type="slidenum">
              <a:rPr lang="en-US" smtClean="0"/>
              <a:t>47</a:t>
            </a:fld>
            <a:endParaRPr lang="en-US"/>
          </a:p>
        </p:txBody>
      </p:sp>
    </p:spTree>
    <p:extLst>
      <p:ext uri="{BB962C8B-B14F-4D97-AF65-F5344CB8AC3E}">
        <p14:creationId xmlns:p14="http://schemas.microsoft.com/office/powerpoint/2010/main" val="840744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5/7/26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3056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5/7/26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45651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5/7/26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4676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5/7/26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18302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5/7/26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39578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5/7/26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2938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5/7/26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76033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5/7/26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84757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5/7/26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2324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5/7/26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9367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5/7/26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15563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5/7/26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776946"/>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62" r:id="rId6"/>
    <p:sldLayoutId id="2147483857" r:id="rId7"/>
    <p:sldLayoutId id="2147483858" r:id="rId8"/>
    <p:sldLayoutId id="2147483859" r:id="rId9"/>
    <p:sldLayoutId id="2147483861" r:id="rId10"/>
    <p:sldLayoutId id="214748386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646786-085D-A94E-D997-199C49A1358A}"/>
              </a:ext>
            </a:extLst>
          </p:cNvPr>
          <p:cNvSpPr>
            <a:spLocks noGrp="1"/>
          </p:cNvSpPr>
          <p:nvPr>
            <p:ph type="ctrTitle"/>
          </p:nvPr>
        </p:nvSpPr>
        <p:spPr>
          <a:xfrm>
            <a:off x="703400" y="908651"/>
            <a:ext cx="4937004" cy="4058682"/>
          </a:xfrm>
        </p:spPr>
        <p:txBody>
          <a:bodyPr anchor="t">
            <a:normAutofit/>
          </a:bodyPr>
          <a:lstStyle/>
          <a:p>
            <a:pPr>
              <a:lnSpc>
                <a:spcPct val="90000"/>
              </a:lnSpc>
            </a:pPr>
            <a:r>
              <a:rPr lang="en-US" sz="5000" dirty="0"/>
              <a:t>Target and Context Aware Transformer for Visual Search Task</a:t>
            </a:r>
          </a:p>
        </p:txBody>
      </p:sp>
      <p:sp>
        <p:nvSpPr>
          <p:cNvPr id="3" name="Subtitle 2">
            <a:extLst>
              <a:ext uri="{FF2B5EF4-FFF2-40B4-BE49-F238E27FC236}">
                <a16:creationId xmlns:a16="http://schemas.microsoft.com/office/drawing/2014/main" id="{F9163019-ED85-C970-AD94-DEA478391C59}"/>
              </a:ext>
            </a:extLst>
          </p:cNvPr>
          <p:cNvSpPr>
            <a:spLocks noGrp="1"/>
          </p:cNvSpPr>
          <p:nvPr>
            <p:ph type="subTitle" idx="1"/>
          </p:nvPr>
        </p:nvSpPr>
        <p:spPr>
          <a:xfrm>
            <a:off x="703400" y="5103862"/>
            <a:ext cx="4172757" cy="845487"/>
          </a:xfrm>
        </p:spPr>
        <p:txBody>
          <a:bodyPr anchor="b">
            <a:noAutofit/>
          </a:bodyPr>
          <a:lstStyle/>
          <a:p>
            <a:pPr>
              <a:lnSpc>
                <a:spcPct val="100000"/>
              </a:lnSpc>
            </a:pPr>
            <a:r>
              <a:rPr lang="en-US" sz="2400" dirty="0"/>
              <a:t>CCDS25-0028</a:t>
            </a:r>
          </a:p>
          <a:p>
            <a:pPr>
              <a:lnSpc>
                <a:spcPct val="100000"/>
              </a:lnSpc>
            </a:pPr>
            <a:r>
              <a:rPr lang="en-US" sz="2400" dirty="0"/>
              <a:t>by</a:t>
            </a:r>
          </a:p>
          <a:p>
            <a:pPr>
              <a:lnSpc>
                <a:spcPct val="100000"/>
              </a:lnSpc>
            </a:pPr>
            <a:r>
              <a:rPr lang="en-US" sz="2400" dirty="0"/>
              <a:t>Nguyen Tuan</a:t>
            </a:r>
          </a:p>
        </p:txBody>
      </p:sp>
      <p:cxnSp>
        <p:nvCxnSpPr>
          <p:cNvPr id="74" name="Straight Connector 73">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AFA811B-F8EF-7493-46EA-53C93AE01026}"/>
              </a:ext>
            </a:extLst>
          </p:cNvPr>
          <p:cNvPicPr>
            <a:picLocks noChangeAspect="1"/>
          </p:cNvPicPr>
          <p:nvPr/>
        </p:nvPicPr>
        <p:blipFill>
          <a:blip r:embed="rId3"/>
          <a:srcRect l="17551" r="27281" b="-1"/>
          <a:stretch>
            <a:fillRect/>
          </a:stretch>
        </p:blipFill>
        <p:spPr>
          <a:xfrm>
            <a:off x="6326272" y="10"/>
            <a:ext cx="5865727" cy="6857990"/>
          </a:xfrm>
          <a:prstGeom prst="rect">
            <a:avLst/>
          </a:prstGeom>
        </p:spPr>
      </p:pic>
    </p:spTree>
    <p:extLst>
      <p:ext uri="{BB962C8B-B14F-4D97-AF65-F5344CB8AC3E}">
        <p14:creationId xmlns:p14="http://schemas.microsoft.com/office/powerpoint/2010/main" val="225820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630DEB-1123-9E06-71D8-60E7CB4CE3AD}"/>
              </a:ext>
            </a:extLst>
          </p:cNvPr>
          <p:cNvSpPr>
            <a:spLocks noGrp="1"/>
          </p:cNvSpPr>
          <p:nvPr>
            <p:ph type="title"/>
          </p:nvPr>
        </p:nvSpPr>
        <p:spPr>
          <a:xfrm>
            <a:off x="700087" y="909638"/>
            <a:ext cx="10691813" cy="1155618"/>
          </a:xfrm>
        </p:spPr>
        <p:txBody>
          <a:bodyPr>
            <a:normAutofit/>
          </a:bodyPr>
          <a:lstStyle/>
          <a:p>
            <a:r>
              <a:rPr lang="en-US" dirty="0"/>
              <a:t>Outline</a:t>
            </a:r>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BE66955-A8B7-B0B1-56F3-79EF1233B771}"/>
              </a:ext>
            </a:extLst>
          </p:cNvPr>
          <p:cNvGraphicFramePr>
            <a:graphicFrameLocks noGrp="1"/>
          </p:cNvGraphicFramePr>
          <p:nvPr>
            <p:ph idx="1"/>
            <p:extLst>
              <p:ext uri="{D42A27DB-BD31-4B8C-83A1-F6EECF244321}">
                <p14:modId xmlns:p14="http://schemas.microsoft.com/office/powerpoint/2010/main" val="568538646"/>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213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15C8F19-DA0E-F3B1-76ED-AD87A593B058}"/>
              </a:ext>
            </a:extLst>
          </p:cNvPr>
          <p:cNvPicPr>
            <a:picLocks noChangeAspect="1"/>
          </p:cNvPicPr>
          <p:nvPr/>
        </p:nvPicPr>
        <p:blipFill>
          <a:blip r:embed="rId3"/>
          <a:srcRect t="4553" b="20447"/>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3A460D-6B34-E416-68A0-7BF0F3B198C1}"/>
              </a:ext>
            </a:extLst>
          </p:cNvPr>
          <p:cNvSpPr>
            <a:spLocks noGrp="1"/>
          </p:cNvSpPr>
          <p:nvPr>
            <p:ph type="title"/>
          </p:nvPr>
        </p:nvSpPr>
        <p:spPr>
          <a:xfrm>
            <a:off x="704088" y="871759"/>
            <a:ext cx="5067300" cy="3497042"/>
          </a:xfrm>
        </p:spPr>
        <p:txBody>
          <a:bodyPr vert="horz" lIns="91440" tIns="45720" rIns="91440" bIns="45720" rtlCol="0" anchor="t">
            <a:normAutofit/>
          </a:bodyPr>
          <a:lstStyle/>
          <a:p>
            <a:r>
              <a:rPr lang="en-US" sz="5400" dirty="0">
                <a:solidFill>
                  <a:srgbClr val="FFFFFF"/>
                </a:solidFill>
              </a:rPr>
              <a:t>Introduction</a:t>
            </a:r>
          </a:p>
        </p:txBody>
      </p:sp>
      <p:cxnSp>
        <p:nvCxnSpPr>
          <p:cNvPr id="17" name="Straight Connector 1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437858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6D98B9-1A16-30CF-9960-E943BE1D9AC8}"/>
              </a:ext>
            </a:extLst>
          </p:cNvPr>
          <p:cNvSpPr>
            <a:spLocks noGrp="1"/>
          </p:cNvSpPr>
          <p:nvPr>
            <p:ph type="title"/>
          </p:nvPr>
        </p:nvSpPr>
        <p:spPr>
          <a:xfrm>
            <a:off x="704088" y="914400"/>
            <a:ext cx="10687812" cy="798194"/>
          </a:xfrm>
        </p:spPr>
        <p:txBody>
          <a:bodyPr>
            <a:normAutofit/>
          </a:bodyPr>
          <a:lstStyle/>
          <a:p>
            <a:r>
              <a:rPr lang="en-US" dirty="0"/>
              <a:t>Introduction – Outline</a:t>
            </a:r>
          </a:p>
        </p:txBody>
      </p:sp>
      <p:cxnSp>
        <p:nvCxnSpPr>
          <p:cNvPr id="26" name="Straight Connector 2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Graphic 17" descr="Magnifying glass">
            <a:extLst>
              <a:ext uri="{FF2B5EF4-FFF2-40B4-BE49-F238E27FC236}">
                <a16:creationId xmlns:a16="http://schemas.microsoft.com/office/drawing/2014/main" id="{731A55FF-5C2E-9E12-0AD3-2B4BA43352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66381" y="1869439"/>
            <a:ext cx="4139625" cy="4139625"/>
          </a:xfrm>
          <a:prstGeom prst="rect">
            <a:avLst/>
          </a:prstGeom>
        </p:spPr>
      </p:pic>
      <p:sp>
        <p:nvSpPr>
          <p:cNvPr id="23" name="Content Placeholder 2">
            <a:extLst>
              <a:ext uri="{FF2B5EF4-FFF2-40B4-BE49-F238E27FC236}">
                <a16:creationId xmlns:a16="http://schemas.microsoft.com/office/drawing/2014/main" id="{EEA7A7DF-3A39-BF71-9A49-069E4E06B922}"/>
              </a:ext>
            </a:extLst>
          </p:cNvPr>
          <p:cNvSpPr>
            <a:spLocks noGrp="1"/>
          </p:cNvSpPr>
          <p:nvPr>
            <p:ph idx="1"/>
          </p:nvPr>
        </p:nvSpPr>
        <p:spPr>
          <a:xfrm>
            <a:off x="7200899" y="1556890"/>
            <a:ext cx="4191001" cy="4139626"/>
          </a:xfrm>
        </p:spPr>
        <p:txBody>
          <a:bodyPr anchor="b">
            <a:normAutofit fontScale="92500" lnSpcReduction="20000"/>
          </a:bodyPr>
          <a:lstStyle/>
          <a:p>
            <a:pPr algn="just"/>
            <a:r>
              <a:rPr lang="en-US" dirty="0"/>
              <a:t>The current existing visual search models are limited to the context image and neglect the target image.</a:t>
            </a:r>
          </a:p>
          <a:p>
            <a:pPr algn="just"/>
            <a:r>
              <a:rPr lang="en-US" dirty="0"/>
              <a:t>E.g. </a:t>
            </a:r>
            <a:r>
              <a:rPr lang="en-US" dirty="0" err="1"/>
              <a:t>DeepGazeIII</a:t>
            </a:r>
            <a:r>
              <a:rPr lang="en-US" dirty="0"/>
              <a:t> </a:t>
            </a:r>
            <a:r>
              <a:rPr lang="en-SG" dirty="0"/>
              <a:t>(</a:t>
            </a:r>
            <a:r>
              <a:rPr lang="en-SG" dirty="0" err="1"/>
              <a:t>Kümmerer</a:t>
            </a:r>
            <a:r>
              <a:rPr lang="en-SG" dirty="0"/>
              <a:t> et al., 2022)</a:t>
            </a:r>
            <a:endParaRPr lang="en-US" dirty="0"/>
          </a:p>
          <a:p>
            <a:pPr algn="just"/>
            <a:endParaRPr lang="en-US" dirty="0"/>
          </a:p>
          <a:p>
            <a:pPr algn="just"/>
            <a:r>
              <a:rPr lang="en-US" dirty="0"/>
              <a:t>Recognition task-based rather than an attention-map-based visual search model.</a:t>
            </a:r>
          </a:p>
          <a:p>
            <a:endParaRPr lang="en-US" dirty="0"/>
          </a:p>
          <a:p>
            <a:pPr marL="0" indent="0" algn="just">
              <a:buNone/>
            </a:pPr>
            <a:r>
              <a:rPr lang="en-US" dirty="0"/>
              <a:t>=&gt; Propose a new attention-map-based top-down visual search model mimicking human search </a:t>
            </a:r>
            <a:r>
              <a:rPr lang="en-US" dirty="0" err="1"/>
              <a:t>behaviour</a:t>
            </a:r>
            <a:endParaRPr lang="en-US" dirty="0"/>
          </a:p>
        </p:txBody>
      </p:sp>
      <p:cxnSp>
        <p:nvCxnSpPr>
          <p:cNvPr id="28" name="Straight Connector 27">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481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86DC-9DE3-59F0-64C0-A9E00547EF52}"/>
              </a:ext>
            </a:extLst>
          </p:cNvPr>
          <p:cNvSpPr>
            <a:spLocks noGrp="1"/>
          </p:cNvSpPr>
          <p:nvPr>
            <p:ph type="title"/>
          </p:nvPr>
        </p:nvSpPr>
        <p:spPr>
          <a:xfrm>
            <a:off x="700088" y="909637"/>
            <a:ext cx="6400800" cy="1307592"/>
          </a:xfrm>
        </p:spPr>
        <p:txBody>
          <a:bodyPr>
            <a:normAutofit/>
          </a:bodyPr>
          <a:lstStyle/>
          <a:p>
            <a:pPr>
              <a:lnSpc>
                <a:spcPct val="90000"/>
              </a:lnSpc>
            </a:pPr>
            <a:r>
              <a:rPr lang="en-US" dirty="0"/>
              <a:t>Introduction – Visual search</a:t>
            </a:r>
            <a:endParaRPr lang="en-US"/>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BE3309-7229-AD07-B211-200BDB8042E7}"/>
              </a:ext>
            </a:extLst>
          </p:cNvPr>
          <p:cNvSpPr>
            <a:spLocks noGrp="1"/>
          </p:cNvSpPr>
          <p:nvPr>
            <p:ph idx="1"/>
          </p:nvPr>
        </p:nvSpPr>
        <p:spPr>
          <a:xfrm>
            <a:off x="700088" y="2221992"/>
            <a:ext cx="6400800" cy="3739896"/>
          </a:xfrm>
        </p:spPr>
        <p:txBody>
          <a:bodyPr>
            <a:normAutofit/>
          </a:bodyPr>
          <a:lstStyle/>
          <a:p>
            <a:pPr algn="just"/>
            <a:r>
              <a:rPr lang="en-US" dirty="0"/>
              <a:t>Definition: A process of locating a target in a search scene, display, images, etc. that contain multiple distractors (Treisman &amp; </a:t>
            </a:r>
            <a:r>
              <a:rPr lang="en-US" dirty="0" err="1"/>
              <a:t>Gelade</a:t>
            </a:r>
            <a:r>
              <a:rPr lang="en-US" dirty="0"/>
              <a:t>, 1980).</a:t>
            </a:r>
          </a:p>
          <a:p>
            <a:endParaRPr lang="en-US" dirty="0"/>
          </a:p>
        </p:txBody>
      </p:sp>
      <p:pic>
        <p:nvPicPr>
          <p:cNvPr id="7" name="Graphic 6" descr="Target Audience">
            <a:extLst>
              <a:ext uri="{FF2B5EF4-FFF2-40B4-BE49-F238E27FC236}">
                <a16:creationId xmlns:a16="http://schemas.microsoft.com/office/drawing/2014/main" id="{B7A6BA6B-6776-2D3F-0F3F-65819E0113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0865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48" name="Straight Connector 47">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3EC9672-E538-3B1A-3564-BF01BFC2C276}"/>
              </a:ext>
            </a:extLst>
          </p:cNvPr>
          <p:cNvSpPr>
            <a:spLocks noGrp="1"/>
          </p:cNvSpPr>
          <p:nvPr>
            <p:ph type="title"/>
          </p:nvPr>
        </p:nvSpPr>
        <p:spPr>
          <a:xfrm>
            <a:off x="702129" y="914760"/>
            <a:ext cx="3678485" cy="3543764"/>
          </a:xfrm>
        </p:spPr>
        <p:txBody>
          <a:bodyPr>
            <a:normAutofit/>
          </a:bodyPr>
          <a:lstStyle/>
          <a:p>
            <a:r>
              <a:rPr lang="en-US" sz="3700" dirty="0"/>
              <a:t>Introduction - Contributions</a:t>
            </a:r>
          </a:p>
        </p:txBody>
      </p:sp>
      <p:sp>
        <p:nvSpPr>
          <p:cNvPr id="51" name="Content Placeholder 2">
            <a:extLst>
              <a:ext uri="{FF2B5EF4-FFF2-40B4-BE49-F238E27FC236}">
                <a16:creationId xmlns:a16="http://schemas.microsoft.com/office/drawing/2014/main" id="{650ED078-3BCA-D05D-0D3C-3CFAA967BD88}"/>
              </a:ext>
            </a:extLst>
          </p:cNvPr>
          <p:cNvSpPr>
            <a:spLocks noGrp="1"/>
          </p:cNvSpPr>
          <p:nvPr>
            <p:ph idx="1"/>
          </p:nvPr>
        </p:nvSpPr>
        <p:spPr>
          <a:xfrm>
            <a:off x="4773168" y="993228"/>
            <a:ext cx="6720840" cy="4935981"/>
          </a:xfrm>
        </p:spPr>
        <p:txBody>
          <a:bodyPr>
            <a:normAutofit/>
          </a:bodyPr>
          <a:lstStyle/>
          <a:p>
            <a:pPr>
              <a:lnSpc>
                <a:spcPct val="100000"/>
              </a:lnSpc>
            </a:pPr>
            <a:r>
              <a:rPr lang="en-US" sz="1700" dirty="0"/>
              <a:t>Examine </a:t>
            </a:r>
            <a:r>
              <a:rPr lang="en-US" sz="1700" b="1" dirty="0"/>
              <a:t>I</a:t>
            </a:r>
            <a:r>
              <a:rPr lang="en-US" sz="1700" dirty="0"/>
              <a:t>nvariant </a:t>
            </a:r>
            <a:r>
              <a:rPr lang="en-US" sz="1700" b="1" dirty="0"/>
              <a:t>V</a:t>
            </a:r>
            <a:r>
              <a:rPr lang="en-US" sz="1700" dirty="0"/>
              <a:t>isual </a:t>
            </a:r>
            <a:r>
              <a:rPr lang="en-US" sz="1700" b="1" dirty="0"/>
              <a:t>S</a:t>
            </a:r>
            <a:r>
              <a:rPr lang="en-US" sz="1700" dirty="0"/>
              <a:t>earch </a:t>
            </a:r>
            <a:r>
              <a:rPr lang="en-US" sz="1700" b="1" dirty="0"/>
              <a:t>N</a:t>
            </a:r>
            <a:r>
              <a:rPr lang="en-US" sz="1700" dirty="0"/>
              <a:t>etwork (</a:t>
            </a:r>
            <a:r>
              <a:rPr lang="en-US" sz="1700" b="1" dirty="0"/>
              <a:t>IVSN</a:t>
            </a:r>
            <a:r>
              <a:rPr lang="en-US" sz="1700" dirty="0"/>
              <a:t>) (Zhang et al., 2018) as an inspiration for building a computational top-down visual search model.</a:t>
            </a:r>
          </a:p>
          <a:p>
            <a:pPr>
              <a:lnSpc>
                <a:spcPct val="100000"/>
              </a:lnSpc>
            </a:pPr>
            <a:endParaRPr lang="en-US" sz="1700" dirty="0"/>
          </a:p>
          <a:p>
            <a:pPr>
              <a:lnSpc>
                <a:spcPct val="100000"/>
              </a:lnSpc>
            </a:pPr>
            <a:r>
              <a:rPr lang="en-US" sz="1700" dirty="0"/>
              <a:t>Introducing different augmentation methods on the COCO-Search18 dataset (</a:t>
            </a:r>
            <a:r>
              <a:rPr lang="en-SG" sz="1700" dirty="0"/>
              <a:t>Yang et al., 2020</a:t>
            </a:r>
            <a:r>
              <a:rPr lang="en-US" sz="1700" dirty="0"/>
              <a:t>) to train the </a:t>
            </a:r>
            <a:r>
              <a:rPr lang="en-SG" sz="1700" b="1" dirty="0"/>
              <a:t>C</a:t>
            </a:r>
            <a:r>
              <a:rPr lang="en-SG" sz="1700" dirty="0"/>
              <a:t>ontext-aware </a:t>
            </a:r>
            <a:r>
              <a:rPr lang="en-SG" sz="1700" b="1" dirty="0"/>
              <a:t>R</a:t>
            </a:r>
            <a:r>
              <a:rPr lang="en-SG" sz="1700" dirty="0"/>
              <a:t>ecognition </a:t>
            </a:r>
            <a:r>
              <a:rPr lang="en-SG" sz="1700" b="1" dirty="0"/>
              <a:t>T</a:t>
            </a:r>
            <a:r>
              <a:rPr lang="en-SG" sz="1700" dirty="0"/>
              <a:t>ransformer </a:t>
            </a:r>
            <a:r>
              <a:rPr lang="en-SG" sz="1700" b="1" dirty="0"/>
              <a:t>Net</a:t>
            </a:r>
            <a:r>
              <a:rPr lang="en-SG" sz="1700" dirty="0"/>
              <a:t>work</a:t>
            </a:r>
            <a:r>
              <a:rPr lang="en-US" sz="1700" dirty="0"/>
              <a:t> (</a:t>
            </a:r>
            <a:r>
              <a:rPr lang="en-US" sz="1700" b="1" dirty="0" err="1"/>
              <a:t>CRTNet</a:t>
            </a:r>
            <a:r>
              <a:rPr lang="en-US" sz="1700" dirty="0"/>
              <a:t>) </a:t>
            </a:r>
            <a:r>
              <a:rPr lang="en-SG" sz="1700" dirty="0"/>
              <a:t>(</a:t>
            </a:r>
            <a:r>
              <a:rPr lang="en-SG" sz="1700" dirty="0" err="1"/>
              <a:t>Bomatter</a:t>
            </a:r>
            <a:r>
              <a:rPr lang="en-SG" sz="1700" dirty="0"/>
              <a:t> et al., 2021) for the visual search task.</a:t>
            </a:r>
          </a:p>
          <a:p>
            <a:pPr>
              <a:lnSpc>
                <a:spcPct val="100000"/>
              </a:lnSpc>
            </a:pPr>
            <a:endParaRPr lang="en-SG" sz="1700" dirty="0"/>
          </a:p>
          <a:p>
            <a:pPr>
              <a:lnSpc>
                <a:spcPct val="100000"/>
              </a:lnSpc>
            </a:pPr>
            <a:r>
              <a:rPr lang="en-SG" sz="1700" dirty="0"/>
              <a:t>Propose a modified </a:t>
            </a:r>
            <a:r>
              <a:rPr lang="en-SG" sz="1700" dirty="0" err="1"/>
              <a:t>CRTNet</a:t>
            </a:r>
            <a:r>
              <a:rPr lang="en-SG" sz="1700" dirty="0"/>
              <a:t> architecture for global modulation in the </a:t>
            </a:r>
            <a:r>
              <a:rPr lang="en-SG" sz="1700" b="1" dirty="0"/>
              <a:t>T</a:t>
            </a:r>
            <a:r>
              <a:rPr lang="en-SG" sz="1700" dirty="0"/>
              <a:t>arget and </a:t>
            </a:r>
            <a:r>
              <a:rPr lang="en-SG" sz="1700" b="1" dirty="0"/>
              <a:t>C</a:t>
            </a:r>
            <a:r>
              <a:rPr lang="en-SG" sz="1700" dirty="0"/>
              <a:t>ontext-aware </a:t>
            </a:r>
            <a:r>
              <a:rPr lang="en-SG" sz="1700" b="1" dirty="0"/>
              <a:t>T</a:t>
            </a:r>
            <a:r>
              <a:rPr lang="en-SG" sz="1700" dirty="0"/>
              <a:t>ransformer (</a:t>
            </a:r>
            <a:r>
              <a:rPr lang="en-SG" sz="1700" b="1" dirty="0"/>
              <a:t>TCT</a:t>
            </a:r>
            <a:r>
              <a:rPr lang="en-SG" sz="1700" dirty="0"/>
              <a:t>) visual search model.</a:t>
            </a:r>
          </a:p>
          <a:p>
            <a:pPr>
              <a:lnSpc>
                <a:spcPct val="100000"/>
              </a:lnSpc>
            </a:pPr>
            <a:endParaRPr lang="en-SG" sz="1700" dirty="0"/>
          </a:p>
          <a:p>
            <a:pPr>
              <a:lnSpc>
                <a:spcPct val="100000"/>
              </a:lnSpc>
            </a:pPr>
            <a:r>
              <a:rPr lang="en-SG" sz="1700" dirty="0"/>
              <a:t>Assess TCT visual search model on different benchmark datasets</a:t>
            </a:r>
          </a:p>
        </p:txBody>
      </p:sp>
    </p:spTree>
    <p:extLst>
      <p:ext uri="{BB962C8B-B14F-4D97-AF65-F5344CB8AC3E}">
        <p14:creationId xmlns:p14="http://schemas.microsoft.com/office/powerpoint/2010/main" val="3200024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E2D8E1-3E24-9B82-7B52-9A309A1BC9E5}"/>
              </a:ext>
            </a:extLst>
          </p:cNvPr>
          <p:cNvSpPr>
            <a:spLocks noGrp="1"/>
          </p:cNvSpPr>
          <p:nvPr>
            <p:ph type="title"/>
          </p:nvPr>
        </p:nvSpPr>
        <p:spPr>
          <a:xfrm>
            <a:off x="5633343" y="1137215"/>
            <a:ext cx="5804426" cy="3376766"/>
          </a:xfrm>
        </p:spPr>
        <p:txBody>
          <a:bodyPr vert="horz" lIns="91440" tIns="45720" rIns="91440" bIns="45720" rtlCol="0" anchor="t">
            <a:normAutofit/>
          </a:bodyPr>
          <a:lstStyle/>
          <a:p>
            <a:r>
              <a:rPr lang="en-US" sz="6600" dirty="0"/>
              <a:t>Literature Review</a:t>
            </a:r>
          </a:p>
        </p:txBody>
      </p:sp>
      <p:pic>
        <p:nvPicPr>
          <p:cNvPr id="7" name="Graphic 6" descr="Books">
            <a:extLst>
              <a:ext uri="{FF2B5EF4-FFF2-40B4-BE49-F238E27FC236}">
                <a16:creationId xmlns:a16="http://schemas.microsoft.com/office/drawing/2014/main" id="{F7BCD17B-F047-21CF-3E9A-4C05B0E3CB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383" y="1171349"/>
            <a:ext cx="4515301" cy="4515301"/>
          </a:xfrm>
          <a:prstGeom prst="rect">
            <a:avLst/>
          </a:prstGeom>
        </p:spPr>
      </p:pic>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3343" y="723900"/>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E634B8-311A-4810-A5DB-7043D02804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3343" y="6134100"/>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BC62DF9-1534-6D63-5619-92B2512627E9}"/>
              </a:ext>
            </a:extLst>
          </p:cNvPr>
          <p:cNvSpPr txBox="1"/>
          <p:nvPr/>
        </p:nvSpPr>
        <p:spPr>
          <a:xfrm>
            <a:off x="55825" y="2479532"/>
            <a:ext cx="669388" cy="369332"/>
          </a:xfrm>
          <a:prstGeom prst="rect">
            <a:avLst/>
          </a:prstGeom>
          <a:noFill/>
        </p:spPr>
        <p:txBody>
          <a:bodyPr wrap="square">
            <a:spAutoFit/>
          </a:bodyPr>
          <a:lstStyle/>
          <a:p>
            <a:r>
              <a:rPr lang="en-US" dirty="0"/>
              <a:t>1980</a:t>
            </a:r>
          </a:p>
        </p:txBody>
      </p:sp>
      <p:sp>
        <p:nvSpPr>
          <p:cNvPr id="4" name="Rectangle 3">
            <a:extLst>
              <a:ext uri="{FF2B5EF4-FFF2-40B4-BE49-F238E27FC236}">
                <a16:creationId xmlns:a16="http://schemas.microsoft.com/office/drawing/2014/main" id="{45436924-6492-9FFE-2F5D-BB863E6A61E8}"/>
              </a:ext>
            </a:extLst>
          </p:cNvPr>
          <p:cNvSpPr/>
          <p:nvPr/>
        </p:nvSpPr>
        <p:spPr>
          <a:xfrm>
            <a:off x="87356" y="2384445"/>
            <a:ext cx="613279" cy="44220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BF30C527-8646-5A77-82F3-7030E9587A01}"/>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A1AFE94-21D5-EC97-7512-A81E465EB37D}"/>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45356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5E4F8-CBC3-4781-0A13-5D35A5FA1F0D}"/>
              </a:ext>
            </a:extLst>
          </p:cNvPr>
          <p:cNvSpPr>
            <a:spLocks noGrp="1"/>
          </p:cNvSpPr>
          <p:nvPr>
            <p:ph type="title"/>
          </p:nvPr>
        </p:nvSpPr>
        <p:spPr/>
        <p:txBody>
          <a:bodyPr/>
          <a:lstStyle/>
          <a:p>
            <a:r>
              <a:rPr lang="en-US" dirty="0"/>
              <a:t>C0gnitive visual search Theory</a:t>
            </a:r>
          </a:p>
        </p:txBody>
      </p:sp>
      <p:sp>
        <p:nvSpPr>
          <p:cNvPr id="3" name="Content Placeholder 2">
            <a:extLst>
              <a:ext uri="{FF2B5EF4-FFF2-40B4-BE49-F238E27FC236}">
                <a16:creationId xmlns:a16="http://schemas.microsoft.com/office/drawing/2014/main" id="{A21B3871-7913-6C5A-CD74-908DDA102477}"/>
              </a:ext>
            </a:extLst>
          </p:cNvPr>
          <p:cNvSpPr>
            <a:spLocks noGrp="1"/>
          </p:cNvSpPr>
          <p:nvPr>
            <p:ph idx="1"/>
          </p:nvPr>
        </p:nvSpPr>
        <p:spPr>
          <a:xfrm>
            <a:off x="961258" y="2040772"/>
            <a:ext cx="10691265" cy="3844473"/>
          </a:xfrm>
        </p:spPr>
        <p:txBody>
          <a:bodyPr/>
          <a:lstStyle/>
          <a:p>
            <a:pPr marL="0" indent="0">
              <a:buNone/>
            </a:pPr>
            <a:r>
              <a:rPr lang="en-US" dirty="0"/>
              <a:t>Treisman and </a:t>
            </a:r>
            <a:r>
              <a:rPr lang="en-US" dirty="0" err="1"/>
              <a:t>Gelade</a:t>
            </a:r>
            <a:r>
              <a:rPr lang="en-US" dirty="0"/>
              <a:t> proposed the widely adopted cognitive model of visual search, namely </a:t>
            </a:r>
            <a:r>
              <a:rPr lang="en-US" b="1" dirty="0"/>
              <a:t>F</a:t>
            </a:r>
            <a:r>
              <a:rPr lang="en-US" dirty="0"/>
              <a:t>eature </a:t>
            </a:r>
            <a:r>
              <a:rPr lang="en-US" b="1" dirty="0"/>
              <a:t>I</a:t>
            </a:r>
            <a:r>
              <a:rPr lang="en-US" dirty="0"/>
              <a:t>ntegration </a:t>
            </a:r>
            <a:r>
              <a:rPr lang="en-US" b="1" dirty="0"/>
              <a:t>T</a:t>
            </a:r>
            <a:r>
              <a:rPr lang="en-US" dirty="0"/>
              <a:t>heory (</a:t>
            </a:r>
            <a:r>
              <a:rPr lang="en-US" b="1" dirty="0"/>
              <a:t>FIT</a:t>
            </a:r>
            <a:r>
              <a:rPr lang="en-US" dirty="0"/>
              <a:t>).</a:t>
            </a:r>
          </a:p>
          <a:p>
            <a:pPr marL="0" indent="0">
              <a:buNone/>
            </a:pPr>
            <a:r>
              <a:rPr lang="en-US" dirty="0"/>
              <a:t>	The theory introduced different approaches for visual search:</a:t>
            </a:r>
          </a:p>
          <a:p>
            <a:pPr marL="0" indent="0">
              <a:buNone/>
            </a:pPr>
            <a:r>
              <a:rPr lang="en-US" dirty="0"/>
              <a:t>		- Bottom-up (Search image saliency)</a:t>
            </a:r>
          </a:p>
          <a:p>
            <a:pPr marL="0" indent="0">
              <a:buNone/>
            </a:pPr>
            <a:r>
              <a:rPr lang="en-US" dirty="0"/>
              <a:t>		- Top-down (Goal/Target driven searching)</a:t>
            </a:r>
          </a:p>
          <a:p>
            <a:pPr marL="0" indent="0">
              <a:buNone/>
            </a:pPr>
            <a:r>
              <a:rPr lang="en-US" dirty="0"/>
              <a:t>		- Combination of bottom-up and top-down approaches</a:t>
            </a:r>
          </a:p>
          <a:p>
            <a:pPr marL="0" indent="0">
              <a:buNone/>
            </a:pPr>
            <a:r>
              <a:rPr lang="en-US" dirty="0"/>
              <a:t>	FIT proposed that visual search require attention and sequential search from the subject.</a:t>
            </a:r>
          </a:p>
        </p:txBody>
      </p:sp>
      <p:cxnSp>
        <p:nvCxnSpPr>
          <p:cNvPr id="5" name="Straight Connector 4">
            <a:extLst>
              <a:ext uri="{FF2B5EF4-FFF2-40B4-BE49-F238E27FC236}">
                <a16:creationId xmlns:a16="http://schemas.microsoft.com/office/drawing/2014/main" id="{51D7724C-48EA-8D76-5F53-CDFAF8AE1E13}"/>
              </a:ext>
            </a:extLst>
          </p:cNvPr>
          <p:cNvCxnSpPr>
            <a:cxnSpLocks/>
          </p:cNvCxnSpPr>
          <p:nvPr/>
        </p:nvCxnSpPr>
        <p:spPr>
          <a:xfrm>
            <a:off x="788275" y="2203704"/>
            <a:ext cx="0" cy="359800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F01997CB-7E0B-99BE-FDE0-08734ABB5D1F}"/>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B83044E-3BC2-83B6-6BCA-099860DD63B0}"/>
              </a:ext>
            </a:extLst>
          </p:cNvPr>
          <p:cNvSpPr txBox="1"/>
          <p:nvPr/>
        </p:nvSpPr>
        <p:spPr>
          <a:xfrm>
            <a:off x="55825" y="20373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0" name="Rectangle 9">
            <a:extLst>
              <a:ext uri="{FF2B5EF4-FFF2-40B4-BE49-F238E27FC236}">
                <a16:creationId xmlns:a16="http://schemas.microsoft.com/office/drawing/2014/main" id="{0A75D210-E907-FF7C-7263-A568AC58ABAE}"/>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E1E13B0-53C0-17F9-E23D-E9C638AEAD93}"/>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56957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AD24E-1606-D8C8-6B35-3DDBC8A10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F3534-94E2-01EC-A636-4D505A7CA138}"/>
              </a:ext>
            </a:extLst>
          </p:cNvPr>
          <p:cNvSpPr>
            <a:spLocks noGrp="1"/>
          </p:cNvSpPr>
          <p:nvPr>
            <p:ph type="title"/>
          </p:nvPr>
        </p:nvSpPr>
        <p:spPr/>
        <p:txBody>
          <a:bodyPr/>
          <a:lstStyle/>
          <a:p>
            <a:r>
              <a:rPr lang="en-US" dirty="0"/>
              <a:t>C0gnitive visual search Theory</a:t>
            </a:r>
          </a:p>
        </p:txBody>
      </p:sp>
      <p:sp>
        <p:nvSpPr>
          <p:cNvPr id="3" name="Content Placeholder 2">
            <a:extLst>
              <a:ext uri="{FF2B5EF4-FFF2-40B4-BE49-F238E27FC236}">
                <a16:creationId xmlns:a16="http://schemas.microsoft.com/office/drawing/2014/main" id="{E5BDDD6B-8465-C26E-AFF7-AFDB31B3A1B5}"/>
              </a:ext>
            </a:extLst>
          </p:cNvPr>
          <p:cNvSpPr>
            <a:spLocks noGrp="1"/>
          </p:cNvSpPr>
          <p:nvPr>
            <p:ph idx="1"/>
          </p:nvPr>
        </p:nvSpPr>
        <p:spPr>
          <a:xfrm>
            <a:off x="938977" y="2037326"/>
            <a:ext cx="10691265" cy="3844473"/>
          </a:xfrm>
        </p:spPr>
        <p:txBody>
          <a:bodyPr/>
          <a:lstStyle/>
          <a:p>
            <a:pPr marL="0" indent="0">
              <a:buNone/>
            </a:pPr>
            <a:r>
              <a:rPr lang="en-US" dirty="0"/>
              <a:t>Shortly after the FIT publication, Posner conducted different experiments to formalize the relationship between eye movement and the attention map.</a:t>
            </a:r>
          </a:p>
          <a:p>
            <a:pPr marL="0" indent="0">
              <a:buNone/>
            </a:pPr>
            <a:endParaRPr lang="en-US" dirty="0"/>
          </a:p>
          <a:p>
            <a:pPr marL="0" indent="0">
              <a:buNone/>
            </a:pPr>
            <a:r>
              <a:rPr lang="en-US" dirty="0"/>
              <a:t>There are 2 types of Attention:</a:t>
            </a:r>
          </a:p>
          <a:p>
            <a:pPr>
              <a:buFontTx/>
              <a:buChar char="-"/>
            </a:pPr>
            <a:r>
              <a:rPr lang="en-US" dirty="0"/>
              <a:t>Covert Attention: No head, no eye movement. Attention from the current scene</a:t>
            </a:r>
          </a:p>
          <a:p>
            <a:pPr>
              <a:buFontTx/>
              <a:buChar char="-"/>
            </a:pPr>
            <a:r>
              <a:rPr lang="en-US" dirty="0"/>
              <a:t>Overt Attention: Requires head and eye movement, producing an attention shift.</a:t>
            </a:r>
          </a:p>
          <a:p>
            <a:pPr>
              <a:buFontTx/>
              <a:buChar char="-"/>
            </a:pPr>
            <a:endParaRPr lang="en-US" dirty="0"/>
          </a:p>
          <a:p>
            <a:pPr marL="0" indent="0">
              <a:buNone/>
            </a:pPr>
            <a:r>
              <a:rPr lang="en-US" dirty="0"/>
              <a:t>=&gt; Covert Attention is the means of routing information and controlling search priority.</a:t>
            </a:r>
          </a:p>
        </p:txBody>
      </p:sp>
      <p:cxnSp>
        <p:nvCxnSpPr>
          <p:cNvPr id="5" name="Straight Connector 4">
            <a:extLst>
              <a:ext uri="{FF2B5EF4-FFF2-40B4-BE49-F238E27FC236}">
                <a16:creationId xmlns:a16="http://schemas.microsoft.com/office/drawing/2014/main" id="{125686D5-CFB0-C943-F59F-A102D89BCBFF}"/>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68A30964-51E1-977B-8DD7-E7035ECD7384}"/>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1FFC86B7-4774-0CC8-904A-B80B2FC2E945}"/>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6" name="TextBox 5">
            <a:extLst>
              <a:ext uri="{FF2B5EF4-FFF2-40B4-BE49-F238E27FC236}">
                <a16:creationId xmlns:a16="http://schemas.microsoft.com/office/drawing/2014/main" id="{D1491BCC-E857-BDF2-F545-F1E8317ADA79}"/>
              </a:ext>
            </a:extLst>
          </p:cNvPr>
          <p:cNvSpPr txBox="1"/>
          <p:nvPr/>
        </p:nvSpPr>
        <p:spPr>
          <a:xfrm>
            <a:off x="55825" y="1481144"/>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8" name="Rectangle 7">
            <a:extLst>
              <a:ext uri="{FF2B5EF4-FFF2-40B4-BE49-F238E27FC236}">
                <a16:creationId xmlns:a16="http://schemas.microsoft.com/office/drawing/2014/main" id="{A1E6B3A5-CB21-01A0-B371-5CD076F9192C}"/>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A9CFC9E-22FB-E06A-9C4B-3E4757912453}"/>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34652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8BCEF-52CF-9295-B830-E06304354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DFF46-7F12-14BA-628E-2BB30A5222FB}"/>
              </a:ext>
            </a:extLst>
          </p:cNvPr>
          <p:cNvSpPr>
            <a:spLocks noGrp="1"/>
          </p:cNvSpPr>
          <p:nvPr>
            <p:ph type="title"/>
          </p:nvPr>
        </p:nvSpPr>
        <p:spPr/>
        <p:txBody>
          <a:bodyPr/>
          <a:lstStyle/>
          <a:p>
            <a:r>
              <a:rPr lang="en-US" dirty="0"/>
              <a:t>C0gnitive visual search Theory</a:t>
            </a:r>
          </a:p>
        </p:txBody>
      </p:sp>
      <p:sp>
        <p:nvSpPr>
          <p:cNvPr id="3" name="Content Placeholder 2">
            <a:extLst>
              <a:ext uri="{FF2B5EF4-FFF2-40B4-BE49-F238E27FC236}">
                <a16:creationId xmlns:a16="http://schemas.microsoft.com/office/drawing/2014/main" id="{EE2864F3-026E-E3F6-6976-606656C2867E}"/>
              </a:ext>
            </a:extLst>
          </p:cNvPr>
          <p:cNvSpPr>
            <a:spLocks noGrp="1"/>
          </p:cNvSpPr>
          <p:nvPr>
            <p:ph idx="1"/>
          </p:nvPr>
        </p:nvSpPr>
        <p:spPr>
          <a:xfrm>
            <a:off x="938977" y="2037326"/>
            <a:ext cx="10691265" cy="3844473"/>
          </a:xfrm>
        </p:spPr>
        <p:txBody>
          <a:bodyPr/>
          <a:lstStyle/>
          <a:p>
            <a:pPr marL="0" indent="0">
              <a:buNone/>
            </a:pPr>
            <a:r>
              <a:rPr lang="en-US" dirty="0"/>
              <a:t>Posner and Cohen discovered the Inhibition of Return in human search behavior through many experiments.</a:t>
            </a:r>
          </a:p>
          <a:p>
            <a:pPr marL="0" indent="0">
              <a:buNone/>
            </a:pPr>
            <a:r>
              <a:rPr lang="en-US" dirty="0"/>
              <a:t>- Humans react more slowly to the previously attended area.</a:t>
            </a:r>
          </a:p>
          <a:p>
            <a:pPr>
              <a:buFontTx/>
              <a:buChar char="-"/>
            </a:pPr>
            <a:r>
              <a:rPr lang="en-US" dirty="0"/>
              <a:t>Proposed that the inhibited area is located in the mental map, rather than in retinotopic coordinates, which prevents humans from revisiting the attended area.</a:t>
            </a:r>
          </a:p>
          <a:p>
            <a:pPr>
              <a:buFontTx/>
              <a:buChar char="-"/>
            </a:pPr>
            <a:endParaRPr lang="en-US" dirty="0"/>
          </a:p>
          <a:p>
            <a:pPr marL="0" indent="0">
              <a:buNone/>
            </a:pPr>
            <a:r>
              <a:rPr lang="en-US" dirty="0"/>
              <a:t>=&gt; Laid foundation for bio-inspired </a:t>
            </a:r>
            <a:r>
              <a:rPr lang="en-US" b="1" dirty="0"/>
              <a:t>D</a:t>
            </a:r>
            <a:r>
              <a:rPr lang="en-US" dirty="0"/>
              <a:t>eep </a:t>
            </a:r>
            <a:r>
              <a:rPr lang="en-US" b="1" dirty="0"/>
              <a:t>N</a:t>
            </a:r>
            <a:r>
              <a:rPr lang="en-US" dirty="0"/>
              <a:t>eural </a:t>
            </a:r>
            <a:r>
              <a:rPr lang="en-US" b="1" dirty="0"/>
              <a:t>N</a:t>
            </a:r>
            <a:r>
              <a:rPr lang="en-US" dirty="0"/>
              <a:t>etwork (</a:t>
            </a:r>
            <a:r>
              <a:rPr lang="en-US" b="1" dirty="0"/>
              <a:t>DNN</a:t>
            </a:r>
            <a:r>
              <a:rPr lang="en-US" dirty="0"/>
              <a:t>) visual search model.</a:t>
            </a:r>
          </a:p>
          <a:p>
            <a:pPr marL="0" indent="0">
              <a:buNone/>
            </a:pPr>
            <a:r>
              <a:rPr lang="en-US" dirty="0"/>
              <a:t>=&gt; Is regarded as </a:t>
            </a:r>
            <a:r>
              <a:rPr lang="en-US" b="1" dirty="0"/>
              <a:t>I</a:t>
            </a:r>
            <a:r>
              <a:rPr lang="en-US" dirty="0"/>
              <a:t>nhibition </a:t>
            </a:r>
            <a:r>
              <a:rPr lang="en-US" b="1" dirty="0"/>
              <a:t>o</a:t>
            </a:r>
            <a:r>
              <a:rPr lang="en-US" dirty="0"/>
              <a:t>f </a:t>
            </a:r>
            <a:r>
              <a:rPr lang="en-US" b="1" dirty="0"/>
              <a:t>R</a:t>
            </a:r>
            <a:r>
              <a:rPr lang="en-US" dirty="0"/>
              <a:t>eturn (</a:t>
            </a:r>
            <a:r>
              <a:rPr lang="en-US" b="1" dirty="0"/>
              <a:t>IOR</a:t>
            </a:r>
            <a:r>
              <a:rPr lang="en-US" dirty="0"/>
              <a:t>), embedded into every visual search model to prevent them from revisiting the attended area.</a:t>
            </a:r>
          </a:p>
        </p:txBody>
      </p:sp>
      <p:cxnSp>
        <p:nvCxnSpPr>
          <p:cNvPr id="5" name="Straight Connector 4">
            <a:extLst>
              <a:ext uri="{FF2B5EF4-FFF2-40B4-BE49-F238E27FC236}">
                <a16:creationId xmlns:a16="http://schemas.microsoft.com/office/drawing/2014/main" id="{09FA2418-A75C-A6FD-4109-8EC4C1CCA161}"/>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6E617ED-DCD5-BB2C-01CC-269B33998696}"/>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1CE73168-0803-31D2-5F02-ABA33B2A7026}"/>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6" name="TextBox 5">
            <a:extLst>
              <a:ext uri="{FF2B5EF4-FFF2-40B4-BE49-F238E27FC236}">
                <a16:creationId xmlns:a16="http://schemas.microsoft.com/office/drawing/2014/main" id="{DEA89F23-2178-EAD7-7565-DE6F3D3279A2}"/>
              </a:ext>
            </a:extLst>
          </p:cNvPr>
          <p:cNvSpPr txBox="1"/>
          <p:nvPr/>
        </p:nvSpPr>
        <p:spPr>
          <a:xfrm>
            <a:off x="55825" y="942690"/>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8" name="Rectangle 7">
            <a:extLst>
              <a:ext uri="{FF2B5EF4-FFF2-40B4-BE49-F238E27FC236}">
                <a16:creationId xmlns:a16="http://schemas.microsoft.com/office/drawing/2014/main" id="{ADF3F9A0-023C-DDB8-11DA-4FC5E061D63A}"/>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6F647D-74A6-982D-6116-B0DF4F4BEEFF}"/>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5428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EB561-862C-F006-8433-FE8AD7629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2136A-13C1-3B40-EE75-3376855E47AD}"/>
              </a:ext>
            </a:extLst>
          </p:cNvPr>
          <p:cNvSpPr>
            <a:spLocks noGrp="1"/>
          </p:cNvSpPr>
          <p:nvPr>
            <p:ph type="title"/>
          </p:nvPr>
        </p:nvSpPr>
        <p:spPr/>
        <p:txBody>
          <a:bodyPr/>
          <a:lstStyle/>
          <a:p>
            <a:r>
              <a:rPr lang="en-US" dirty="0"/>
              <a:t>C0gnitive visual search Theory</a:t>
            </a:r>
          </a:p>
        </p:txBody>
      </p:sp>
      <p:sp>
        <p:nvSpPr>
          <p:cNvPr id="3" name="Content Placeholder 2">
            <a:extLst>
              <a:ext uri="{FF2B5EF4-FFF2-40B4-BE49-F238E27FC236}">
                <a16:creationId xmlns:a16="http://schemas.microsoft.com/office/drawing/2014/main" id="{A5DC402B-008A-992C-2B7D-E2D009999153}"/>
              </a:ext>
            </a:extLst>
          </p:cNvPr>
          <p:cNvSpPr>
            <a:spLocks noGrp="1"/>
          </p:cNvSpPr>
          <p:nvPr>
            <p:ph idx="1"/>
          </p:nvPr>
        </p:nvSpPr>
        <p:spPr>
          <a:xfrm>
            <a:off x="938977" y="2046776"/>
            <a:ext cx="10691265" cy="3844473"/>
          </a:xfrm>
        </p:spPr>
        <p:txBody>
          <a:bodyPr>
            <a:normAutofit fontScale="92500"/>
          </a:bodyPr>
          <a:lstStyle/>
          <a:p>
            <a:pPr marL="0" indent="0">
              <a:buNone/>
            </a:pPr>
            <a:r>
              <a:rPr lang="en-US" dirty="0"/>
              <a:t>Wolfe reconstructed a conceptual model to demonstrate the combination of both bottom-up and top-down approaches in human visual search.</a:t>
            </a:r>
          </a:p>
          <a:p>
            <a:pPr>
              <a:buFontTx/>
              <a:buChar char="-"/>
            </a:pPr>
            <a:r>
              <a:rPr lang="en-US" dirty="0"/>
              <a:t>Provided a detailed framework for later researchers to build better conceptual models and computational models.</a:t>
            </a:r>
          </a:p>
          <a:p>
            <a:pPr marL="0" indent="0">
              <a:buNone/>
            </a:pPr>
            <a:r>
              <a:rPr lang="en-US" dirty="0"/>
              <a:t>Methodological and visual model illustrating the bottom-up and top-down approach</a:t>
            </a:r>
          </a:p>
          <a:p>
            <a:pPr>
              <a:buFontTx/>
              <a:buChar char="-"/>
            </a:pPr>
            <a:r>
              <a:rPr lang="en-US" dirty="0"/>
              <a:t>The bottom-up approach emphasizes the distinction of items from their surroundings</a:t>
            </a:r>
          </a:p>
          <a:p>
            <a:pPr>
              <a:buFontTx/>
              <a:buChar char="-"/>
            </a:pPr>
            <a:r>
              <a:rPr lang="en-US" dirty="0"/>
              <a:t>The top-down approach enforces similarity and matching to categorical properties of the target.</a:t>
            </a:r>
          </a:p>
          <a:p>
            <a:pPr marL="0" indent="0">
              <a:buNone/>
            </a:pPr>
            <a:endParaRPr lang="en-US" dirty="0"/>
          </a:p>
          <a:p>
            <a:pPr>
              <a:buFont typeface="Symbol" pitchFamily="2" charset="2"/>
              <a:buChar char="Þ"/>
            </a:pPr>
            <a:r>
              <a:rPr lang="en-US" dirty="0"/>
              <a:t>The combination of both creates a weighted activation map rather than a uniformly summed one.</a:t>
            </a:r>
          </a:p>
          <a:p>
            <a:pPr marL="0" indent="0">
              <a:buNone/>
            </a:pPr>
            <a:endParaRPr lang="en-US" dirty="0"/>
          </a:p>
          <a:p>
            <a:pPr marL="0" indent="0">
              <a:buNone/>
            </a:pPr>
            <a:endParaRPr lang="en-US" dirty="0"/>
          </a:p>
        </p:txBody>
      </p:sp>
      <p:cxnSp>
        <p:nvCxnSpPr>
          <p:cNvPr id="5" name="Straight Connector 4">
            <a:extLst>
              <a:ext uri="{FF2B5EF4-FFF2-40B4-BE49-F238E27FC236}">
                <a16:creationId xmlns:a16="http://schemas.microsoft.com/office/drawing/2014/main" id="{23802DC1-1E39-6CE3-61C8-73E2D3BF2CB0}"/>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14BA3B3-E841-0662-EE48-9218DF9B2672}"/>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F4EA7690-52D3-7336-BCE8-9FD592E76BDD}"/>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8" name="TextBox 7">
            <a:extLst>
              <a:ext uri="{FF2B5EF4-FFF2-40B4-BE49-F238E27FC236}">
                <a16:creationId xmlns:a16="http://schemas.microsoft.com/office/drawing/2014/main" id="{D419CEB1-3B79-A751-8E44-837E41A47200}"/>
              </a:ext>
            </a:extLst>
          </p:cNvPr>
          <p:cNvSpPr txBox="1"/>
          <p:nvPr/>
        </p:nvSpPr>
        <p:spPr>
          <a:xfrm>
            <a:off x="55825" y="405363"/>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9" name="Rectangle 8">
            <a:extLst>
              <a:ext uri="{FF2B5EF4-FFF2-40B4-BE49-F238E27FC236}">
                <a16:creationId xmlns:a16="http://schemas.microsoft.com/office/drawing/2014/main" id="{E6666364-8255-C4AA-66B9-7308F3DA5E6F}"/>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1891EDF-FD57-F3C1-7DDD-65DC61995330}"/>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06024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22559-F078-87EF-C833-D14602F76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3DFDD-8517-D819-06FE-0E913E822CE0}"/>
              </a:ext>
            </a:extLst>
          </p:cNvPr>
          <p:cNvSpPr>
            <a:spLocks noGrp="1"/>
          </p:cNvSpPr>
          <p:nvPr>
            <p:ph type="title"/>
          </p:nvPr>
        </p:nvSpPr>
        <p:spPr/>
        <p:txBody>
          <a:bodyPr/>
          <a:lstStyle/>
          <a:p>
            <a:r>
              <a:rPr lang="en-US" dirty="0"/>
              <a:t>C0gnitive visual search Theory</a:t>
            </a:r>
          </a:p>
        </p:txBody>
      </p:sp>
      <p:cxnSp>
        <p:nvCxnSpPr>
          <p:cNvPr id="5" name="Straight Connector 4">
            <a:extLst>
              <a:ext uri="{FF2B5EF4-FFF2-40B4-BE49-F238E27FC236}">
                <a16:creationId xmlns:a16="http://schemas.microsoft.com/office/drawing/2014/main" id="{CCBFE4A1-3A2B-FCDE-0086-58C41B65C50A}"/>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D3AAC2B4-6BC3-E286-E0AD-942DFF6EAC17}"/>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29D181AB-1828-4461-2F56-C89C83B5563F}"/>
              </a:ext>
            </a:extLst>
          </p:cNvPr>
          <p:cNvSpPr txBox="1"/>
          <p:nvPr/>
        </p:nvSpPr>
        <p:spPr>
          <a:xfrm>
            <a:off x="55825" y="1616039"/>
            <a:ext cx="669388" cy="369332"/>
          </a:xfrm>
          <a:prstGeom prst="rect">
            <a:avLst/>
          </a:prstGeom>
          <a:noFill/>
        </p:spPr>
        <p:txBody>
          <a:bodyPr wrap="square">
            <a:spAutoFit/>
          </a:bodyPr>
          <a:lstStyle/>
          <a:p>
            <a:r>
              <a:rPr lang="en-US" dirty="0"/>
              <a:t>1980</a:t>
            </a:r>
          </a:p>
        </p:txBody>
      </p:sp>
      <p:pic>
        <p:nvPicPr>
          <p:cNvPr id="8" name="Content Placeholder 7" descr="A diagram of a diagram of a software&#10;&#10;AI-generated content may be incorrect.">
            <a:extLst>
              <a:ext uri="{FF2B5EF4-FFF2-40B4-BE49-F238E27FC236}">
                <a16:creationId xmlns:a16="http://schemas.microsoft.com/office/drawing/2014/main" id="{5CD881B8-4C46-3956-77D8-EA415C71634E}"/>
              </a:ext>
            </a:extLst>
          </p:cNvPr>
          <p:cNvPicPr>
            <a:picLocks noGrp="1" noChangeAspect="1"/>
          </p:cNvPicPr>
          <p:nvPr>
            <p:ph idx="1"/>
          </p:nvPr>
        </p:nvPicPr>
        <p:blipFill>
          <a:blip r:embed="rId3"/>
          <a:stretch>
            <a:fillRect/>
          </a:stretch>
        </p:blipFill>
        <p:spPr>
          <a:xfrm>
            <a:off x="3090446" y="1800520"/>
            <a:ext cx="6150748" cy="3732506"/>
          </a:xfrm>
          <a:prstGeom prst="rect">
            <a:avLst/>
          </a:prstGeom>
        </p:spPr>
      </p:pic>
      <p:sp>
        <p:nvSpPr>
          <p:cNvPr id="11" name="TextBox 10">
            <a:extLst>
              <a:ext uri="{FF2B5EF4-FFF2-40B4-BE49-F238E27FC236}">
                <a16:creationId xmlns:a16="http://schemas.microsoft.com/office/drawing/2014/main" id="{91269038-E748-D113-635C-C3EF73F3D87C}"/>
              </a:ext>
            </a:extLst>
          </p:cNvPr>
          <p:cNvSpPr txBox="1"/>
          <p:nvPr/>
        </p:nvSpPr>
        <p:spPr>
          <a:xfrm>
            <a:off x="2907519" y="5574268"/>
            <a:ext cx="6094428" cy="369332"/>
          </a:xfrm>
          <a:prstGeom prst="rect">
            <a:avLst/>
          </a:prstGeom>
          <a:noFill/>
        </p:spPr>
        <p:txBody>
          <a:bodyPr wrap="square">
            <a:spAutoFit/>
          </a:bodyPr>
          <a:lstStyle/>
          <a:p>
            <a:pPr algn="ctr">
              <a:spcAft>
                <a:spcPts val="1000"/>
              </a:spcAft>
              <a:buNone/>
            </a:pPr>
            <a:r>
              <a:rPr lang="en-SG" sz="1800" i="1" kern="100" dirty="0">
                <a:solidFill>
                  <a:srgbClr val="0E2841"/>
                </a:solidFill>
                <a:effectLst/>
                <a:latin typeface="Times New Roman" panose="02020603050405020304" pitchFamily="18" charset="0"/>
                <a:ea typeface="Aptos" panose="020B0004020202020204" pitchFamily="34" charset="0"/>
                <a:cs typeface="Times New Roman (Body CS)"/>
              </a:rPr>
              <a:t>Guided Search Version 2.0 Architecture (Wolfe, 1994)</a:t>
            </a:r>
            <a:endParaRPr lang="en-SG" sz="1100" i="1" kern="100" dirty="0">
              <a:solidFill>
                <a:srgbClr val="0E2841"/>
              </a:solidFill>
              <a:effectLst/>
              <a:latin typeface="Times New Roman" panose="02020603050405020304" pitchFamily="18" charset="0"/>
              <a:ea typeface="Aptos" panose="020B0004020202020204" pitchFamily="34" charset="0"/>
              <a:cs typeface="Times New Roman (Body CS)"/>
            </a:endParaRPr>
          </a:p>
        </p:txBody>
      </p:sp>
      <p:sp>
        <p:nvSpPr>
          <p:cNvPr id="12" name="TextBox 11">
            <a:extLst>
              <a:ext uri="{FF2B5EF4-FFF2-40B4-BE49-F238E27FC236}">
                <a16:creationId xmlns:a16="http://schemas.microsoft.com/office/drawing/2014/main" id="{5BC9FFC9-4ECC-5161-C4D0-E834114320E9}"/>
              </a:ext>
            </a:extLst>
          </p:cNvPr>
          <p:cNvSpPr txBox="1"/>
          <p:nvPr/>
        </p:nvSpPr>
        <p:spPr>
          <a:xfrm>
            <a:off x="55825" y="405363"/>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4" name="Rectangle 13">
            <a:extLst>
              <a:ext uri="{FF2B5EF4-FFF2-40B4-BE49-F238E27FC236}">
                <a16:creationId xmlns:a16="http://schemas.microsoft.com/office/drawing/2014/main" id="{555E7CDF-200A-3811-80C9-33E779D0E7B3}"/>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25AD7FE-594F-7160-0DDF-1607AD04BC79}"/>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80633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814C6-68EE-77A4-6071-66617DB598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F93637-9420-0C91-6C16-2F494F5C1D80}"/>
              </a:ext>
            </a:extLst>
          </p:cNvPr>
          <p:cNvSpPr>
            <a:spLocks noGrp="1"/>
          </p:cNvSpPr>
          <p:nvPr>
            <p:ph idx="1"/>
          </p:nvPr>
        </p:nvSpPr>
        <p:spPr>
          <a:xfrm>
            <a:off x="961258" y="1985371"/>
            <a:ext cx="10691265" cy="3844473"/>
          </a:xfrm>
        </p:spPr>
        <p:txBody>
          <a:bodyPr>
            <a:normAutofit/>
          </a:bodyPr>
          <a:lstStyle/>
          <a:p>
            <a:pPr marL="0" indent="0">
              <a:buNone/>
            </a:pPr>
            <a:r>
              <a:rPr lang="en-US" dirty="0"/>
              <a:t>Chun &amp; Jiang proposed visual context guides human attention to the target in complex visual inputs.</a:t>
            </a:r>
          </a:p>
          <a:p>
            <a:pPr>
              <a:buFontTx/>
              <a:buChar char="-"/>
            </a:pPr>
            <a:r>
              <a:rPr lang="en-US" dirty="0"/>
              <a:t>Context are implicitly learned from encountered historical instances, which optimize and automate target detection through interaction with visual attention.</a:t>
            </a:r>
          </a:p>
          <a:p>
            <a:pPr>
              <a:buFontTx/>
              <a:buChar char="-"/>
            </a:pPr>
            <a:r>
              <a:rPr lang="en-US" dirty="0"/>
              <a:t>Knowledge obtained from implicit learning could guide the search process.</a:t>
            </a:r>
          </a:p>
          <a:p>
            <a:pPr>
              <a:buFontTx/>
              <a:buChar char="-"/>
            </a:pPr>
            <a:endParaRPr lang="en-US" dirty="0"/>
          </a:p>
          <a:p>
            <a:pPr>
              <a:buFont typeface="Symbol" pitchFamily="2" charset="2"/>
              <a:buChar char="Þ"/>
            </a:pPr>
            <a:r>
              <a:rPr lang="en-US" dirty="0"/>
              <a:t> The authors concluded that a model or an intelligence system without a learning mechanism to capture the context information is considered maladaptive (unable to adapt/generalize).</a:t>
            </a:r>
          </a:p>
          <a:p>
            <a:pPr marL="0" indent="0">
              <a:buNone/>
            </a:pPr>
            <a:endParaRPr lang="en-US" dirty="0"/>
          </a:p>
        </p:txBody>
      </p:sp>
      <p:cxnSp>
        <p:nvCxnSpPr>
          <p:cNvPr id="5" name="Straight Connector 4">
            <a:extLst>
              <a:ext uri="{FF2B5EF4-FFF2-40B4-BE49-F238E27FC236}">
                <a16:creationId xmlns:a16="http://schemas.microsoft.com/office/drawing/2014/main" id="{0371AFAB-9B73-E7C4-6F27-602E81252C98}"/>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9C4924D5-0655-B3C4-4237-ED0BB29A37AE}"/>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B7E7CE32-02D8-BE33-166A-5438131364B0}"/>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12" name="TextBox 11">
            <a:extLst>
              <a:ext uri="{FF2B5EF4-FFF2-40B4-BE49-F238E27FC236}">
                <a16:creationId xmlns:a16="http://schemas.microsoft.com/office/drawing/2014/main" id="{DA7973C3-8A85-FA14-6237-1D571DCA423D}"/>
              </a:ext>
            </a:extLst>
          </p:cNvPr>
          <p:cNvSpPr txBox="1"/>
          <p:nvPr/>
        </p:nvSpPr>
        <p:spPr>
          <a:xfrm>
            <a:off x="55825" y="-150818"/>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4" name="Rectangle 13">
            <a:extLst>
              <a:ext uri="{FF2B5EF4-FFF2-40B4-BE49-F238E27FC236}">
                <a16:creationId xmlns:a16="http://schemas.microsoft.com/office/drawing/2014/main" id="{504F4EAD-8C2C-D1B0-9F8B-1FCAB39AEEBA}"/>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4CCA1F-A390-0D68-25B5-1D2D52740D51}"/>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E75DF806-F63B-D09A-6B62-353326801A90}"/>
              </a:ext>
            </a:extLst>
          </p:cNvPr>
          <p:cNvSpPr>
            <a:spLocks noGrp="1"/>
          </p:cNvSpPr>
          <p:nvPr>
            <p:ph type="title"/>
          </p:nvPr>
        </p:nvSpPr>
        <p:spPr>
          <a:xfrm>
            <a:off x="700635" y="914400"/>
            <a:ext cx="10691265" cy="1307592"/>
          </a:xfrm>
        </p:spPr>
        <p:txBody>
          <a:bodyPr/>
          <a:lstStyle/>
          <a:p>
            <a:r>
              <a:rPr lang="en-US" dirty="0"/>
              <a:t>C0gnitive visual search Theory</a:t>
            </a:r>
          </a:p>
        </p:txBody>
      </p:sp>
    </p:spTree>
    <p:extLst>
      <p:ext uri="{BB962C8B-B14F-4D97-AF65-F5344CB8AC3E}">
        <p14:creationId xmlns:p14="http://schemas.microsoft.com/office/powerpoint/2010/main" val="1821351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2380B-B430-A6DD-AA74-46C220D2A3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23F6B0-7B2B-6B5E-D7B0-B57BDFD0DBC0}"/>
              </a:ext>
            </a:extLst>
          </p:cNvPr>
          <p:cNvSpPr>
            <a:spLocks noGrp="1"/>
          </p:cNvSpPr>
          <p:nvPr>
            <p:ph idx="1"/>
          </p:nvPr>
        </p:nvSpPr>
        <p:spPr>
          <a:xfrm>
            <a:off x="945055" y="2043068"/>
            <a:ext cx="10691265" cy="3844473"/>
          </a:xfrm>
        </p:spPr>
        <p:txBody>
          <a:bodyPr>
            <a:normAutofit fontScale="92500" lnSpcReduction="20000"/>
          </a:bodyPr>
          <a:lstStyle/>
          <a:p>
            <a:pPr marL="0" indent="0">
              <a:buNone/>
            </a:pPr>
            <a:r>
              <a:rPr lang="en-US" dirty="0"/>
              <a:t>Wolfe refined his Guided Search version 2.0 model to version 6.0 by adding the scene guidance mechanism:</a:t>
            </a:r>
          </a:p>
          <a:p>
            <a:pPr>
              <a:buFontTx/>
              <a:buChar char="-"/>
            </a:pPr>
            <a:r>
              <a:rPr lang="en-US" dirty="0"/>
              <a:t>Syntactic guidance: Follow the world's physical laws.</a:t>
            </a:r>
          </a:p>
          <a:p>
            <a:pPr marL="0" indent="0">
              <a:buNone/>
            </a:pPr>
            <a:r>
              <a:rPr lang="en-US" dirty="0"/>
              <a:t>	e.g. A toaster doesn’t float</a:t>
            </a:r>
          </a:p>
          <a:p>
            <a:pPr>
              <a:buFontTx/>
              <a:buChar char="-"/>
            </a:pPr>
            <a:r>
              <a:rPr lang="en-US" dirty="0"/>
              <a:t>Semantic guidance: Follow the norms of society.</a:t>
            </a:r>
          </a:p>
          <a:p>
            <a:pPr marL="0" indent="0">
              <a:buNone/>
            </a:pPr>
            <a:r>
              <a:rPr lang="en-US" dirty="0"/>
              <a:t>	e.g. A toaster doesn’t belong in the bathroom</a:t>
            </a:r>
          </a:p>
          <a:p>
            <a:pPr>
              <a:buFont typeface="Symbol" pitchFamily="2" charset="2"/>
              <a:buChar char="Þ"/>
            </a:pPr>
            <a:r>
              <a:rPr lang="en-US" dirty="0"/>
              <a:t> Knowledge learned by humans through implicit or explicit learning (context cueing), as discussed by Chun &amp; Jiang (1998).</a:t>
            </a:r>
          </a:p>
          <a:p>
            <a:pPr>
              <a:buFont typeface="Symbol" pitchFamily="2" charset="2"/>
              <a:buChar char="Þ"/>
            </a:pPr>
            <a:r>
              <a:rPr lang="en-US" dirty="0"/>
              <a:t> Context guidance is not mere saliency from the features in the context scene</a:t>
            </a:r>
          </a:p>
          <a:p>
            <a:pPr>
              <a:buFont typeface="Symbol" pitchFamily="2" charset="2"/>
              <a:buChar char="Þ"/>
            </a:pPr>
            <a:r>
              <a:rPr lang="en-US" dirty="0"/>
              <a:t> A standardized framework for the development of computational models in the modern stage.</a:t>
            </a:r>
          </a:p>
          <a:p>
            <a:pPr marL="0" indent="0">
              <a:buNone/>
            </a:pPr>
            <a:endParaRPr lang="en-US" dirty="0"/>
          </a:p>
        </p:txBody>
      </p:sp>
      <p:cxnSp>
        <p:nvCxnSpPr>
          <p:cNvPr id="5" name="Straight Connector 4">
            <a:extLst>
              <a:ext uri="{FF2B5EF4-FFF2-40B4-BE49-F238E27FC236}">
                <a16:creationId xmlns:a16="http://schemas.microsoft.com/office/drawing/2014/main" id="{C5B9E4CA-4368-4F25-5687-C27949135A0E}"/>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38D7BF-0209-B1AF-D4E9-F0BD1CE3A906}"/>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F34A18F5-E77A-56D7-292C-0C8DDF6E882F}"/>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237748FA-9291-6100-455F-E87B4F3EEF00}"/>
              </a:ext>
            </a:extLst>
          </p:cNvPr>
          <p:cNvSpPr txBox="1"/>
          <p:nvPr/>
        </p:nvSpPr>
        <p:spPr>
          <a:xfrm>
            <a:off x="55825" y="-126318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0C00D0DC-C842-D759-AC58-401765D45F58}"/>
              </a:ext>
            </a:extLst>
          </p:cNvPr>
          <p:cNvSpPr>
            <a:spLocks noGrp="1"/>
          </p:cNvSpPr>
          <p:nvPr>
            <p:ph type="title"/>
          </p:nvPr>
        </p:nvSpPr>
        <p:spPr>
          <a:xfrm>
            <a:off x="700635" y="914400"/>
            <a:ext cx="10691265" cy="1307592"/>
          </a:xfrm>
        </p:spPr>
        <p:txBody>
          <a:bodyPr/>
          <a:lstStyle/>
          <a:p>
            <a:r>
              <a:rPr lang="en-US" dirty="0"/>
              <a:t>C0gnitive visual search Theory</a:t>
            </a:r>
          </a:p>
        </p:txBody>
      </p:sp>
      <p:sp>
        <p:nvSpPr>
          <p:cNvPr id="12" name="Rectangle 11">
            <a:extLst>
              <a:ext uri="{FF2B5EF4-FFF2-40B4-BE49-F238E27FC236}">
                <a16:creationId xmlns:a16="http://schemas.microsoft.com/office/drawing/2014/main" id="{E46FD30B-1C69-3DF3-FC72-F64DBA51456A}"/>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50BF208-E76E-91E0-2D5F-B8871EA227EB}"/>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6499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D1E63-C490-F7C3-409E-2880A48AE60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076D64E-9460-82E2-B45C-00685C230839}"/>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85494217-E597-0533-4596-41AD4E81A9C2}"/>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2E9F24D5-1C7E-7D58-74D9-B466C1C041CD}"/>
              </a:ext>
            </a:extLst>
          </p:cNvPr>
          <p:cNvSpPr txBox="1"/>
          <p:nvPr/>
        </p:nvSpPr>
        <p:spPr>
          <a:xfrm>
            <a:off x="55825" y="1616039"/>
            <a:ext cx="669388" cy="369332"/>
          </a:xfrm>
          <a:prstGeom prst="rect">
            <a:avLst/>
          </a:prstGeom>
          <a:noFill/>
        </p:spPr>
        <p:txBody>
          <a:bodyPr wrap="square">
            <a:spAutoFit/>
          </a:bodyPr>
          <a:lstStyle/>
          <a:p>
            <a:r>
              <a:rPr lang="en-US" dirty="0"/>
              <a:t>1980</a:t>
            </a:r>
          </a:p>
        </p:txBody>
      </p:sp>
      <p:pic>
        <p:nvPicPr>
          <p:cNvPr id="8" name="Picture 7" descr="A diagram of visual awareness&#10;&#10;AI-generated content may be incorrect.">
            <a:extLst>
              <a:ext uri="{FF2B5EF4-FFF2-40B4-BE49-F238E27FC236}">
                <a16:creationId xmlns:a16="http://schemas.microsoft.com/office/drawing/2014/main" id="{8F1CF2E0-9FF3-E381-6080-31AEE4B73D38}"/>
              </a:ext>
            </a:extLst>
          </p:cNvPr>
          <p:cNvPicPr>
            <a:picLocks noChangeAspect="1"/>
          </p:cNvPicPr>
          <p:nvPr/>
        </p:nvPicPr>
        <p:blipFill>
          <a:blip r:embed="rId3"/>
          <a:stretch>
            <a:fillRect/>
          </a:stretch>
        </p:blipFill>
        <p:spPr>
          <a:xfrm>
            <a:off x="2848264" y="1800705"/>
            <a:ext cx="6665003" cy="3814133"/>
          </a:xfrm>
          <a:prstGeom prst="rect">
            <a:avLst/>
          </a:prstGeom>
        </p:spPr>
      </p:pic>
      <p:sp>
        <p:nvSpPr>
          <p:cNvPr id="11" name="TextBox 10">
            <a:extLst>
              <a:ext uri="{FF2B5EF4-FFF2-40B4-BE49-F238E27FC236}">
                <a16:creationId xmlns:a16="http://schemas.microsoft.com/office/drawing/2014/main" id="{AE562BA5-6898-5B36-B35A-EDF8E6D4388F}"/>
              </a:ext>
            </a:extLst>
          </p:cNvPr>
          <p:cNvSpPr txBox="1"/>
          <p:nvPr/>
        </p:nvSpPr>
        <p:spPr>
          <a:xfrm>
            <a:off x="3048786" y="5617044"/>
            <a:ext cx="6094428" cy="369332"/>
          </a:xfrm>
          <a:prstGeom prst="rect">
            <a:avLst/>
          </a:prstGeom>
          <a:noFill/>
        </p:spPr>
        <p:txBody>
          <a:bodyPr wrap="square">
            <a:spAutoFit/>
          </a:bodyPr>
          <a:lstStyle/>
          <a:p>
            <a:pPr algn="ctr">
              <a:spcAft>
                <a:spcPts val="1000"/>
              </a:spcAft>
              <a:buNone/>
            </a:pPr>
            <a:r>
              <a:rPr lang="en-SG" sz="1800" i="1" kern="100" dirty="0">
                <a:solidFill>
                  <a:srgbClr val="0E2841"/>
                </a:solidFill>
                <a:effectLst/>
                <a:latin typeface="Times New Roman" panose="02020603050405020304" pitchFamily="18" charset="0"/>
                <a:ea typeface="Aptos" panose="020B0004020202020204" pitchFamily="34" charset="0"/>
                <a:cs typeface="Times New Roman (Body CS)"/>
              </a:rPr>
              <a:t>Schematic representation of Guided Search 6.0 (Wolfe, 2021)</a:t>
            </a:r>
            <a:endParaRPr lang="en-SG" sz="1100" i="1" kern="100" dirty="0">
              <a:solidFill>
                <a:srgbClr val="0E2841"/>
              </a:solidFill>
              <a:effectLst/>
              <a:latin typeface="Times New Roman" panose="02020603050405020304" pitchFamily="18" charset="0"/>
              <a:ea typeface="Aptos" panose="020B0004020202020204" pitchFamily="34" charset="0"/>
              <a:cs typeface="Times New Roman (Body CS)"/>
            </a:endParaRPr>
          </a:p>
        </p:txBody>
      </p:sp>
      <p:sp>
        <p:nvSpPr>
          <p:cNvPr id="15" name="TextBox 14">
            <a:extLst>
              <a:ext uri="{FF2B5EF4-FFF2-40B4-BE49-F238E27FC236}">
                <a16:creationId xmlns:a16="http://schemas.microsoft.com/office/drawing/2014/main" id="{2EA0ACF9-B84C-56D6-0B81-3FF83FBD8F9A}"/>
              </a:ext>
            </a:extLst>
          </p:cNvPr>
          <p:cNvSpPr txBox="1"/>
          <p:nvPr/>
        </p:nvSpPr>
        <p:spPr>
          <a:xfrm>
            <a:off x="55825" y="-126318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8" name="Title 1">
            <a:extLst>
              <a:ext uri="{FF2B5EF4-FFF2-40B4-BE49-F238E27FC236}">
                <a16:creationId xmlns:a16="http://schemas.microsoft.com/office/drawing/2014/main" id="{AE1E504C-780F-24B2-3CA7-8968B2530A66}"/>
              </a:ext>
            </a:extLst>
          </p:cNvPr>
          <p:cNvSpPr>
            <a:spLocks noGrp="1"/>
          </p:cNvSpPr>
          <p:nvPr>
            <p:ph type="title"/>
          </p:nvPr>
        </p:nvSpPr>
        <p:spPr>
          <a:xfrm>
            <a:off x="700635" y="914400"/>
            <a:ext cx="10691265" cy="1307592"/>
          </a:xfrm>
        </p:spPr>
        <p:txBody>
          <a:bodyPr/>
          <a:lstStyle/>
          <a:p>
            <a:r>
              <a:rPr lang="en-US" dirty="0"/>
              <a:t>C0gnitive visual search Theory</a:t>
            </a:r>
          </a:p>
        </p:txBody>
      </p:sp>
      <p:sp>
        <p:nvSpPr>
          <p:cNvPr id="19" name="Rectangle 18">
            <a:extLst>
              <a:ext uri="{FF2B5EF4-FFF2-40B4-BE49-F238E27FC236}">
                <a16:creationId xmlns:a16="http://schemas.microsoft.com/office/drawing/2014/main" id="{05B3D1A2-4716-0802-15D0-5FBDB170E3EB}"/>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2F1D856-7A86-1DA4-FAB4-9088A0785072}"/>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70138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D3CBF-4799-AB11-5E91-5CAF7DF65F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71F73-1301-FCF0-0E6C-6982B8B20147}"/>
              </a:ext>
            </a:extLst>
          </p:cNvPr>
          <p:cNvSpPr>
            <a:spLocks noGrp="1"/>
          </p:cNvSpPr>
          <p:nvPr>
            <p:ph idx="1"/>
          </p:nvPr>
        </p:nvSpPr>
        <p:spPr>
          <a:xfrm>
            <a:off x="945055" y="2043068"/>
            <a:ext cx="10691265" cy="3844473"/>
          </a:xfrm>
        </p:spPr>
        <p:txBody>
          <a:bodyPr>
            <a:normAutofit/>
          </a:bodyPr>
          <a:lstStyle/>
          <a:p>
            <a:pPr marL="0" indent="0">
              <a:buNone/>
            </a:pPr>
            <a:r>
              <a:rPr lang="en-US" dirty="0"/>
              <a:t>Dr. Zhang </a:t>
            </a:r>
            <a:r>
              <a:rPr lang="en-US" dirty="0" err="1"/>
              <a:t>Mengmi</a:t>
            </a:r>
            <a:r>
              <a:rPr lang="en-US" dirty="0"/>
              <a:t> and her research colleagues were inspired by biological cognitive function in visual search and proposed the </a:t>
            </a:r>
            <a:r>
              <a:rPr lang="en-US" b="1" dirty="0"/>
              <a:t>I</a:t>
            </a:r>
            <a:r>
              <a:rPr lang="en-US" dirty="0"/>
              <a:t>nvariant </a:t>
            </a:r>
            <a:r>
              <a:rPr lang="en-US" b="1" dirty="0"/>
              <a:t>V</a:t>
            </a:r>
            <a:r>
              <a:rPr lang="en-US" dirty="0"/>
              <a:t>isual </a:t>
            </a:r>
            <a:r>
              <a:rPr lang="en-US" b="1" dirty="0"/>
              <a:t>S</a:t>
            </a:r>
            <a:r>
              <a:rPr lang="en-US" dirty="0"/>
              <a:t>earch </a:t>
            </a:r>
            <a:r>
              <a:rPr lang="en-US" b="1" dirty="0"/>
              <a:t>N</a:t>
            </a:r>
            <a:r>
              <a:rPr lang="en-US" dirty="0"/>
              <a:t>etwork (</a:t>
            </a:r>
            <a:r>
              <a:rPr lang="en-US" b="1" dirty="0"/>
              <a:t>IVSN</a:t>
            </a:r>
            <a:r>
              <a:rPr lang="en-US" dirty="0"/>
              <a:t>).</a:t>
            </a:r>
          </a:p>
          <a:p>
            <a:pPr>
              <a:buFontTx/>
              <a:buChar char="-"/>
            </a:pPr>
            <a:r>
              <a:rPr lang="en-US" dirty="0"/>
              <a:t>Top-down approach architecture.</a:t>
            </a:r>
          </a:p>
          <a:p>
            <a:pPr>
              <a:buFontTx/>
              <a:buChar char="-"/>
            </a:pPr>
            <a:r>
              <a:rPr lang="en-US" dirty="0"/>
              <a:t>The attention map is generated by a first-order approximation (dot product between target output tensor and each entry of the output tensor)</a:t>
            </a:r>
          </a:p>
          <a:p>
            <a:pPr>
              <a:buFontTx/>
              <a:buChar char="-"/>
            </a:pPr>
            <a:r>
              <a:rPr lang="en-US" dirty="0"/>
              <a:t>The output attention map is resized to match the original input context image to apply searching algorithm</a:t>
            </a:r>
          </a:p>
          <a:p>
            <a:pPr>
              <a:buFontTx/>
              <a:buChar char="-"/>
            </a:pPr>
            <a:endParaRPr lang="en-US" dirty="0"/>
          </a:p>
          <a:p>
            <a:pPr marL="0" indent="0">
              <a:buNone/>
            </a:pPr>
            <a:endParaRPr lang="en-US" dirty="0"/>
          </a:p>
        </p:txBody>
      </p:sp>
      <p:cxnSp>
        <p:nvCxnSpPr>
          <p:cNvPr id="5" name="Straight Connector 4">
            <a:extLst>
              <a:ext uri="{FF2B5EF4-FFF2-40B4-BE49-F238E27FC236}">
                <a16:creationId xmlns:a16="http://schemas.microsoft.com/office/drawing/2014/main" id="{9F21AE7F-49F3-258B-09D3-EA3E4737C178}"/>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1D9282B4-2C49-2E23-E9BC-6816327E20B6}"/>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613DF884-0EFF-9529-D358-B2ECD9587843}"/>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4BD15AFB-0A71-B850-385B-11F833FE2833}"/>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B659D9FF-886A-044B-DB76-9D1E5C3EC794}"/>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A59FA648-1B2E-3068-C2F8-B74ED9BF366B}"/>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FE48A7-0157-8EEE-8AC7-49336B54451D}"/>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25102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CC886-B5A2-D4F4-2AD1-637B40AE78D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CE63B87-9AD4-0415-5DFD-DD39D16A2CA2}"/>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10B11659-BFA2-60D9-79D7-8CAE41E77002}"/>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8A918A6E-CAD5-4BBE-4688-A66208BFCCED}"/>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2CC30672-4BA0-D506-0AA8-8343142CEC94}"/>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2F911B21-E193-817B-9ECE-4B0E7E38FE69}"/>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61299D49-C2EB-7E25-F192-77EE4609382A}"/>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CBBE77B-B33B-CD1F-53D2-9C396B41C54E}"/>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diagram of a diagram of a diagram&#10;&#10;AI-generated content may be incorrect.">
            <a:extLst>
              <a:ext uri="{FF2B5EF4-FFF2-40B4-BE49-F238E27FC236}">
                <a16:creationId xmlns:a16="http://schemas.microsoft.com/office/drawing/2014/main" id="{D7EE4162-CCAD-2440-EC2D-AECA3DF21CC2}"/>
              </a:ext>
            </a:extLst>
          </p:cNvPr>
          <p:cNvPicPr>
            <a:picLocks noChangeAspect="1"/>
          </p:cNvPicPr>
          <p:nvPr/>
        </p:nvPicPr>
        <p:blipFill>
          <a:blip r:embed="rId3"/>
          <a:stretch>
            <a:fillRect/>
          </a:stretch>
        </p:blipFill>
        <p:spPr>
          <a:xfrm>
            <a:off x="1192069" y="1616039"/>
            <a:ext cx="3954268" cy="4014253"/>
          </a:xfrm>
          <a:prstGeom prst="rect">
            <a:avLst/>
          </a:prstGeom>
        </p:spPr>
      </p:pic>
      <p:pic>
        <p:nvPicPr>
          <p:cNvPr id="9" name="Graphic 1">
            <a:extLst>
              <a:ext uri="{FF2B5EF4-FFF2-40B4-BE49-F238E27FC236}">
                <a16:creationId xmlns:a16="http://schemas.microsoft.com/office/drawing/2014/main" id="{7AD4901E-5B76-0A35-EFE7-33F13ED469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50130" y="1644857"/>
            <a:ext cx="5319246" cy="3639956"/>
          </a:xfrm>
          <a:prstGeom prst="rect">
            <a:avLst/>
          </a:prstGeom>
        </p:spPr>
      </p:pic>
      <p:sp>
        <p:nvSpPr>
          <p:cNvPr id="15" name="TextBox 14">
            <a:extLst>
              <a:ext uri="{FF2B5EF4-FFF2-40B4-BE49-F238E27FC236}">
                <a16:creationId xmlns:a16="http://schemas.microsoft.com/office/drawing/2014/main" id="{963BA93E-68D7-0D2D-C4C7-42BA86CEFFF2}"/>
              </a:ext>
            </a:extLst>
          </p:cNvPr>
          <p:cNvSpPr txBox="1"/>
          <p:nvPr/>
        </p:nvSpPr>
        <p:spPr>
          <a:xfrm>
            <a:off x="954464" y="5700579"/>
            <a:ext cx="4191866" cy="369332"/>
          </a:xfrm>
          <a:prstGeom prst="rect">
            <a:avLst/>
          </a:prstGeom>
          <a:noFill/>
        </p:spPr>
        <p:txBody>
          <a:bodyPr wrap="square">
            <a:spAutoFit/>
          </a:bodyPr>
          <a:lstStyle/>
          <a:p>
            <a:r>
              <a:rPr lang="en-SG" sz="1800" i="1" dirty="0">
                <a:effectLst/>
                <a:latin typeface="Times New Roman" panose="02020603050405020304" pitchFamily="18" charset="0"/>
                <a:ea typeface="Aptos" panose="020B0004020202020204" pitchFamily="34" charset="0"/>
                <a:cs typeface="Times New Roman (Body CS)"/>
              </a:rPr>
              <a:t>IVSN model schematic (Zhang et al., 2018)</a:t>
            </a:r>
            <a:r>
              <a:rPr lang="en-SG" i="1" dirty="0">
                <a:effectLst/>
              </a:rPr>
              <a:t> </a:t>
            </a:r>
            <a:endParaRPr lang="en-US" i="1" dirty="0"/>
          </a:p>
        </p:txBody>
      </p:sp>
      <p:sp>
        <p:nvSpPr>
          <p:cNvPr id="17" name="TextBox 16">
            <a:extLst>
              <a:ext uri="{FF2B5EF4-FFF2-40B4-BE49-F238E27FC236}">
                <a16:creationId xmlns:a16="http://schemas.microsoft.com/office/drawing/2014/main" id="{F1422BFE-9819-0C58-EC4A-9704D1117D94}"/>
              </a:ext>
            </a:extLst>
          </p:cNvPr>
          <p:cNvSpPr txBox="1"/>
          <p:nvPr/>
        </p:nvSpPr>
        <p:spPr>
          <a:xfrm>
            <a:off x="6685961" y="5213143"/>
            <a:ext cx="3306451" cy="369332"/>
          </a:xfrm>
          <a:prstGeom prst="rect">
            <a:avLst/>
          </a:prstGeom>
          <a:noFill/>
        </p:spPr>
        <p:txBody>
          <a:bodyPr wrap="square">
            <a:spAutoFit/>
          </a:bodyPr>
          <a:lstStyle/>
          <a:p>
            <a:r>
              <a:rPr lang="en-SG" sz="1800" i="1" dirty="0">
                <a:effectLst/>
                <a:latin typeface="Times New Roman" panose="02020603050405020304" pitchFamily="18" charset="0"/>
                <a:ea typeface="Aptos" panose="020B0004020202020204" pitchFamily="34" charset="0"/>
                <a:cs typeface="Times New Roman (Body CS)"/>
              </a:rPr>
              <a:t>Top-down modulation illustration</a:t>
            </a:r>
            <a:r>
              <a:rPr lang="en-SG" i="1" dirty="0">
                <a:effectLst/>
              </a:rPr>
              <a:t> </a:t>
            </a:r>
            <a:endParaRPr lang="en-US" i="1" dirty="0"/>
          </a:p>
        </p:txBody>
      </p:sp>
      <p:sp>
        <p:nvSpPr>
          <p:cNvPr id="18" name="Oval 17">
            <a:extLst>
              <a:ext uri="{FF2B5EF4-FFF2-40B4-BE49-F238E27FC236}">
                <a16:creationId xmlns:a16="http://schemas.microsoft.com/office/drawing/2014/main" id="{6CD2B016-AD6A-96E7-11F4-7163D834CAF6}"/>
              </a:ext>
            </a:extLst>
          </p:cNvPr>
          <p:cNvSpPr/>
          <p:nvPr/>
        </p:nvSpPr>
        <p:spPr>
          <a:xfrm>
            <a:off x="2573517" y="2158930"/>
            <a:ext cx="386307" cy="386307"/>
          </a:xfrm>
          <a:prstGeom prst="ellipse">
            <a:avLst/>
          </a:prstGeom>
          <a:no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9D66AE6-2268-C4FE-CE56-5CD2ACC551CB}"/>
              </a:ext>
            </a:extLst>
          </p:cNvPr>
          <p:cNvCxnSpPr>
            <a:cxnSpLocks/>
          </p:cNvCxnSpPr>
          <p:nvPr/>
        </p:nvCxnSpPr>
        <p:spPr>
          <a:xfrm flipV="1">
            <a:off x="2766670" y="1800705"/>
            <a:ext cx="3919291" cy="358225"/>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C4EC784-E214-44A6-563C-FC7C3C0F893C}"/>
              </a:ext>
            </a:extLst>
          </p:cNvPr>
          <p:cNvCxnSpPr>
            <a:stCxn id="18" idx="4"/>
          </p:cNvCxnSpPr>
          <p:nvPr/>
        </p:nvCxnSpPr>
        <p:spPr>
          <a:xfrm>
            <a:off x="2766671" y="2545237"/>
            <a:ext cx="3728397" cy="2667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122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BF8B-AEFA-0A45-BF97-9BF87C1B8C1D}"/>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E1CAB38-B8B5-46BE-51CD-C94345329DF9}"/>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ECCF4FF-EC45-AD16-74AD-7A6BA1C58CE1}"/>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D5777BC4-EB76-C6A4-E4C5-2E3294835B4C}"/>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7EB0D48D-910B-4071-86C5-D1301DE0645F}"/>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BE76AF19-D97F-A809-EF87-1C1B9988D663}"/>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53C263C8-23F1-3CE7-45BB-72A2E991C78D}"/>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7E192CE-D935-91DD-4B1B-C45A93E0D6D8}"/>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A0606F9F-3D2B-7B13-4D75-8E3B3BBA1E68}"/>
              </a:ext>
            </a:extLst>
          </p:cNvPr>
          <p:cNvPicPr>
            <a:picLocks noChangeAspect="1"/>
          </p:cNvPicPr>
          <p:nvPr/>
        </p:nvPicPr>
        <p:blipFill>
          <a:blip r:embed="rId3"/>
          <a:stretch>
            <a:fillRect/>
          </a:stretch>
        </p:blipFill>
        <p:spPr>
          <a:xfrm>
            <a:off x="1050891" y="1954185"/>
            <a:ext cx="7772400" cy="3769295"/>
          </a:xfrm>
          <a:prstGeom prst="rect">
            <a:avLst/>
          </a:prstGeom>
        </p:spPr>
      </p:pic>
      <p:pic>
        <p:nvPicPr>
          <p:cNvPr id="6" name="Picture 5">
            <a:extLst>
              <a:ext uri="{FF2B5EF4-FFF2-40B4-BE49-F238E27FC236}">
                <a16:creationId xmlns:a16="http://schemas.microsoft.com/office/drawing/2014/main" id="{1A2FC199-451A-A9F3-2547-EBCA4293832E}"/>
              </a:ext>
            </a:extLst>
          </p:cNvPr>
          <p:cNvPicPr>
            <a:picLocks noChangeAspect="1"/>
          </p:cNvPicPr>
          <p:nvPr/>
        </p:nvPicPr>
        <p:blipFill>
          <a:blip r:embed="rId4"/>
          <a:stretch>
            <a:fillRect/>
          </a:stretch>
        </p:blipFill>
        <p:spPr>
          <a:xfrm>
            <a:off x="9206189" y="1616039"/>
            <a:ext cx="983843" cy="981333"/>
          </a:xfrm>
          <a:prstGeom prst="rect">
            <a:avLst/>
          </a:prstGeom>
        </p:spPr>
      </p:pic>
      <p:pic>
        <p:nvPicPr>
          <p:cNvPr id="10" name="Picture 9">
            <a:extLst>
              <a:ext uri="{FF2B5EF4-FFF2-40B4-BE49-F238E27FC236}">
                <a16:creationId xmlns:a16="http://schemas.microsoft.com/office/drawing/2014/main" id="{0570D576-7995-C9EE-19C3-02F3501B2D57}"/>
              </a:ext>
            </a:extLst>
          </p:cNvPr>
          <p:cNvPicPr>
            <a:picLocks noChangeAspect="1"/>
          </p:cNvPicPr>
          <p:nvPr/>
        </p:nvPicPr>
        <p:blipFill>
          <a:blip r:embed="rId5"/>
          <a:stretch>
            <a:fillRect/>
          </a:stretch>
        </p:blipFill>
        <p:spPr>
          <a:xfrm>
            <a:off x="9206189" y="2689039"/>
            <a:ext cx="986458" cy="981333"/>
          </a:xfrm>
          <a:prstGeom prst="rect">
            <a:avLst/>
          </a:prstGeom>
        </p:spPr>
      </p:pic>
      <p:pic>
        <p:nvPicPr>
          <p:cNvPr id="16" name="Picture 15">
            <a:extLst>
              <a:ext uri="{FF2B5EF4-FFF2-40B4-BE49-F238E27FC236}">
                <a16:creationId xmlns:a16="http://schemas.microsoft.com/office/drawing/2014/main" id="{1E4D5A3B-B009-57D8-D9EF-7EFDDE8000EB}"/>
              </a:ext>
            </a:extLst>
          </p:cNvPr>
          <p:cNvPicPr>
            <a:picLocks noChangeAspect="1"/>
          </p:cNvPicPr>
          <p:nvPr/>
        </p:nvPicPr>
        <p:blipFill>
          <a:blip r:embed="rId6"/>
          <a:stretch>
            <a:fillRect/>
          </a:stretch>
        </p:blipFill>
        <p:spPr>
          <a:xfrm>
            <a:off x="9215681" y="3779480"/>
            <a:ext cx="964857" cy="962298"/>
          </a:xfrm>
          <a:prstGeom prst="rect">
            <a:avLst/>
          </a:prstGeom>
        </p:spPr>
      </p:pic>
      <p:pic>
        <p:nvPicPr>
          <p:cNvPr id="19" name="Picture 18">
            <a:extLst>
              <a:ext uri="{FF2B5EF4-FFF2-40B4-BE49-F238E27FC236}">
                <a16:creationId xmlns:a16="http://schemas.microsoft.com/office/drawing/2014/main" id="{0869CC0E-0277-924A-FC74-1697585D6B1B}"/>
              </a:ext>
            </a:extLst>
          </p:cNvPr>
          <p:cNvPicPr>
            <a:picLocks noChangeAspect="1"/>
          </p:cNvPicPr>
          <p:nvPr/>
        </p:nvPicPr>
        <p:blipFill>
          <a:blip r:embed="rId7"/>
          <a:stretch>
            <a:fillRect/>
          </a:stretch>
        </p:blipFill>
        <p:spPr>
          <a:xfrm>
            <a:off x="9225179" y="4866384"/>
            <a:ext cx="964853" cy="962300"/>
          </a:xfrm>
          <a:prstGeom prst="rect">
            <a:avLst/>
          </a:prstGeom>
        </p:spPr>
      </p:pic>
    </p:spTree>
    <p:extLst>
      <p:ext uri="{BB962C8B-B14F-4D97-AF65-F5344CB8AC3E}">
        <p14:creationId xmlns:p14="http://schemas.microsoft.com/office/powerpoint/2010/main" val="1534654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0D4AB-95FE-C53B-180F-02CB52206010}"/>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1B22FCC-B70B-C3F1-D6EF-3734D0474B62}"/>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8E917EEF-3B7C-C0AE-8F45-D023755374FA}"/>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125450E3-6593-2057-3FAC-6D2A4BD2EB06}"/>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C2DA0BAB-739F-7327-42C5-707C34A46110}"/>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1EDD1A1A-0282-FFDA-24D6-D98F54759BE8}"/>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0C36FCC5-B4C9-CBBD-7118-8800F3B5300E}"/>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E266ECE-7988-8606-45CD-D17157282E0F}"/>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9F27A38E-703C-E4B6-6B57-C31F8A73D599}"/>
              </a:ext>
            </a:extLst>
          </p:cNvPr>
          <p:cNvPicPr>
            <a:picLocks noChangeAspect="1"/>
          </p:cNvPicPr>
          <p:nvPr/>
        </p:nvPicPr>
        <p:blipFill>
          <a:blip r:embed="rId3"/>
          <a:stretch>
            <a:fillRect/>
          </a:stretch>
        </p:blipFill>
        <p:spPr>
          <a:xfrm>
            <a:off x="1050891" y="1954185"/>
            <a:ext cx="7772400" cy="3769295"/>
          </a:xfrm>
          <a:prstGeom prst="rect">
            <a:avLst/>
          </a:prstGeom>
        </p:spPr>
      </p:pic>
      <p:pic>
        <p:nvPicPr>
          <p:cNvPr id="6" name="Picture 5">
            <a:extLst>
              <a:ext uri="{FF2B5EF4-FFF2-40B4-BE49-F238E27FC236}">
                <a16:creationId xmlns:a16="http://schemas.microsoft.com/office/drawing/2014/main" id="{537A6380-1C2F-EC67-FBC3-85E15AA433F8}"/>
              </a:ext>
            </a:extLst>
          </p:cNvPr>
          <p:cNvPicPr>
            <a:picLocks noChangeAspect="1"/>
          </p:cNvPicPr>
          <p:nvPr/>
        </p:nvPicPr>
        <p:blipFill>
          <a:blip r:embed="rId4"/>
          <a:stretch>
            <a:fillRect/>
          </a:stretch>
        </p:blipFill>
        <p:spPr>
          <a:xfrm>
            <a:off x="9206189" y="1616039"/>
            <a:ext cx="983843" cy="981333"/>
          </a:xfrm>
          <a:prstGeom prst="rect">
            <a:avLst/>
          </a:prstGeom>
        </p:spPr>
      </p:pic>
      <p:pic>
        <p:nvPicPr>
          <p:cNvPr id="10" name="Picture 9">
            <a:extLst>
              <a:ext uri="{FF2B5EF4-FFF2-40B4-BE49-F238E27FC236}">
                <a16:creationId xmlns:a16="http://schemas.microsoft.com/office/drawing/2014/main" id="{0FF4EE48-8489-D22D-0BAB-FE340828C1EC}"/>
              </a:ext>
            </a:extLst>
          </p:cNvPr>
          <p:cNvPicPr>
            <a:picLocks noChangeAspect="1"/>
          </p:cNvPicPr>
          <p:nvPr/>
        </p:nvPicPr>
        <p:blipFill>
          <a:blip r:embed="rId5"/>
          <a:stretch>
            <a:fillRect/>
          </a:stretch>
        </p:blipFill>
        <p:spPr>
          <a:xfrm>
            <a:off x="9206189" y="2689039"/>
            <a:ext cx="986458" cy="981333"/>
          </a:xfrm>
          <a:prstGeom prst="rect">
            <a:avLst/>
          </a:prstGeom>
        </p:spPr>
      </p:pic>
      <p:pic>
        <p:nvPicPr>
          <p:cNvPr id="16" name="Picture 15">
            <a:extLst>
              <a:ext uri="{FF2B5EF4-FFF2-40B4-BE49-F238E27FC236}">
                <a16:creationId xmlns:a16="http://schemas.microsoft.com/office/drawing/2014/main" id="{C751C81B-36C3-9F18-B146-D0E394F26131}"/>
              </a:ext>
            </a:extLst>
          </p:cNvPr>
          <p:cNvPicPr>
            <a:picLocks noChangeAspect="1"/>
          </p:cNvPicPr>
          <p:nvPr/>
        </p:nvPicPr>
        <p:blipFill>
          <a:blip r:embed="rId6"/>
          <a:stretch>
            <a:fillRect/>
          </a:stretch>
        </p:blipFill>
        <p:spPr>
          <a:xfrm>
            <a:off x="9215681" y="3779480"/>
            <a:ext cx="964857" cy="962298"/>
          </a:xfrm>
          <a:prstGeom prst="rect">
            <a:avLst/>
          </a:prstGeom>
        </p:spPr>
      </p:pic>
      <p:pic>
        <p:nvPicPr>
          <p:cNvPr id="19" name="Picture 18">
            <a:extLst>
              <a:ext uri="{FF2B5EF4-FFF2-40B4-BE49-F238E27FC236}">
                <a16:creationId xmlns:a16="http://schemas.microsoft.com/office/drawing/2014/main" id="{F0184E75-D2EA-C3BF-35D2-3165D18FA561}"/>
              </a:ext>
            </a:extLst>
          </p:cNvPr>
          <p:cNvPicPr>
            <a:picLocks noChangeAspect="1"/>
          </p:cNvPicPr>
          <p:nvPr/>
        </p:nvPicPr>
        <p:blipFill>
          <a:blip r:embed="rId7"/>
          <a:stretch>
            <a:fillRect/>
          </a:stretch>
        </p:blipFill>
        <p:spPr>
          <a:xfrm>
            <a:off x="9225179" y="4866384"/>
            <a:ext cx="964853" cy="962300"/>
          </a:xfrm>
          <a:prstGeom prst="rect">
            <a:avLst/>
          </a:prstGeom>
        </p:spPr>
      </p:pic>
      <p:cxnSp>
        <p:nvCxnSpPr>
          <p:cNvPr id="8" name="Straight Arrow Connector 7">
            <a:extLst>
              <a:ext uri="{FF2B5EF4-FFF2-40B4-BE49-F238E27FC236}">
                <a16:creationId xmlns:a16="http://schemas.microsoft.com/office/drawing/2014/main" id="{D4AD78FC-2DCE-2018-8BB9-C9B2B0D1F365}"/>
              </a:ext>
            </a:extLst>
          </p:cNvPr>
          <p:cNvCxnSpPr>
            <a:cxnSpLocks/>
          </p:cNvCxnSpPr>
          <p:nvPr/>
        </p:nvCxnSpPr>
        <p:spPr>
          <a:xfrm flipV="1">
            <a:off x="7352907" y="2467980"/>
            <a:ext cx="2139885" cy="6240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D74437B-8672-C57A-7E2D-CFF5C523C4FB}"/>
              </a:ext>
            </a:extLst>
          </p:cNvPr>
          <p:cNvSpPr/>
          <p:nvPr/>
        </p:nvSpPr>
        <p:spPr>
          <a:xfrm>
            <a:off x="1970202" y="2976893"/>
            <a:ext cx="5382705" cy="284781"/>
          </a:xfrm>
          <a:prstGeom prst="rect">
            <a:avLst/>
          </a:prstGeom>
          <a:noFill/>
          <a:ln w="381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797611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D911F-C6ED-39EA-16E7-7A91986F8EFD}"/>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54EFC5A-19C6-8A91-EE9B-2B4A22372E74}"/>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9BD6E0AB-46FD-D1C7-774D-3B4A6294A05E}"/>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B4BBD123-CB6E-565B-793C-C0407445F4AE}"/>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DFC65141-1DEC-56BF-2445-DA4DE0D89A2B}"/>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E40FDB33-D52C-8116-E6AB-0E48FD435956}"/>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F932AC44-F0DE-B9BD-0D3A-C953A807DFD1}"/>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9FACB1E-E1EB-E47B-1DF1-99A7346B9764}"/>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AFBDEF77-A93B-5C4C-3DBD-BCA08B59E24C}"/>
              </a:ext>
            </a:extLst>
          </p:cNvPr>
          <p:cNvPicPr>
            <a:picLocks noChangeAspect="1"/>
          </p:cNvPicPr>
          <p:nvPr/>
        </p:nvPicPr>
        <p:blipFill>
          <a:blip r:embed="rId3"/>
          <a:stretch>
            <a:fillRect/>
          </a:stretch>
        </p:blipFill>
        <p:spPr>
          <a:xfrm>
            <a:off x="1050891" y="1954185"/>
            <a:ext cx="7772400" cy="3769295"/>
          </a:xfrm>
          <a:prstGeom prst="rect">
            <a:avLst/>
          </a:prstGeom>
        </p:spPr>
      </p:pic>
      <p:pic>
        <p:nvPicPr>
          <p:cNvPr id="6" name="Picture 5">
            <a:extLst>
              <a:ext uri="{FF2B5EF4-FFF2-40B4-BE49-F238E27FC236}">
                <a16:creationId xmlns:a16="http://schemas.microsoft.com/office/drawing/2014/main" id="{54BEA8D5-A123-8060-4AEC-2B76A0264C6A}"/>
              </a:ext>
            </a:extLst>
          </p:cNvPr>
          <p:cNvPicPr>
            <a:picLocks noChangeAspect="1"/>
          </p:cNvPicPr>
          <p:nvPr/>
        </p:nvPicPr>
        <p:blipFill>
          <a:blip r:embed="rId4"/>
          <a:stretch>
            <a:fillRect/>
          </a:stretch>
        </p:blipFill>
        <p:spPr>
          <a:xfrm>
            <a:off x="9206189" y="1616039"/>
            <a:ext cx="983843" cy="981333"/>
          </a:xfrm>
          <a:prstGeom prst="rect">
            <a:avLst/>
          </a:prstGeom>
        </p:spPr>
      </p:pic>
      <p:pic>
        <p:nvPicPr>
          <p:cNvPr id="10" name="Picture 9">
            <a:extLst>
              <a:ext uri="{FF2B5EF4-FFF2-40B4-BE49-F238E27FC236}">
                <a16:creationId xmlns:a16="http://schemas.microsoft.com/office/drawing/2014/main" id="{21E82F28-A03D-3DE2-CCDF-17090E32F10E}"/>
              </a:ext>
            </a:extLst>
          </p:cNvPr>
          <p:cNvPicPr>
            <a:picLocks noChangeAspect="1"/>
          </p:cNvPicPr>
          <p:nvPr/>
        </p:nvPicPr>
        <p:blipFill>
          <a:blip r:embed="rId5"/>
          <a:stretch>
            <a:fillRect/>
          </a:stretch>
        </p:blipFill>
        <p:spPr>
          <a:xfrm>
            <a:off x="9206189" y="2689039"/>
            <a:ext cx="986458" cy="981333"/>
          </a:xfrm>
          <a:prstGeom prst="rect">
            <a:avLst/>
          </a:prstGeom>
        </p:spPr>
      </p:pic>
      <p:pic>
        <p:nvPicPr>
          <p:cNvPr id="16" name="Picture 15">
            <a:extLst>
              <a:ext uri="{FF2B5EF4-FFF2-40B4-BE49-F238E27FC236}">
                <a16:creationId xmlns:a16="http://schemas.microsoft.com/office/drawing/2014/main" id="{E40ADE3E-BAC5-8910-102E-06F19BD2A2AC}"/>
              </a:ext>
            </a:extLst>
          </p:cNvPr>
          <p:cNvPicPr>
            <a:picLocks noChangeAspect="1"/>
          </p:cNvPicPr>
          <p:nvPr/>
        </p:nvPicPr>
        <p:blipFill>
          <a:blip r:embed="rId6"/>
          <a:stretch>
            <a:fillRect/>
          </a:stretch>
        </p:blipFill>
        <p:spPr>
          <a:xfrm>
            <a:off x="9215681" y="3779480"/>
            <a:ext cx="964857" cy="962298"/>
          </a:xfrm>
          <a:prstGeom prst="rect">
            <a:avLst/>
          </a:prstGeom>
        </p:spPr>
      </p:pic>
      <p:pic>
        <p:nvPicPr>
          <p:cNvPr id="19" name="Picture 18">
            <a:extLst>
              <a:ext uri="{FF2B5EF4-FFF2-40B4-BE49-F238E27FC236}">
                <a16:creationId xmlns:a16="http://schemas.microsoft.com/office/drawing/2014/main" id="{FC0705CA-990A-C78A-D3D3-F82CB187F9E1}"/>
              </a:ext>
            </a:extLst>
          </p:cNvPr>
          <p:cNvPicPr>
            <a:picLocks noChangeAspect="1"/>
          </p:cNvPicPr>
          <p:nvPr/>
        </p:nvPicPr>
        <p:blipFill>
          <a:blip r:embed="rId7"/>
          <a:stretch>
            <a:fillRect/>
          </a:stretch>
        </p:blipFill>
        <p:spPr>
          <a:xfrm>
            <a:off x="9225179" y="4866384"/>
            <a:ext cx="964853" cy="962300"/>
          </a:xfrm>
          <a:prstGeom prst="rect">
            <a:avLst/>
          </a:prstGeom>
        </p:spPr>
      </p:pic>
      <p:cxnSp>
        <p:nvCxnSpPr>
          <p:cNvPr id="8" name="Straight Arrow Connector 7">
            <a:extLst>
              <a:ext uri="{FF2B5EF4-FFF2-40B4-BE49-F238E27FC236}">
                <a16:creationId xmlns:a16="http://schemas.microsoft.com/office/drawing/2014/main" id="{E2DAC790-D86C-E009-4723-F012DAAD0B58}"/>
              </a:ext>
            </a:extLst>
          </p:cNvPr>
          <p:cNvCxnSpPr>
            <a:cxnSpLocks/>
            <a:stCxn id="17" idx="3"/>
          </p:cNvCxnSpPr>
          <p:nvPr/>
        </p:nvCxnSpPr>
        <p:spPr>
          <a:xfrm>
            <a:off x="4732256" y="3373808"/>
            <a:ext cx="4609707" cy="1423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51A2CC9-68F9-FBD8-EE68-91A945FDC603}"/>
              </a:ext>
            </a:extLst>
          </p:cNvPr>
          <p:cNvSpPr/>
          <p:nvPr/>
        </p:nvSpPr>
        <p:spPr>
          <a:xfrm>
            <a:off x="1982801" y="3231417"/>
            <a:ext cx="2749455" cy="284781"/>
          </a:xfrm>
          <a:prstGeom prst="rect">
            <a:avLst/>
          </a:prstGeom>
          <a:noFill/>
          <a:ln w="381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422092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0A786-C904-6408-ED78-C80F09B4FC6D}"/>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C6288DA-68F6-3F09-1179-0CF41B16058B}"/>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7EC039A3-2AA0-3913-9991-2F7F724395F7}"/>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80C11CF7-528F-623E-07A0-4D87A26199C7}"/>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0560E582-9AD7-D96C-4C6B-C01BDE19B824}"/>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ECB0F850-496B-8650-48A5-DCA9A315780D}"/>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7C2B6BC4-E1BD-C236-BE68-81D106D6176E}"/>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B5E633-9932-B213-A217-083706BADB17}"/>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FD3BB6E8-C0F4-D21C-9567-86EFEA32BC7F}"/>
              </a:ext>
            </a:extLst>
          </p:cNvPr>
          <p:cNvPicPr>
            <a:picLocks noChangeAspect="1"/>
          </p:cNvPicPr>
          <p:nvPr/>
        </p:nvPicPr>
        <p:blipFill>
          <a:blip r:embed="rId3"/>
          <a:stretch>
            <a:fillRect/>
          </a:stretch>
        </p:blipFill>
        <p:spPr>
          <a:xfrm>
            <a:off x="1050891" y="1954185"/>
            <a:ext cx="7772400" cy="3769295"/>
          </a:xfrm>
          <a:prstGeom prst="rect">
            <a:avLst/>
          </a:prstGeom>
        </p:spPr>
      </p:pic>
      <p:pic>
        <p:nvPicPr>
          <p:cNvPr id="6" name="Picture 5">
            <a:extLst>
              <a:ext uri="{FF2B5EF4-FFF2-40B4-BE49-F238E27FC236}">
                <a16:creationId xmlns:a16="http://schemas.microsoft.com/office/drawing/2014/main" id="{12AF1A16-DC73-545E-102D-D971966E894D}"/>
              </a:ext>
            </a:extLst>
          </p:cNvPr>
          <p:cNvPicPr>
            <a:picLocks noChangeAspect="1"/>
          </p:cNvPicPr>
          <p:nvPr/>
        </p:nvPicPr>
        <p:blipFill>
          <a:blip r:embed="rId4"/>
          <a:stretch>
            <a:fillRect/>
          </a:stretch>
        </p:blipFill>
        <p:spPr>
          <a:xfrm>
            <a:off x="9206189" y="1616039"/>
            <a:ext cx="983843" cy="981333"/>
          </a:xfrm>
          <a:prstGeom prst="rect">
            <a:avLst/>
          </a:prstGeom>
        </p:spPr>
      </p:pic>
      <p:pic>
        <p:nvPicPr>
          <p:cNvPr id="10" name="Picture 9">
            <a:extLst>
              <a:ext uri="{FF2B5EF4-FFF2-40B4-BE49-F238E27FC236}">
                <a16:creationId xmlns:a16="http://schemas.microsoft.com/office/drawing/2014/main" id="{66524040-788C-9665-F439-519AF698FDE3}"/>
              </a:ext>
            </a:extLst>
          </p:cNvPr>
          <p:cNvPicPr>
            <a:picLocks noChangeAspect="1"/>
          </p:cNvPicPr>
          <p:nvPr/>
        </p:nvPicPr>
        <p:blipFill>
          <a:blip r:embed="rId5"/>
          <a:stretch>
            <a:fillRect/>
          </a:stretch>
        </p:blipFill>
        <p:spPr>
          <a:xfrm>
            <a:off x="9206189" y="2689039"/>
            <a:ext cx="986458" cy="981333"/>
          </a:xfrm>
          <a:prstGeom prst="rect">
            <a:avLst/>
          </a:prstGeom>
        </p:spPr>
      </p:pic>
      <p:pic>
        <p:nvPicPr>
          <p:cNvPr id="16" name="Picture 15">
            <a:extLst>
              <a:ext uri="{FF2B5EF4-FFF2-40B4-BE49-F238E27FC236}">
                <a16:creationId xmlns:a16="http://schemas.microsoft.com/office/drawing/2014/main" id="{7F5559CF-0CDD-CCA0-C9FD-91870CF1027E}"/>
              </a:ext>
            </a:extLst>
          </p:cNvPr>
          <p:cNvPicPr>
            <a:picLocks noChangeAspect="1"/>
          </p:cNvPicPr>
          <p:nvPr/>
        </p:nvPicPr>
        <p:blipFill>
          <a:blip r:embed="rId6"/>
          <a:stretch>
            <a:fillRect/>
          </a:stretch>
        </p:blipFill>
        <p:spPr>
          <a:xfrm>
            <a:off x="9215681" y="3779480"/>
            <a:ext cx="964857" cy="962298"/>
          </a:xfrm>
          <a:prstGeom prst="rect">
            <a:avLst/>
          </a:prstGeom>
        </p:spPr>
      </p:pic>
      <p:pic>
        <p:nvPicPr>
          <p:cNvPr id="19" name="Picture 18">
            <a:extLst>
              <a:ext uri="{FF2B5EF4-FFF2-40B4-BE49-F238E27FC236}">
                <a16:creationId xmlns:a16="http://schemas.microsoft.com/office/drawing/2014/main" id="{3704B12F-1A99-264F-E67B-367B8433117A}"/>
              </a:ext>
            </a:extLst>
          </p:cNvPr>
          <p:cNvPicPr>
            <a:picLocks noChangeAspect="1"/>
          </p:cNvPicPr>
          <p:nvPr/>
        </p:nvPicPr>
        <p:blipFill>
          <a:blip r:embed="rId7"/>
          <a:stretch>
            <a:fillRect/>
          </a:stretch>
        </p:blipFill>
        <p:spPr>
          <a:xfrm>
            <a:off x="9225179" y="4866384"/>
            <a:ext cx="964853" cy="962300"/>
          </a:xfrm>
          <a:prstGeom prst="rect">
            <a:avLst/>
          </a:prstGeom>
        </p:spPr>
      </p:pic>
      <p:cxnSp>
        <p:nvCxnSpPr>
          <p:cNvPr id="8" name="Straight Arrow Connector 7">
            <a:extLst>
              <a:ext uri="{FF2B5EF4-FFF2-40B4-BE49-F238E27FC236}">
                <a16:creationId xmlns:a16="http://schemas.microsoft.com/office/drawing/2014/main" id="{3FBB3324-8CBC-78BE-3B02-97F9C34BB2D5}"/>
              </a:ext>
            </a:extLst>
          </p:cNvPr>
          <p:cNvCxnSpPr>
            <a:cxnSpLocks/>
            <a:stCxn id="17" idx="3"/>
          </p:cNvCxnSpPr>
          <p:nvPr/>
        </p:nvCxnSpPr>
        <p:spPr>
          <a:xfrm>
            <a:off x="2639505" y="3921871"/>
            <a:ext cx="6702458" cy="5935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79B512F2-F635-5981-4862-47C2B11EC00E}"/>
              </a:ext>
            </a:extLst>
          </p:cNvPr>
          <p:cNvSpPr/>
          <p:nvPr/>
        </p:nvSpPr>
        <p:spPr>
          <a:xfrm>
            <a:off x="2011462" y="3779480"/>
            <a:ext cx="628043" cy="284781"/>
          </a:xfrm>
          <a:prstGeom prst="rect">
            <a:avLst/>
          </a:prstGeom>
          <a:noFill/>
          <a:ln w="381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76191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9C576-6CA8-6898-D142-29EF104A7E36}"/>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1AD0B37-ACF1-2C67-302A-1F58F00FFC8B}"/>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6432357-5162-C942-B8EB-6BEF736CEAA1}"/>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3F7CA941-275D-0A87-A6EB-00BCE9255BC4}"/>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2DC0FED7-23CF-B0FF-9607-A03D33E374B5}"/>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D24EF60E-AA18-A2FD-F67D-714E8BC9CEA3}"/>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85F3453B-4FDE-6999-A8F1-0E03547B7A12}"/>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A5730A-C04D-1BAA-4A5A-648B9E1C19B8}"/>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4AE12E6C-0169-95F3-892E-2AA870A06A50}"/>
              </a:ext>
            </a:extLst>
          </p:cNvPr>
          <p:cNvPicPr>
            <a:picLocks noChangeAspect="1"/>
          </p:cNvPicPr>
          <p:nvPr/>
        </p:nvPicPr>
        <p:blipFill>
          <a:blip r:embed="rId3"/>
          <a:stretch>
            <a:fillRect/>
          </a:stretch>
        </p:blipFill>
        <p:spPr>
          <a:xfrm>
            <a:off x="1050891" y="1954185"/>
            <a:ext cx="7772400" cy="3769295"/>
          </a:xfrm>
          <a:prstGeom prst="rect">
            <a:avLst/>
          </a:prstGeom>
        </p:spPr>
      </p:pic>
      <p:pic>
        <p:nvPicPr>
          <p:cNvPr id="6" name="Picture 5">
            <a:extLst>
              <a:ext uri="{FF2B5EF4-FFF2-40B4-BE49-F238E27FC236}">
                <a16:creationId xmlns:a16="http://schemas.microsoft.com/office/drawing/2014/main" id="{1A6994B4-BB2F-B432-F710-89B54E2789A6}"/>
              </a:ext>
            </a:extLst>
          </p:cNvPr>
          <p:cNvPicPr>
            <a:picLocks noChangeAspect="1"/>
          </p:cNvPicPr>
          <p:nvPr/>
        </p:nvPicPr>
        <p:blipFill>
          <a:blip r:embed="rId4"/>
          <a:stretch>
            <a:fillRect/>
          </a:stretch>
        </p:blipFill>
        <p:spPr>
          <a:xfrm>
            <a:off x="9206189" y="1616039"/>
            <a:ext cx="983843" cy="981333"/>
          </a:xfrm>
          <a:prstGeom prst="rect">
            <a:avLst/>
          </a:prstGeom>
        </p:spPr>
      </p:pic>
      <p:pic>
        <p:nvPicPr>
          <p:cNvPr id="10" name="Picture 9">
            <a:extLst>
              <a:ext uri="{FF2B5EF4-FFF2-40B4-BE49-F238E27FC236}">
                <a16:creationId xmlns:a16="http://schemas.microsoft.com/office/drawing/2014/main" id="{E3E64643-69ED-7A6E-5A64-6B8D89BDCD1F}"/>
              </a:ext>
            </a:extLst>
          </p:cNvPr>
          <p:cNvPicPr>
            <a:picLocks noChangeAspect="1"/>
          </p:cNvPicPr>
          <p:nvPr/>
        </p:nvPicPr>
        <p:blipFill>
          <a:blip r:embed="rId5"/>
          <a:stretch>
            <a:fillRect/>
          </a:stretch>
        </p:blipFill>
        <p:spPr>
          <a:xfrm>
            <a:off x="9206189" y="2689039"/>
            <a:ext cx="986458" cy="981333"/>
          </a:xfrm>
          <a:prstGeom prst="rect">
            <a:avLst/>
          </a:prstGeom>
        </p:spPr>
      </p:pic>
      <p:pic>
        <p:nvPicPr>
          <p:cNvPr id="16" name="Picture 15">
            <a:extLst>
              <a:ext uri="{FF2B5EF4-FFF2-40B4-BE49-F238E27FC236}">
                <a16:creationId xmlns:a16="http://schemas.microsoft.com/office/drawing/2014/main" id="{396CD09A-2102-01AB-FB9B-0C342E3A13DC}"/>
              </a:ext>
            </a:extLst>
          </p:cNvPr>
          <p:cNvPicPr>
            <a:picLocks noChangeAspect="1"/>
          </p:cNvPicPr>
          <p:nvPr/>
        </p:nvPicPr>
        <p:blipFill>
          <a:blip r:embed="rId6"/>
          <a:stretch>
            <a:fillRect/>
          </a:stretch>
        </p:blipFill>
        <p:spPr>
          <a:xfrm>
            <a:off x="9215681" y="3779480"/>
            <a:ext cx="964857" cy="962298"/>
          </a:xfrm>
          <a:prstGeom prst="rect">
            <a:avLst/>
          </a:prstGeom>
        </p:spPr>
      </p:pic>
      <p:pic>
        <p:nvPicPr>
          <p:cNvPr id="19" name="Picture 18">
            <a:extLst>
              <a:ext uri="{FF2B5EF4-FFF2-40B4-BE49-F238E27FC236}">
                <a16:creationId xmlns:a16="http://schemas.microsoft.com/office/drawing/2014/main" id="{73102D96-8F17-46FD-72B6-BD7B9A4611B2}"/>
              </a:ext>
            </a:extLst>
          </p:cNvPr>
          <p:cNvPicPr>
            <a:picLocks noChangeAspect="1"/>
          </p:cNvPicPr>
          <p:nvPr/>
        </p:nvPicPr>
        <p:blipFill>
          <a:blip r:embed="rId7"/>
          <a:stretch>
            <a:fillRect/>
          </a:stretch>
        </p:blipFill>
        <p:spPr>
          <a:xfrm>
            <a:off x="9225179" y="4866384"/>
            <a:ext cx="964853" cy="962300"/>
          </a:xfrm>
          <a:prstGeom prst="rect">
            <a:avLst/>
          </a:prstGeom>
        </p:spPr>
      </p:pic>
      <p:cxnSp>
        <p:nvCxnSpPr>
          <p:cNvPr id="8" name="Straight Arrow Connector 7">
            <a:extLst>
              <a:ext uri="{FF2B5EF4-FFF2-40B4-BE49-F238E27FC236}">
                <a16:creationId xmlns:a16="http://schemas.microsoft.com/office/drawing/2014/main" id="{C1C478FF-9D07-53E0-2862-D7BBB6410061}"/>
              </a:ext>
            </a:extLst>
          </p:cNvPr>
          <p:cNvCxnSpPr>
            <a:cxnSpLocks/>
            <a:stCxn id="17" idx="3"/>
          </p:cNvCxnSpPr>
          <p:nvPr/>
        </p:nvCxnSpPr>
        <p:spPr>
          <a:xfrm flipV="1">
            <a:off x="8276734" y="4545410"/>
            <a:ext cx="1121790" cy="4633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C8502D3-C1D2-68AD-690E-A3B9DC4502DD}"/>
              </a:ext>
            </a:extLst>
          </p:cNvPr>
          <p:cNvSpPr/>
          <p:nvPr/>
        </p:nvSpPr>
        <p:spPr>
          <a:xfrm>
            <a:off x="2360254" y="4866384"/>
            <a:ext cx="5916480" cy="284781"/>
          </a:xfrm>
          <a:prstGeom prst="rect">
            <a:avLst/>
          </a:prstGeom>
          <a:noFill/>
          <a:ln w="381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42846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47B5D-CD75-6C94-3C6A-450C58385E8D}"/>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0B7A504-A312-B9E8-A366-20BE4C8E09A4}"/>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6EE9A678-0F77-7116-649B-71A1A92DCD9C}"/>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F3FEC59A-91FD-F773-C1F0-F54E4F629853}"/>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235FC6C1-B280-7A02-8151-1233AC65C194}"/>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C950FAC1-28C5-E45D-C63B-877D6D9DE065}"/>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B57F7973-8D42-A5F2-D9C9-F75058FDD471}"/>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C4F7AE2-D535-EB14-2423-58E0F6B8F163}"/>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A5A9EFD1-CA03-3F38-C93C-9381E99190FE}"/>
              </a:ext>
            </a:extLst>
          </p:cNvPr>
          <p:cNvPicPr>
            <a:picLocks noChangeAspect="1"/>
          </p:cNvPicPr>
          <p:nvPr/>
        </p:nvPicPr>
        <p:blipFill>
          <a:blip r:embed="rId3"/>
          <a:stretch>
            <a:fillRect/>
          </a:stretch>
        </p:blipFill>
        <p:spPr>
          <a:xfrm>
            <a:off x="1050891" y="1954185"/>
            <a:ext cx="7772400" cy="3769295"/>
          </a:xfrm>
          <a:prstGeom prst="rect">
            <a:avLst/>
          </a:prstGeom>
        </p:spPr>
      </p:pic>
      <p:pic>
        <p:nvPicPr>
          <p:cNvPr id="6" name="Picture 5">
            <a:extLst>
              <a:ext uri="{FF2B5EF4-FFF2-40B4-BE49-F238E27FC236}">
                <a16:creationId xmlns:a16="http://schemas.microsoft.com/office/drawing/2014/main" id="{57D38E27-AB57-39DE-C734-637F0AD5C3C5}"/>
              </a:ext>
            </a:extLst>
          </p:cNvPr>
          <p:cNvPicPr>
            <a:picLocks noChangeAspect="1"/>
          </p:cNvPicPr>
          <p:nvPr/>
        </p:nvPicPr>
        <p:blipFill>
          <a:blip r:embed="rId4"/>
          <a:stretch>
            <a:fillRect/>
          </a:stretch>
        </p:blipFill>
        <p:spPr>
          <a:xfrm>
            <a:off x="9206189" y="1616039"/>
            <a:ext cx="983843" cy="981333"/>
          </a:xfrm>
          <a:prstGeom prst="rect">
            <a:avLst/>
          </a:prstGeom>
        </p:spPr>
      </p:pic>
      <p:pic>
        <p:nvPicPr>
          <p:cNvPr id="10" name="Picture 9">
            <a:extLst>
              <a:ext uri="{FF2B5EF4-FFF2-40B4-BE49-F238E27FC236}">
                <a16:creationId xmlns:a16="http://schemas.microsoft.com/office/drawing/2014/main" id="{CCA179A4-B836-474C-20EE-FA136CCA09A2}"/>
              </a:ext>
            </a:extLst>
          </p:cNvPr>
          <p:cNvPicPr>
            <a:picLocks noChangeAspect="1"/>
          </p:cNvPicPr>
          <p:nvPr/>
        </p:nvPicPr>
        <p:blipFill>
          <a:blip r:embed="rId5"/>
          <a:stretch>
            <a:fillRect/>
          </a:stretch>
        </p:blipFill>
        <p:spPr>
          <a:xfrm>
            <a:off x="9206189" y="2689039"/>
            <a:ext cx="986458" cy="981333"/>
          </a:xfrm>
          <a:prstGeom prst="rect">
            <a:avLst/>
          </a:prstGeom>
        </p:spPr>
      </p:pic>
      <p:pic>
        <p:nvPicPr>
          <p:cNvPr id="16" name="Picture 15">
            <a:extLst>
              <a:ext uri="{FF2B5EF4-FFF2-40B4-BE49-F238E27FC236}">
                <a16:creationId xmlns:a16="http://schemas.microsoft.com/office/drawing/2014/main" id="{30675E16-7F76-FB90-F142-75B69C4DBF14}"/>
              </a:ext>
            </a:extLst>
          </p:cNvPr>
          <p:cNvPicPr>
            <a:picLocks noChangeAspect="1"/>
          </p:cNvPicPr>
          <p:nvPr/>
        </p:nvPicPr>
        <p:blipFill>
          <a:blip r:embed="rId6"/>
          <a:stretch>
            <a:fillRect/>
          </a:stretch>
        </p:blipFill>
        <p:spPr>
          <a:xfrm>
            <a:off x="9215681" y="3779480"/>
            <a:ext cx="964857" cy="962298"/>
          </a:xfrm>
          <a:prstGeom prst="rect">
            <a:avLst/>
          </a:prstGeom>
        </p:spPr>
      </p:pic>
      <p:pic>
        <p:nvPicPr>
          <p:cNvPr id="19" name="Picture 18">
            <a:extLst>
              <a:ext uri="{FF2B5EF4-FFF2-40B4-BE49-F238E27FC236}">
                <a16:creationId xmlns:a16="http://schemas.microsoft.com/office/drawing/2014/main" id="{1610D9A6-61C9-4CE8-3832-7AED4398B456}"/>
              </a:ext>
            </a:extLst>
          </p:cNvPr>
          <p:cNvPicPr>
            <a:picLocks noChangeAspect="1"/>
          </p:cNvPicPr>
          <p:nvPr/>
        </p:nvPicPr>
        <p:blipFill>
          <a:blip r:embed="rId7"/>
          <a:stretch>
            <a:fillRect/>
          </a:stretch>
        </p:blipFill>
        <p:spPr>
          <a:xfrm>
            <a:off x="9225179" y="4866384"/>
            <a:ext cx="964853" cy="962300"/>
          </a:xfrm>
          <a:prstGeom prst="rect">
            <a:avLst/>
          </a:prstGeom>
        </p:spPr>
      </p:pic>
      <p:cxnSp>
        <p:nvCxnSpPr>
          <p:cNvPr id="8" name="Straight Arrow Connector 7">
            <a:extLst>
              <a:ext uri="{FF2B5EF4-FFF2-40B4-BE49-F238E27FC236}">
                <a16:creationId xmlns:a16="http://schemas.microsoft.com/office/drawing/2014/main" id="{E4E1243B-C409-A9B0-EEC2-6938C13AFF11}"/>
              </a:ext>
            </a:extLst>
          </p:cNvPr>
          <p:cNvCxnSpPr>
            <a:cxnSpLocks/>
            <a:stCxn id="17" idx="3"/>
          </p:cNvCxnSpPr>
          <p:nvPr/>
        </p:nvCxnSpPr>
        <p:spPr>
          <a:xfrm>
            <a:off x="7901055" y="3119284"/>
            <a:ext cx="2063077" cy="11416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2AE1E1C-D2B4-972A-7BBC-62A2D9153FE1}"/>
              </a:ext>
            </a:extLst>
          </p:cNvPr>
          <p:cNvSpPr/>
          <p:nvPr/>
        </p:nvSpPr>
        <p:spPr>
          <a:xfrm>
            <a:off x="1984575" y="2976893"/>
            <a:ext cx="5916480" cy="284781"/>
          </a:xfrm>
          <a:prstGeom prst="rect">
            <a:avLst/>
          </a:prstGeom>
          <a:noFill/>
          <a:ln w="381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646610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DFABC-050B-1696-4B00-337446D5C572}"/>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1511346-AD36-FA0F-8BDD-20706678DC1A}"/>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A98239F-85F5-A3D7-E375-A206351A6348}"/>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891527B6-73DC-0C97-FD83-82F7E5A50918}"/>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E124E21E-A509-459C-05E3-B41D4D4DD7E5}"/>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A7E12C87-8B5B-D15F-F545-394E0FB589C3}"/>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D9E8B57D-7770-73B5-47CD-E514A05FC21E}"/>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AB4418-CCBE-E792-A6C8-4998D77531F7}"/>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A85ECE39-459E-1C7D-CB42-366E6C328621}"/>
              </a:ext>
            </a:extLst>
          </p:cNvPr>
          <p:cNvPicPr>
            <a:picLocks noChangeAspect="1"/>
          </p:cNvPicPr>
          <p:nvPr/>
        </p:nvPicPr>
        <p:blipFill>
          <a:blip r:embed="rId3"/>
          <a:stretch>
            <a:fillRect/>
          </a:stretch>
        </p:blipFill>
        <p:spPr>
          <a:xfrm>
            <a:off x="1050891" y="1954185"/>
            <a:ext cx="7772400" cy="3769295"/>
          </a:xfrm>
          <a:prstGeom prst="rect">
            <a:avLst/>
          </a:prstGeom>
        </p:spPr>
      </p:pic>
      <p:pic>
        <p:nvPicPr>
          <p:cNvPr id="6" name="Picture 5">
            <a:extLst>
              <a:ext uri="{FF2B5EF4-FFF2-40B4-BE49-F238E27FC236}">
                <a16:creationId xmlns:a16="http://schemas.microsoft.com/office/drawing/2014/main" id="{4E89F359-A5BC-67D9-34C3-F128AD27FFE0}"/>
              </a:ext>
            </a:extLst>
          </p:cNvPr>
          <p:cNvPicPr>
            <a:picLocks noChangeAspect="1"/>
          </p:cNvPicPr>
          <p:nvPr/>
        </p:nvPicPr>
        <p:blipFill>
          <a:blip r:embed="rId4"/>
          <a:stretch>
            <a:fillRect/>
          </a:stretch>
        </p:blipFill>
        <p:spPr>
          <a:xfrm>
            <a:off x="9206189" y="1616039"/>
            <a:ext cx="983843" cy="981333"/>
          </a:xfrm>
          <a:prstGeom prst="rect">
            <a:avLst/>
          </a:prstGeom>
        </p:spPr>
      </p:pic>
      <p:pic>
        <p:nvPicPr>
          <p:cNvPr id="10" name="Picture 9">
            <a:extLst>
              <a:ext uri="{FF2B5EF4-FFF2-40B4-BE49-F238E27FC236}">
                <a16:creationId xmlns:a16="http://schemas.microsoft.com/office/drawing/2014/main" id="{ED3D689D-2FE3-4726-E76E-399BBE4B1E37}"/>
              </a:ext>
            </a:extLst>
          </p:cNvPr>
          <p:cNvPicPr>
            <a:picLocks noChangeAspect="1"/>
          </p:cNvPicPr>
          <p:nvPr/>
        </p:nvPicPr>
        <p:blipFill>
          <a:blip r:embed="rId5"/>
          <a:stretch>
            <a:fillRect/>
          </a:stretch>
        </p:blipFill>
        <p:spPr>
          <a:xfrm>
            <a:off x="9206189" y="2689039"/>
            <a:ext cx="986458" cy="981333"/>
          </a:xfrm>
          <a:prstGeom prst="rect">
            <a:avLst/>
          </a:prstGeom>
        </p:spPr>
      </p:pic>
      <p:pic>
        <p:nvPicPr>
          <p:cNvPr id="16" name="Picture 15">
            <a:extLst>
              <a:ext uri="{FF2B5EF4-FFF2-40B4-BE49-F238E27FC236}">
                <a16:creationId xmlns:a16="http://schemas.microsoft.com/office/drawing/2014/main" id="{B83ED438-A512-E634-E5A8-7D2D6959E936}"/>
              </a:ext>
            </a:extLst>
          </p:cNvPr>
          <p:cNvPicPr>
            <a:picLocks noChangeAspect="1"/>
          </p:cNvPicPr>
          <p:nvPr/>
        </p:nvPicPr>
        <p:blipFill>
          <a:blip r:embed="rId6"/>
          <a:stretch>
            <a:fillRect/>
          </a:stretch>
        </p:blipFill>
        <p:spPr>
          <a:xfrm>
            <a:off x="9215681" y="3779480"/>
            <a:ext cx="964857" cy="962298"/>
          </a:xfrm>
          <a:prstGeom prst="rect">
            <a:avLst/>
          </a:prstGeom>
        </p:spPr>
      </p:pic>
      <p:pic>
        <p:nvPicPr>
          <p:cNvPr id="19" name="Picture 18">
            <a:extLst>
              <a:ext uri="{FF2B5EF4-FFF2-40B4-BE49-F238E27FC236}">
                <a16:creationId xmlns:a16="http://schemas.microsoft.com/office/drawing/2014/main" id="{10A13CA2-46AB-BE11-9282-21471810FDBD}"/>
              </a:ext>
            </a:extLst>
          </p:cNvPr>
          <p:cNvPicPr>
            <a:picLocks noChangeAspect="1"/>
          </p:cNvPicPr>
          <p:nvPr/>
        </p:nvPicPr>
        <p:blipFill>
          <a:blip r:embed="rId7"/>
          <a:stretch>
            <a:fillRect/>
          </a:stretch>
        </p:blipFill>
        <p:spPr>
          <a:xfrm>
            <a:off x="9225179" y="4866384"/>
            <a:ext cx="964853" cy="962300"/>
          </a:xfrm>
          <a:prstGeom prst="rect">
            <a:avLst/>
          </a:prstGeom>
        </p:spPr>
      </p:pic>
      <p:cxnSp>
        <p:nvCxnSpPr>
          <p:cNvPr id="8" name="Straight Arrow Connector 7">
            <a:extLst>
              <a:ext uri="{FF2B5EF4-FFF2-40B4-BE49-F238E27FC236}">
                <a16:creationId xmlns:a16="http://schemas.microsoft.com/office/drawing/2014/main" id="{7903806C-0023-31AD-6569-764313338155}"/>
              </a:ext>
            </a:extLst>
          </p:cNvPr>
          <p:cNvCxnSpPr>
            <a:cxnSpLocks/>
            <a:stCxn id="17" idx="3"/>
          </p:cNvCxnSpPr>
          <p:nvPr/>
        </p:nvCxnSpPr>
        <p:spPr>
          <a:xfrm>
            <a:off x="4779390" y="3404168"/>
            <a:ext cx="5099901" cy="19314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2E33E04-2E68-73C1-A2FB-BFE7DB6899E6}"/>
              </a:ext>
            </a:extLst>
          </p:cNvPr>
          <p:cNvSpPr/>
          <p:nvPr/>
        </p:nvSpPr>
        <p:spPr>
          <a:xfrm>
            <a:off x="1999353" y="3261777"/>
            <a:ext cx="2780037" cy="284781"/>
          </a:xfrm>
          <a:prstGeom prst="rect">
            <a:avLst/>
          </a:prstGeom>
          <a:noFill/>
          <a:ln w="381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56106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E56D0-D2C3-C422-F10D-9CDEF4F372D3}"/>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FA89873-09AD-5F3E-CC0F-2938724E2A6C}"/>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504C2B9-A4D4-8F35-097C-F46D171D45D4}"/>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E1C9F295-7925-F145-3664-2F17DBFB7E34}"/>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D8C82948-6959-C1AE-E4BE-C73880EE1DF7}"/>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299C8BF2-E28B-7708-EB08-3470B5D888C3}"/>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0778F217-CC9B-EFFE-4A2F-CCE24007AE00}"/>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7055FED-BE81-DBE7-B67D-12499D25497C}"/>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DEAA9503-D04B-FF3B-1EB6-2A622CC75F73}"/>
              </a:ext>
            </a:extLst>
          </p:cNvPr>
          <p:cNvPicPr>
            <a:picLocks noChangeAspect="1"/>
          </p:cNvPicPr>
          <p:nvPr/>
        </p:nvPicPr>
        <p:blipFill>
          <a:blip r:embed="rId3"/>
          <a:stretch>
            <a:fillRect/>
          </a:stretch>
        </p:blipFill>
        <p:spPr>
          <a:xfrm>
            <a:off x="1050891" y="1954185"/>
            <a:ext cx="7772400" cy="3769295"/>
          </a:xfrm>
          <a:prstGeom prst="rect">
            <a:avLst/>
          </a:prstGeom>
        </p:spPr>
      </p:pic>
      <p:pic>
        <p:nvPicPr>
          <p:cNvPr id="6" name="Picture 5">
            <a:extLst>
              <a:ext uri="{FF2B5EF4-FFF2-40B4-BE49-F238E27FC236}">
                <a16:creationId xmlns:a16="http://schemas.microsoft.com/office/drawing/2014/main" id="{25B6B7D6-B1ED-1F04-DF24-E25E8FEDA39D}"/>
              </a:ext>
            </a:extLst>
          </p:cNvPr>
          <p:cNvPicPr>
            <a:picLocks noChangeAspect="1"/>
          </p:cNvPicPr>
          <p:nvPr/>
        </p:nvPicPr>
        <p:blipFill>
          <a:blip r:embed="rId4"/>
          <a:stretch>
            <a:fillRect/>
          </a:stretch>
        </p:blipFill>
        <p:spPr>
          <a:xfrm>
            <a:off x="9206189" y="1616039"/>
            <a:ext cx="983843" cy="981333"/>
          </a:xfrm>
          <a:prstGeom prst="rect">
            <a:avLst/>
          </a:prstGeom>
        </p:spPr>
      </p:pic>
      <p:pic>
        <p:nvPicPr>
          <p:cNvPr id="10" name="Picture 9">
            <a:extLst>
              <a:ext uri="{FF2B5EF4-FFF2-40B4-BE49-F238E27FC236}">
                <a16:creationId xmlns:a16="http://schemas.microsoft.com/office/drawing/2014/main" id="{27F75D09-4102-B057-3E9B-F5C745EDA846}"/>
              </a:ext>
            </a:extLst>
          </p:cNvPr>
          <p:cNvPicPr>
            <a:picLocks noChangeAspect="1"/>
          </p:cNvPicPr>
          <p:nvPr/>
        </p:nvPicPr>
        <p:blipFill>
          <a:blip r:embed="rId5"/>
          <a:stretch>
            <a:fillRect/>
          </a:stretch>
        </p:blipFill>
        <p:spPr>
          <a:xfrm>
            <a:off x="9206189" y="2689039"/>
            <a:ext cx="986458" cy="981333"/>
          </a:xfrm>
          <a:prstGeom prst="rect">
            <a:avLst/>
          </a:prstGeom>
        </p:spPr>
      </p:pic>
      <p:pic>
        <p:nvPicPr>
          <p:cNvPr id="16" name="Picture 15">
            <a:extLst>
              <a:ext uri="{FF2B5EF4-FFF2-40B4-BE49-F238E27FC236}">
                <a16:creationId xmlns:a16="http://schemas.microsoft.com/office/drawing/2014/main" id="{5EBA9B20-D162-DA0C-50D6-B77D3FFB0E2C}"/>
              </a:ext>
            </a:extLst>
          </p:cNvPr>
          <p:cNvPicPr>
            <a:picLocks noChangeAspect="1"/>
          </p:cNvPicPr>
          <p:nvPr/>
        </p:nvPicPr>
        <p:blipFill>
          <a:blip r:embed="rId6"/>
          <a:stretch>
            <a:fillRect/>
          </a:stretch>
        </p:blipFill>
        <p:spPr>
          <a:xfrm>
            <a:off x="9215681" y="3779480"/>
            <a:ext cx="964857" cy="962298"/>
          </a:xfrm>
          <a:prstGeom prst="rect">
            <a:avLst/>
          </a:prstGeom>
        </p:spPr>
      </p:pic>
      <p:pic>
        <p:nvPicPr>
          <p:cNvPr id="19" name="Picture 18">
            <a:extLst>
              <a:ext uri="{FF2B5EF4-FFF2-40B4-BE49-F238E27FC236}">
                <a16:creationId xmlns:a16="http://schemas.microsoft.com/office/drawing/2014/main" id="{6C0339FD-4225-CA46-B706-CB3FB565FF91}"/>
              </a:ext>
            </a:extLst>
          </p:cNvPr>
          <p:cNvPicPr>
            <a:picLocks noChangeAspect="1"/>
          </p:cNvPicPr>
          <p:nvPr/>
        </p:nvPicPr>
        <p:blipFill>
          <a:blip r:embed="rId7"/>
          <a:stretch>
            <a:fillRect/>
          </a:stretch>
        </p:blipFill>
        <p:spPr>
          <a:xfrm>
            <a:off x="9225179" y="4866384"/>
            <a:ext cx="964853" cy="962300"/>
          </a:xfrm>
          <a:prstGeom prst="rect">
            <a:avLst/>
          </a:prstGeom>
        </p:spPr>
      </p:pic>
      <p:cxnSp>
        <p:nvCxnSpPr>
          <p:cNvPr id="8" name="Straight Arrow Connector 7">
            <a:extLst>
              <a:ext uri="{FF2B5EF4-FFF2-40B4-BE49-F238E27FC236}">
                <a16:creationId xmlns:a16="http://schemas.microsoft.com/office/drawing/2014/main" id="{15A20FD5-8548-3D1E-BDB6-8102BE457EC6}"/>
              </a:ext>
            </a:extLst>
          </p:cNvPr>
          <p:cNvCxnSpPr>
            <a:cxnSpLocks/>
            <a:stCxn id="17" idx="3"/>
          </p:cNvCxnSpPr>
          <p:nvPr/>
        </p:nvCxnSpPr>
        <p:spPr>
          <a:xfrm>
            <a:off x="3619893" y="3650994"/>
            <a:ext cx="6268825" cy="16466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C45AE37-AAB0-47BC-C04B-E0BAB3BA3752}"/>
              </a:ext>
            </a:extLst>
          </p:cNvPr>
          <p:cNvSpPr/>
          <p:nvPr/>
        </p:nvSpPr>
        <p:spPr>
          <a:xfrm>
            <a:off x="2385852" y="3508603"/>
            <a:ext cx="1234041" cy="284781"/>
          </a:xfrm>
          <a:prstGeom prst="rect">
            <a:avLst/>
          </a:prstGeom>
          <a:noFill/>
          <a:ln w="381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731499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4D379-0BE3-1A16-0664-DE93321452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E8D8D-A0CB-06BE-834F-07A4AC35982A}"/>
              </a:ext>
            </a:extLst>
          </p:cNvPr>
          <p:cNvSpPr>
            <a:spLocks noGrp="1"/>
          </p:cNvSpPr>
          <p:nvPr>
            <p:ph idx="1"/>
          </p:nvPr>
        </p:nvSpPr>
        <p:spPr>
          <a:xfrm>
            <a:off x="945055" y="2043068"/>
            <a:ext cx="10691265" cy="3844473"/>
          </a:xfrm>
        </p:spPr>
        <p:txBody>
          <a:bodyPr>
            <a:normAutofit fontScale="85000" lnSpcReduction="10000"/>
          </a:bodyPr>
          <a:lstStyle/>
          <a:p>
            <a:pPr marL="0" indent="0">
              <a:buNone/>
            </a:pPr>
            <a:r>
              <a:rPr lang="en-US" dirty="0"/>
              <a:t>Dr. Zhang </a:t>
            </a:r>
            <a:r>
              <a:rPr lang="en-US" dirty="0" err="1"/>
              <a:t>Mengmi</a:t>
            </a:r>
            <a:r>
              <a:rPr lang="en-US" dirty="0"/>
              <a:t> and her research colleagues were inspired by biological cognitive function in visual search and proposed the </a:t>
            </a:r>
            <a:r>
              <a:rPr lang="en-US" b="1" dirty="0"/>
              <a:t>I</a:t>
            </a:r>
            <a:r>
              <a:rPr lang="en-US" dirty="0"/>
              <a:t>nvariant </a:t>
            </a:r>
            <a:r>
              <a:rPr lang="en-US" b="1" dirty="0"/>
              <a:t>V</a:t>
            </a:r>
            <a:r>
              <a:rPr lang="en-US" dirty="0"/>
              <a:t>isual </a:t>
            </a:r>
            <a:r>
              <a:rPr lang="en-US" b="1" dirty="0"/>
              <a:t>S</a:t>
            </a:r>
            <a:r>
              <a:rPr lang="en-US" dirty="0"/>
              <a:t>earch </a:t>
            </a:r>
            <a:r>
              <a:rPr lang="en-US" b="1" dirty="0"/>
              <a:t>N</a:t>
            </a:r>
            <a:r>
              <a:rPr lang="en-US" dirty="0"/>
              <a:t>etwork (</a:t>
            </a:r>
            <a:r>
              <a:rPr lang="en-US" b="1" dirty="0"/>
              <a:t>IVSN</a:t>
            </a:r>
            <a:r>
              <a:rPr lang="en-US" dirty="0"/>
              <a:t>).</a:t>
            </a:r>
          </a:p>
          <a:p>
            <a:pPr>
              <a:buFontTx/>
              <a:buChar char="-"/>
            </a:pPr>
            <a:r>
              <a:rPr lang="en-US" dirty="0"/>
              <a:t>Top-down approach architecture.</a:t>
            </a:r>
          </a:p>
          <a:p>
            <a:pPr>
              <a:buFontTx/>
              <a:buChar char="-"/>
            </a:pPr>
            <a:r>
              <a:rPr lang="en-US" dirty="0"/>
              <a:t>The attention map is generated by a first-order approximation (dot product between target output tensor and each entry of the output tensor)</a:t>
            </a:r>
          </a:p>
          <a:p>
            <a:pPr>
              <a:buFontTx/>
              <a:buChar char="-"/>
            </a:pPr>
            <a:r>
              <a:rPr lang="en-US" dirty="0"/>
              <a:t>The output attention map is resized to match the original input context image to apply the searching algorithm</a:t>
            </a:r>
          </a:p>
          <a:p>
            <a:pPr marL="0" indent="0">
              <a:buNone/>
            </a:pPr>
            <a:endParaRPr lang="en-US" dirty="0"/>
          </a:p>
          <a:p>
            <a:pPr>
              <a:buFont typeface="Symbol" pitchFamily="2" charset="2"/>
              <a:buChar char="Þ"/>
            </a:pPr>
            <a:r>
              <a:rPr lang="en-US" dirty="0"/>
              <a:t> The model validates the cognitive theory of Guided Search 2.0 (Wolfe, 1994), and demonstrates the capacity of realizing a mental model through a</a:t>
            </a:r>
            <a:r>
              <a:rPr lang="en-US" b="1" dirty="0"/>
              <a:t> D</a:t>
            </a:r>
            <a:r>
              <a:rPr lang="en-US" dirty="0"/>
              <a:t>eep </a:t>
            </a:r>
            <a:r>
              <a:rPr lang="en-US" b="1" dirty="0"/>
              <a:t>N</a:t>
            </a:r>
            <a:r>
              <a:rPr lang="en-US" dirty="0"/>
              <a:t>eural </a:t>
            </a:r>
            <a:r>
              <a:rPr lang="en-US" b="1" dirty="0"/>
              <a:t>N</a:t>
            </a:r>
            <a:r>
              <a:rPr lang="en-US" dirty="0"/>
              <a:t>etwork (</a:t>
            </a:r>
            <a:r>
              <a:rPr lang="en-US" b="1" dirty="0"/>
              <a:t>DNN</a:t>
            </a:r>
            <a:r>
              <a:rPr lang="en-US" dirty="0"/>
              <a:t>)</a:t>
            </a:r>
          </a:p>
          <a:p>
            <a:pPr>
              <a:buFont typeface="Symbol" pitchFamily="2" charset="2"/>
              <a:buChar char="Þ"/>
            </a:pPr>
            <a:r>
              <a:rPr lang="en-US" dirty="0"/>
              <a:t> The IVSN shows the capacity for zero-shot invariant, allowing for searching for different appearances in a search scene without retraining.</a:t>
            </a:r>
          </a:p>
        </p:txBody>
      </p:sp>
      <p:cxnSp>
        <p:nvCxnSpPr>
          <p:cNvPr id="5" name="Straight Connector 4">
            <a:extLst>
              <a:ext uri="{FF2B5EF4-FFF2-40B4-BE49-F238E27FC236}">
                <a16:creationId xmlns:a16="http://schemas.microsoft.com/office/drawing/2014/main" id="{838E0428-9195-D878-7134-4C3B8F13C8E2}"/>
              </a:ext>
            </a:extLst>
          </p:cNvPr>
          <p:cNvCxnSpPr>
            <a:cxnSpLocks/>
          </p:cNvCxnSpPr>
          <p:nvPr/>
        </p:nvCxnSpPr>
        <p:spPr>
          <a:xfrm>
            <a:off x="788275" y="1875957"/>
            <a:ext cx="0" cy="39257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A23CB7F-74A1-3DE0-08A3-B3ADF0C09A19}"/>
              </a:ext>
            </a:extLst>
          </p:cNvPr>
          <p:cNvSpPr/>
          <p:nvPr/>
        </p:nvSpPr>
        <p:spPr>
          <a:xfrm>
            <a:off x="725213" y="2158930"/>
            <a:ext cx="126124" cy="126124"/>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8">
            <a:extLst>
              <a:ext uri="{FF2B5EF4-FFF2-40B4-BE49-F238E27FC236}">
                <a16:creationId xmlns:a16="http://schemas.microsoft.com/office/drawing/2014/main" id="{C68DCBB2-6EED-1DAC-845B-BD8E1E69EB9E}"/>
              </a:ext>
            </a:extLst>
          </p:cNvPr>
          <p:cNvSpPr txBox="1"/>
          <p:nvPr/>
        </p:nvSpPr>
        <p:spPr>
          <a:xfrm>
            <a:off x="55825" y="1616039"/>
            <a:ext cx="669388" cy="369332"/>
          </a:xfrm>
          <a:prstGeom prst="rect">
            <a:avLst/>
          </a:prstGeom>
          <a:noFill/>
        </p:spPr>
        <p:txBody>
          <a:bodyPr wrap="square">
            <a:spAutoFit/>
          </a:bodyPr>
          <a:lstStyle/>
          <a:p>
            <a:r>
              <a:rPr lang="en-US" dirty="0"/>
              <a:t>1980</a:t>
            </a:r>
          </a:p>
        </p:txBody>
      </p:sp>
      <p:sp>
        <p:nvSpPr>
          <p:cNvPr id="4" name="TextBox 3">
            <a:extLst>
              <a:ext uri="{FF2B5EF4-FFF2-40B4-BE49-F238E27FC236}">
                <a16:creationId xmlns:a16="http://schemas.microsoft.com/office/drawing/2014/main" id="{8FDB8D69-EC79-3A2B-8C25-17129D96CAEB}"/>
              </a:ext>
            </a:extLst>
          </p:cNvPr>
          <p:cNvSpPr txBox="1"/>
          <p:nvPr/>
        </p:nvSpPr>
        <p:spPr>
          <a:xfrm>
            <a:off x="55825" y="-716426"/>
            <a:ext cx="669388" cy="3693319"/>
          </a:xfrm>
          <a:prstGeom prst="rect">
            <a:avLst/>
          </a:prstGeom>
          <a:noFill/>
        </p:spPr>
        <p:txBody>
          <a:bodyPr wrap="square">
            <a:spAutoFit/>
          </a:bodyPr>
          <a:lstStyle/>
          <a:p>
            <a:r>
              <a:rPr lang="en-US" dirty="0"/>
              <a:t>1980</a:t>
            </a:r>
          </a:p>
          <a:p>
            <a:endParaRPr lang="en-US" dirty="0"/>
          </a:p>
          <a:p>
            <a:r>
              <a:rPr lang="en-US" dirty="0"/>
              <a:t>1980</a:t>
            </a:r>
          </a:p>
          <a:p>
            <a:endParaRPr lang="en-US" dirty="0"/>
          </a:p>
          <a:p>
            <a:r>
              <a:rPr lang="en-US" dirty="0"/>
              <a:t>1984</a:t>
            </a:r>
          </a:p>
          <a:p>
            <a:endParaRPr lang="en-US" dirty="0"/>
          </a:p>
          <a:p>
            <a:r>
              <a:rPr lang="en-US" dirty="0"/>
              <a:t>1994</a:t>
            </a:r>
          </a:p>
          <a:p>
            <a:endParaRPr lang="en-US" dirty="0"/>
          </a:p>
          <a:p>
            <a:r>
              <a:rPr lang="en-US" dirty="0"/>
              <a:t>1998</a:t>
            </a:r>
          </a:p>
          <a:p>
            <a:endParaRPr lang="en-US" dirty="0"/>
          </a:p>
          <a:p>
            <a:r>
              <a:rPr lang="en-US" dirty="0"/>
              <a:t>2018</a:t>
            </a:r>
          </a:p>
          <a:p>
            <a:endParaRPr lang="en-US" dirty="0"/>
          </a:p>
          <a:p>
            <a:r>
              <a:rPr lang="en-US" dirty="0"/>
              <a:t>2021</a:t>
            </a:r>
          </a:p>
        </p:txBody>
      </p:sp>
      <p:sp>
        <p:nvSpPr>
          <p:cNvPr id="11" name="Title 1">
            <a:extLst>
              <a:ext uri="{FF2B5EF4-FFF2-40B4-BE49-F238E27FC236}">
                <a16:creationId xmlns:a16="http://schemas.microsoft.com/office/drawing/2014/main" id="{B0D98679-DDB1-86A0-AF38-B146FD9A4844}"/>
              </a:ext>
            </a:extLst>
          </p:cNvPr>
          <p:cNvSpPr>
            <a:spLocks noGrp="1"/>
          </p:cNvSpPr>
          <p:nvPr>
            <p:ph type="title"/>
          </p:nvPr>
        </p:nvSpPr>
        <p:spPr>
          <a:xfrm>
            <a:off x="700635" y="914400"/>
            <a:ext cx="10691265" cy="1307592"/>
          </a:xfrm>
        </p:spPr>
        <p:txBody>
          <a:bodyPr/>
          <a:lstStyle/>
          <a:p>
            <a:r>
              <a:rPr lang="en-US" dirty="0"/>
              <a:t>C0mputational visual search Theory</a:t>
            </a:r>
          </a:p>
        </p:txBody>
      </p:sp>
      <p:sp>
        <p:nvSpPr>
          <p:cNvPr id="12" name="Rectangle 11">
            <a:extLst>
              <a:ext uri="{FF2B5EF4-FFF2-40B4-BE49-F238E27FC236}">
                <a16:creationId xmlns:a16="http://schemas.microsoft.com/office/drawing/2014/main" id="{32598B31-7C5B-FB13-66F4-838173E38E0C}"/>
              </a:ext>
            </a:extLst>
          </p:cNvPr>
          <p:cNvSpPr/>
          <p:nvPr/>
        </p:nvSpPr>
        <p:spPr>
          <a:xfrm>
            <a:off x="111934" y="-889893"/>
            <a:ext cx="613279" cy="29272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F1C5AA6-F56A-2564-6E15-35663DA60ABA}"/>
              </a:ext>
            </a:extLst>
          </p:cNvPr>
          <p:cNvSpPr/>
          <p:nvPr/>
        </p:nvSpPr>
        <p:spPr>
          <a:xfrm>
            <a:off x="111933" y="2467980"/>
            <a:ext cx="613279" cy="3417265"/>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41073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BB3E17-1970-1D02-FD4C-F63651092381}"/>
            </a:ext>
          </a:extLst>
        </p:cNvPr>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7" name="Rectangle 46">
            <a:extLst>
              <a:ext uri="{FF2B5EF4-FFF2-40B4-BE49-F238E27FC236}">
                <a16:creationId xmlns:a16="http://schemas.microsoft.com/office/drawing/2014/main" id="{D1A8C4F8-261C-7C98-9585-431358419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5E5FB-C1CA-6B4D-D504-E590F217E75B}"/>
              </a:ext>
            </a:extLst>
          </p:cNvPr>
          <p:cNvSpPr>
            <a:spLocks noGrp="1"/>
          </p:cNvSpPr>
          <p:nvPr>
            <p:ph type="title"/>
          </p:nvPr>
        </p:nvSpPr>
        <p:spPr>
          <a:xfrm>
            <a:off x="647700" y="871759"/>
            <a:ext cx="7467600" cy="3913784"/>
          </a:xfrm>
        </p:spPr>
        <p:txBody>
          <a:bodyPr vert="horz" lIns="91440" tIns="45720" rIns="91440" bIns="45720" rtlCol="0" anchor="t">
            <a:normAutofit/>
          </a:bodyPr>
          <a:lstStyle/>
          <a:p>
            <a:r>
              <a:rPr lang="en-US" sz="8000" dirty="0"/>
              <a:t>Proposed TCT architecture</a:t>
            </a:r>
            <a:br>
              <a:rPr lang="en-US" sz="8000" dirty="0"/>
            </a:br>
            <a:endParaRPr lang="en-US" sz="8000" dirty="0"/>
          </a:p>
        </p:txBody>
      </p:sp>
      <p:cxnSp>
        <p:nvCxnSpPr>
          <p:cNvPr id="49" name="Straight Connector 48">
            <a:extLst>
              <a:ext uri="{FF2B5EF4-FFF2-40B4-BE49-F238E27FC236}">
                <a16:creationId xmlns:a16="http://schemas.microsoft.com/office/drawing/2014/main" id="{91AFE2CA-5B3A-141B-BA1D-064BC79E6B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3591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864902-7C28-5BBA-A861-52E28D4FACB6}"/>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D667D6-ADFB-BB4F-E2AF-8209B4A874B2}"/>
              </a:ext>
            </a:extLst>
          </p:cNvPr>
          <p:cNvSpPr>
            <a:spLocks noGrp="1"/>
          </p:cNvSpPr>
          <p:nvPr>
            <p:ph type="title"/>
          </p:nvPr>
        </p:nvSpPr>
        <p:spPr>
          <a:xfrm>
            <a:off x="685799" y="899025"/>
            <a:ext cx="6035511" cy="882642"/>
          </a:xfrm>
        </p:spPr>
        <p:txBody>
          <a:bodyPr vert="horz" lIns="91440" tIns="45720" rIns="91440" bIns="45720" rtlCol="0" anchor="t">
            <a:normAutofit fontScale="90000"/>
          </a:bodyPr>
          <a:lstStyle/>
          <a:p>
            <a:r>
              <a:rPr lang="en-US" dirty="0"/>
              <a:t>TCT model components</a:t>
            </a:r>
            <a:br>
              <a:rPr lang="en-US" dirty="0"/>
            </a:br>
            <a:endParaRPr lang="en-US" dirty="0"/>
          </a:p>
        </p:txBody>
      </p:sp>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BA11D83-9787-0A5B-F625-A79EF78D945F}"/>
              </a:ext>
            </a:extLst>
          </p:cNvPr>
          <p:cNvSpPr/>
          <p:nvPr/>
        </p:nvSpPr>
        <p:spPr>
          <a:xfrm>
            <a:off x="820131" y="1729479"/>
            <a:ext cx="1331537" cy="1197204"/>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Target image</a:t>
            </a:r>
          </a:p>
        </p:txBody>
      </p:sp>
      <p:sp>
        <p:nvSpPr>
          <p:cNvPr id="12" name="Rectangle 11">
            <a:extLst>
              <a:ext uri="{FF2B5EF4-FFF2-40B4-BE49-F238E27FC236}">
                <a16:creationId xmlns:a16="http://schemas.microsoft.com/office/drawing/2014/main" id="{B9C68C99-E8D9-30F3-6869-4E82A3EA6FE6}"/>
              </a:ext>
            </a:extLst>
          </p:cNvPr>
          <p:cNvSpPr/>
          <p:nvPr/>
        </p:nvSpPr>
        <p:spPr>
          <a:xfrm>
            <a:off x="765512" y="3800561"/>
            <a:ext cx="1331537" cy="1197204"/>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Context image</a:t>
            </a:r>
          </a:p>
        </p:txBody>
      </p:sp>
      <p:grpSp>
        <p:nvGrpSpPr>
          <p:cNvPr id="27" name="Group 26">
            <a:extLst>
              <a:ext uri="{FF2B5EF4-FFF2-40B4-BE49-F238E27FC236}">
                <a16:creationId xmlns:a16="http://schemas.microsoft.com/office/drawing/2014/main" id="{38CA8A04-33E4-7B71-13AA-2B5C30F0C4B1}"/>
              </a:ext>
            </a:extLst>
          </p:cNvPr>
          <p:cNvGrpSpPr/>
          <p:nvPr/>
        </p:nvGrpSpPr>
        <p:grpSpPr>
          <a:xfrm>
            <a:off x="3242766" y="2015185"/>
            <a:ext cx="2978870" cy="1049222"/>
            <a:chOff x="3459637" y="2030782"/>
            <a:chExt cx="2978870" cy="1049222"/>
          </a:xfrm>
        </p:grpSpPr>
        <p:sp>
          <p:nvSpPr>
            <p:cNvPr id="14" name="Rounded Rectangle 13">
              <a:extLst>
                <a:ext uri="{FF2B5EF4-FFF2-40B4-BE49-F238E27FC236}">
                  <a16:creationId xmlns:a16="http://schemas.microsoft.com/office/drawing/2014/main" id="{F8CB923A-D8A4-D1B0-861E-DA4DDB207542}"/>
                </a:ext>
              </a:extLst>
            </p:cNvPr>
            <p:cNvSpPr/>
            <p:nvPr/>
          </p:nvSpPr>
          <p:spPr>
            <a:xfrm>
              <a:off x="3506771" y="2030782"/>
              <a:ext cx="2884602" cy="1049222"/>
            </a:xfrm>
            <a:prstGeom prst="roundRect">
              <a:avLst/>
            </a:prstGeom>
            <a:solidFill>
              <a:srgbClr val="0070C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Modified CRT model</a:t>
              </a:r>
            </a:p>
          </p:txBody>
        </p:sp>
        <p:sp>
          <p:nvSpPr>
            <p:cNvPr id="17" name="Oval 16">
              <a:extLst>
                <a:ext uri="{FF2B5EF4-FFF2-40B4-BE49-F238E27FC236}">
                  <a16:creationId xmlns:a16="http://schemas.microsoft.com/office/drawing/2014/main" id="{57B27E09-499F-2A97-4EF8-D14C1B9A888B}"/>
                </a:ext>
              </a:extLst>
            </p:cNvPr>
            <p:cNvSpPr/>
            <p:nvPr/>
          </p:nvSpPr>
          <p:spPr>
            <a:xfrm>
              <a:off x="3459637" y="2336567"/>
              <a:ext cx="94268" cy="94268"/>
            </a:xfrm>
            <a:prstGeom prst="ellipse">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88817A4-60E6-43B7-A468-72B7CE06A79A}"/>
                </a:ext>
              </a:extLst>
            </p:cNvPr>
            <p:cNvSpPr/>
            <p:nvPr/>
          </p:nvSpPr>
          <p:spPr>
            <a:xfrm>
              <a:off x="3459637" y="2730403"/>
              <a:ext cx="94268" cy="94268"/>
            </a:xfrm>
            <a:prstGeom prst="ellipse">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1947477-9785-6C5F-E8C8-3AA24A64AD74}"/>
                </a:ext>
              </a:extLst>
            </p:cNvPr>
            <p:cNvSpPr/>
            <p:nvPr/>
          </p:nvSpPr>
          <p:spPr>
            <a:xfrm>
              <a:off x="6344239" y="2508259"/>
              <a:ext cx="94268" cy="94268"/>
            </a:xfrm>
            <a:prstGeom prst="ellipse">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9" name="Straight Arrow Connector 38">
            <a:extLst>
              <a:ext uri="{FF2B5EF4-FFF2-40B4-BE49-F238E27FC236}">
                <a16:creationId xmlns:a16="http://schemas.microsoft.com/office/drawing/2014/main" id="{2C1F4405-94C4-1131-B506-384787D9ED11}"/>
              </a:ext>
            </a:extLst>
          </p:cNvPr>
          <p:cNvCxnSpPr>
            <a:stCxn id="10" idx="3"/>
            <a:endCxn id="17" idx="2"/>
          </p:cNvCxnSpPr>
          <p:nvPr/>
        </p:nvCxnSpPr>
        <p:spPr>
          <a:xfrm>
            <a:off x="2151668" y="2328081"/>
            <a:ext cx="1091098" cy="4002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041419C-869A-0D35-802F-920D3787E2CB}"/>
              </a:ext>
            </a:extLst>
          </p:cNvPr>
          <p:cNvCxnSpPr>
            <a:cxnSpLocks/>
            <a:stCxn id="12" idx="3"/>
            <a:endCxn id="18" idx="2"/>
          </p:cNvCxnSpPr>
          <p:nvPr/>
        </p:nvCxnSpPr>
        <p:spPr>
          <a:xfrm flipV="1">
            <a:off x="2097049" y="2761940"/>
            <a:ext cx="1145717" cy="163722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101F92D-F733-1D1A-CEE2-337FAE2A6184}"/>
              </a:ext>
            </a:extLst>
          </p:cNvPr>
          <p:cNvCxnSpPr>
            <a:cxnSpLocks/>
            <a:stCxn id="10" idx="3"/>
            <a:endCxn id="25" idx="2"/>
          </p:cNvCxnSpPr>
          <p:nvPr/>
        </p:nvCxnSpPr>
        <p:spPr>
          <a:xfrm>
            <a:off x="2151668" y="2328081"/>
            <a:ext cx="973128" cy="154466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57135592-6909-84B1-631B-530C0813583F}"/>
              </a:ext>
            </a:extLst>
          </p:cNvPr>
          <p:cNvCxnSpPr>
            <a:cxnSpLocks/>
            <a:stCxn id="12" idx="3"/>
            <a:endCxn id="20" idx="2"/>
          </p:cNvCxnSpPr>
          <p:nvPr/>
        </p:nvCxnSpPr>
        <p:spPr>
          <a:xfrm flipV="1">
            <a:off x="2097049" y="4358034"/>
            <a:ext cx="1027747" cy="41129"/>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3D1D4D9F-5962-A766-1BB2-CDD6D47E1A20}"/>
              </a:ext>
            </a:extLst>
          </p:cNvPr>
          <p:cNvSpPr/>
          <p:nvPr/>
        </p:nvSpPr>
        <p:spPr>
          <a:xfrm>
            <a:off x="10253680" y="3514135"/>
            <a:ext cx="1331537" cy="1197204"/>
          </a:xfrm>
          <a:prstGeom prst="rect">
            <a:avLst/>
          </a:prstGeom>
          <a:gradFill flip="none" rotWithShape="1">
            <a:gsLst>
              <a:gs pos="0">
                <a:srgbClr val="FF0000"/>
              </a:gs>
              <a:gs pos="50000">
                <a:srgbClr val="FFFF00"/>
              </a:gs>
              <a:gs pos="100000">
                <a:srgbClr val="00B050"/>
              </a:gs>
            </a:gsLst>
            <a:lin ang="27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Attention Map</a:t>
            </a:r>
          </a:p>
        </p:txBody>
      </p:sp>
      <p:cxnSp>
        <p:nvCxnSpPr>
          <p:cNvPr id="75" name="Straight Arrow Connector 74">
            <a:extLst>
              <a:ext uri="{FF2B5EF4-FFF2-40B4-BE49-F238E27FC236}">
                <a16:creationId xmlns:a16="http://schemas.microsoft.com/office/drawing/2014/main" id="{E052E419-697B-F98F-A07C-8360878E8CBB}"/>
              </a:ext>
            </a:extLst>
          </p:cNvPr>
          <p:cNvCxnSpPr>
            <a:cxnSpLocks/>
            <a:stCxn id="23" idx="6"/>
            <a:endCxn id="70" idx="1"/>
          </p:cNvCxnSpPr>
          <p:nvPr/>
        </p:nvCxnSpPr>
        <p:spPr>
          <a:xfrm>
            <a:off x="6221636" y="2539796"/>
            <a:ext cx="1855034" cy="172865"/>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DDF1028C-0888-6E10-98F1-6419A5D8328E}"/>
              </a:ext>
            </a:extLst>
          </p:cNvPr>
          <p:cNvCxnSpPr>
            <a:cxnSpLocks/>
            <a:stCxn id="24" idx="6"/>
            <a:endCxn id="66" idx="1"/>
          </p:cNvCxnSpPr>
          <p:nvPr/>
        </p:nvCxnSpPr>
        <p:spPr>
          <a:xfrm>
            <a:off x="8417634" y="4112737"/>
            <a:ext cx="183604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D1E461B8-3588-0752-F3BB-631C3B2BCE58}"/>
              </a:ext>
            </a:extLst>
          </p:cNvPr>
          <p:cNvSpPr txBox="1"/>
          <p:nvPr/>
        </p:nvSpPr>
        <p:spPr>
          <a:xfrm>
            <a:off x="685799" y="5132975"/>
            <a:ext cx="8628324" cy="1477328"/>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i="1" dirty="0"/>
              <a:t>Note:</a:t>
            </a:r>
          </a:p>
          <a:p>
            <a:endParaRPr lang="en-US" dirty="0"/>
          </a:p>
          <a:p>
            <a:r>
              <a:rPr lang="en-US" b="1" dirty="0"/>
              <a:t>CRT</a:t>
            </a:r>
            <a:r>
              <a:rPr lang="en-US" dirty="0"/>
              <a:t> Model: </a:t>
            </a:r>
            <a:r>
              <a:rPr lang="en-US" b="1" dirty="0"/>
              <a:t>C</a:t>
            </a:r>
            <a:r>
              <a:rPr lang="en-US" dirty="0"/>
              <a:t>ontext-aware </a:t>
            </a:r>
            <a:r>
              <a:rPr lang="en-US" b="1" dirty="0"/>
              <a:t>R</a:t>
            </a:r>
            <a:r>
              <a:rPr lang="en-US" dirty="0"/>
              <a:t>ecognition </a:t>
            </a:r>
            <a:r>
              <a:rPr lang="en-US" b="1" dirty="0"/>
              <a:t>T</a:t>
            </a:r>
            <a:r>
              <a:rPr lang="en-US" dirty="0"/>
              <a:t>ransformer Network </a:t>
            </a:r>
            <a:r>
              <a:rPr lang="en-SG" dirty="0"/>
              <a:t>(</a:t>
            </a:r>
            <a:r>
              <a:rPr lang="en-SG" dirty="0" err="1"/>
              <a:t>Bomatter</a:t>
            </a:r>
            <a:r>
              <a:rPr lang="en-SG" dirty="0"/>
              <a:t> et al., 2021)</a:t>
            </a:r>
            <a:endParaRPr lang="en-US" dirty="0"/>
          </a:p>
          <a:p>
            <a:endParaRPr lang="en-US" b="1" dirty="0"/>
          </a:p>
          <a:p>
            <a:r>
              <a:rPr lang="en-US" b="1" dirty="0" err="1"/>
              <a:t>ViT</a:t>
            </a:r>
            <a:r>
              <a:rPr lang="en-US" dirty="0"/>
              <a:t> Model:  </a:t>
            </a:r>
            <a:r>
              <a:rPr lang="en-US" b="1" dirty="0"/>
              <a:t>Vi</a:t>
            </a:r>
            <a:r>
              <a:rPr lang="en-US" dirty="0"/>
              <a:t>sion </a:t>
            </a:r>
            <a:r>
              <a:rPr lang="en-US" b="1" dirty="0"/>
              <a:t>T</a:t>
            </a:r>
            <a:r>
              <a:rPr lang="en-US" dirty="0"/>
              <a:t>ransformer </a:t>
            </a:r>
            <a:r>
              <a:rPr lang="en-SG" dirty="0"/>
              <a:t>(</a:t>
            </a:r>
            <a:r>
              <a:rPr lang="en-SG" dirty="0" err="1"/>
              <a:t>Dosovitskiy</a:t>
            </a:r>
            <a:r>
              <a:rPr lang="en-SG" dirty="0"/>
              <a:t> et al., 2021)</a:t>
            </a:r>
          </a:p>
        </p:txBody>
      </p:sp>
      <p:grpSp>
        <p:nvGrpSpPr>
          <p:cNvPr id="26" name="Group 25">
            <a:extLst>
              <a:ext uri="{FF2B5EF4-FFF2-40B4-BE49-F238E27FC236}">
                <a16:creationId xmlns:a16="http://schemas.microsoft.com/office/drawing/2014/main" id="{399F3357-AEB6-0CDB-0A9E-0FBA8C388C05}"/>
              </a:ext>
            </a:extLst>
          </p:cNvPr>
          <p:cNvGrpSpPr/>
          <p:nvPr/>
        </p:nvGrpSpPr>
        <p:grpSpPr>
          <a:xfrm>
            <a:off x="3124796" y="3592096"/>
            <a:ext cx="5292838" cy="1049222"/>
            <a:chOff x="3459637" y="3795222"/>
            <a:chExt cx="5292838" cy="1049222"/>
          </a:xfrm>
        </p:grpSpPr>
        <p:sp>
          <p:nvSpPr>
            <p:cNvPr id="16" name="Rounded Rectangle 15">
              <a:extLst>
                <a:ext uri="{FF2B5EF4-FFF2-40B4-BE49-F238E27FC236}">
                  <a16:creationId xmlns:a16="http://schemas.microsoft.com/office/drawing/2014/main" id="{DE26ED49-EF9C-26ED-2D50-C857BA4BB4A5}"/>
                </a:ext>
              </a:extLst>
            </p:cNvPr>
            <p:cNvSpPr/>
            <p:nvPr/>
          </p:nvSpPr>
          <p:spPr>
            <a:xfrm>
              <a:off x="3506771" y="3795222"/>
              <a:ext cx="5198570" cy="1049222"/>
            </a:xfrm>
            <a:prstGeom prst="roundRect">
              <a:avLst/>
            </a:prstGeom>
            <a:solidFill>
              <a:srgbClr val="00206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Modified </a:t>
              </a:r>
              <a:r>
                <a:rPr lang="en-US" dirty="0" err="1"/>
                <a:t>ViT</a:t>
              </a:r>
              <a:r>
                <a:rPr lang="en-US" dirty="0"/>
                <a:t> model</a:t>
              </a:r>
            </a:p>
          </p:txBody>
        </p:sp>
        <p:sp>
          <p:nvSpPr>
            <p:cNvPr id="20" name="Oval 19">
              <a:extLst>
                <a:ext uri="{FF2B5EF4-FFF2-40B4-BE49-F238E27FC236}">
                  <a16:creationId xmlns:a16="http://schemas.microsoft.com/office/drawing/2014/main" id="{BE477E12-666C-4F20-5B99-909774AEC239}"/>
                </a:ext>
              </a:extLst>
            </p:cNvPr>
            <p:cNvSpPr/>
            <p:nvPr/>
          </p:nvSpPr>
          <p:spPr>
            <a:xfrm>
              <a:off x="3459637" y="4514026"/>
              <a:ext cx="94268" cy="94268"/>
            </a:xfrm>
            <a:prstGeom prst="ellipse">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F1B753E-3437-2BC6-A867-34965C535886}"/>
                </a:ext>
              </a:extLst>
            </p:cNvPr>
            <p:cNvSpPr/>
            <p:nvPr/>
          </p:nvSpPr>
          <p:spPr>
            <a:xfrm>
              <a:off x="8658207" y="4268729"/>
              <a:ext cx="94268" cy="94268"/>
            </a:xfrm>
            <a:prstGeom prst="ellipse">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0B7B057-F8A0-FBB7-8D87-CE47A712ED4D}"/>
                </a:ext>
              </a:extLst>
            </p:cNvPr>
            <p:cNvSpPr/>
            <p:nvPr/>
          </p:nvSpPr>
          <p:spPr>
            <a:xfrm>
              <a:off x="3459637" y="4028740"/>
              <a:ext cx="94268" cy="94268"/>
            </a:xfrm>
            <a:prstGeom prst="ellipse">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A6A18B21-1709-0DDE-582C-2F90AD420E46}"/>
              </a:ext>
            </a:extLst>
          </p:cNvPr>
          <p:cNvGrpSpPr/>
          <p:nvPr/>
        </p:nvGrpSpPr>
        <p:grpSpPr>
          <a:xfrm>
            <a:off x="6339606" y="2698856"/>
            <a:ext cx="3342643" cy="1101438"/>
            <a:chOff x="3540987" y="1729967"/>
            <a:chExt cx="2884602" cy="1101438"/>
          </a:xfrm>
        </p:grpSpPr>
        <p:sp>
          <p:nvSpPr>
            <p:cNvPr id="69" name="Rounded Rectangle 68">
              <a:extLst>
                <a:ext uri="{FF2B5EF4-FFF2-40B4-BE49-F238E27FC236}">
                  <a16:creationId xmlns:a16="http://schemas.microsoft.com/office/drawing/2014/main" id="{7B9DD617-5A6F-E8DC-7051-916F0ADA02FB}"/>
                </a:ext>
              </a:extLst>
            </p:cNvPr>
            <p:cNvSpPr/>
            <p:nvPr/>
          </p:nvSpPr>
          <p:spPr>
            <a:xfrm>
              <a:off x="3540987" y="1782183"/>
              <a:ext cx="2884602" cy="1049222"/>
            </a:xfrm>
            <a:prstGeom prst="roundRect">
              <a:avLst/>
            </a:prstGeom>
            <a:solidFill>
              <a:schemeClr val="accent5">
                <a:lumMod val="7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Global Modulation</a:t>
              </a:r>
            </a:p>
            <a:p>
              <a:pPr algn="ctr"/>
              <a:r>
                <a:rPr lang="en-US" dirty="0"/>
                <a:t>(Element-wise multiplication)</a:t>
              </a:r>
            </a:p>
          </p:txBody>
        </p:sp>
        <p:sp>
          <p:nvSpPr>
            <p:cNvPr id="70" name="Oval 69">
              <a:extLst>
                <a:ext uri="{FF2B5EF4-FFF2-40B4-BE49-F238E27FC236}">
                  <a16:creationId xmlns:a16="http://schemas.microsoft.com/office/drawing/2014/main" id="{FCE232AC-5E48-61BA-93BB-7E4F6DA50FAE}"/>
                </a:ext>
              </a:extLst>
            </p:cNvPr>
            <p:cNvSpPr/>
            <p:nvPr/>
          </p:nvSpPr>
          <p:spPr>
            <a:xfrm>
              <a:off x="5026217" y="1729967"/>
              <a:ext cx="94268" cy="94268"/>
            </a:xfrm>
            <a:prstGeom prst="ellipse">
              <a:avLst/>
            </a:prstGeom>
            <a:solidFill>
              <a:srgbClr val="00B05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0" name="Down Arrow 109">
            <a:extLst>
              <a:ext uri="{FF2B5EF4-FFF2-40B4-BE49-F238E27FC236}">
                <a16:creationId xmlns:a16="http://schemas.microsoft.com/office/drawing/2014/main" id="{9371C2C1-7B46-0BC6-6EFD-05D8CEE1E835}"/>
              </a:ext>
            </a:extLst>
          </p:cNvPr>
          <p:cNvSpPr/>
          <p:nvPr/>
        </p:nvSpPr>
        <p:spPr>
          <a:xfrm>
            <a:off x="7663577" y="3704219"/>
            <a:ext cx="347350" cy="337058"/>
          </a:xfrm>
          <a:prstGeom prst="downArrow">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657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2325C-7F26-545E-5BEE-432ABC765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71492-2850-7750-7D78-DEA12C9B46C3}"/>
              </a:ext>
            </a:extLst>
          </p:cNvPr>
          <p:cNvSpPr>
            <a:spLocks noGrp="1"/>
          </p:cNvSpPr>
          <p:nvPr>
            <p:ph type="title"/>
          </p:nvPr>
        </p:nvSpPr>
        <p:spPr>
          <a:xfrm>
            <a:off x="685798" y="899025"/>
            <a:ext cx="11506201" cy="882642"/>
          </a:xfrm>
        </p:spPr>
        <p:txBody>
          <a:bodyPr vert="horz" lIns="91440" tIns="45720" rIns="91440" bIns="45720" rtlCol="0" anchor="t">
            <a:normAutofit fontScale="90000"/>
          </a:bodyPr>
          <a:lstStyle/>
          <a:p>
            <a:r>
              <a:rPr lang="en-US" dirty="0"/>
              <a:t>Modified Visual Transformer (one encoder block)</a:t>
            </a:r>
            <a:br>
              <a:rPr lang="en-US" dirty="0"/>
            </a:br>
            <a:endParaRPr lang="en-US" dirty="0"/>
          </a:p>
        </p:txBody>
      </p:sp>
      <p:grpSp>
        <p:nvGrpSpPr>
          <p:cNvPr id="36" name="Group 35">
            <a:extLst>
              <a:ext uri="{FF2B5EF4-FFF2-40B4-BE49-F238E27FC236}">
                <a16:creationId xmlns:a16="http://schemas.microsoft.com/office/drawing/2014/main" id="{1A65A415-826E-DD1B-A1BE-ABBC5EDD8513}"/>
              </a:ext>
            </a:extLst>
          </p:cNvPr>
          <p:cNvGrpSpPr/>
          <p:nvPr/>
        </p:nvGrpSpPr>
        <p:grpSpPr>
          <a:xfrm>
            <a:off x="2537398" y="2960929"/>
            <a:ext cx="2116656" cy="1200329"/>
            <a:chOff x="5921813" y="2189894"/>
            <a:chExt cx="2116656" cy="1200329"/>
          </a:xfrm>
        </p:grpSpPr>
        <p:sp>
          <p:nvSpPr>
            <p:cNvPr id="37" name="TextBox 36">
              <a:extLst>
                <a:ext uri="{FF2B5EF4-FFF2-40B4-BE49-F238E27FC236}">
                  <a16:creationId xmlns:a16="http://schemas.microsoft.com/office/drawing/2014/main" id="{7947888C-172B-0E5E-2FD4-EECD5194017F}"/>
                </a:ext>
              </a:extLst>
            </p:cNvPr>
            <p:cNvSpPr txBox="1"/>
            <p:nvPr/>
          </p:nvSpPr>
          <p:spPr>
            <a:xfrm>
              <a:off x="5921813" y="2189894"/>
              <a:ext cx="2066717"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Cross-Attention (</a:t>
              </a:r>
            </a:p>
            <a:p>
              <a:pPr lvl="1"/>
              <a:r>
                <a:rPr lang="en-US" dirty="0"/>
                <a:t>Key, </a:t>
              </a:r>
            </a:p>
            <a:p>
              <a:pPr lvl="1"/>
              <a:r>
                <a:rPr lang="en-US" dirty="0"/>
                <a:t>Query </a:t>
              </a:r>
            </a:p>
            <a:p>
              <a:r>
                <a:rPr lang="en-US" dirty="0"/>
                <a:t>)</a:t>
              </a:r>
            </a:p>
          </p:txBody>
        </p:sp>
        <p:sp>
          <p:nvSpPr>
            <p:cNvPr id="38" name="Oval 37">
              <a:extLst>
                <a:ext uri="{FF2B5EF4-FFF2-40B4-BE49-F238E27FC236}">
                  <a16:creationId xmlns:a16="http://schemas.microsoft.com/office/drawing/2014/main" id="{736F3DB0-E489-4BE5-2ACB-EAEB0EF4E206}"/>
                </a:ext>
              </a:extLst>
            </p:cNvPr>
            <p:cNvSpPr/>
            <p:nvPr/>
          </p:nvSpPr>
          <p:spPr>
            <a:xfrm>
              <a:off x="6269722" y="260945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A049EB8-DCB5-2F4F-C9F9-E6BA9823FEB4}"/>
                </a:ext>
              </a:extLst>
            </p:cNvPr>
            <p:cNvSpPr/>
            <p:nvPr/>
          </p:nvSpPr>
          <p:spPr>
            <a:xfrm>
              <a:off x="6269722" y="2892475"/>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9AACA96F-A250-A9DA-EEEB-E401036BF3DC}"/>
                </a:ext>
              </a:extLst>
            </p:cNvPr>
            <p:cNvSpPr/>
            <p:nvPr/>
          </p:nvSpPr>
          <p:spPr>
            <a:xfrm>
              <a:off x="7938591" y="2776784"/>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5" name="Group 54">
            <a:extLst>
              <a:ext uri="{FF2B5EF4-FFF2-40B4-BE49-F238E27FC236}">
                <a16:creationId xmlns:a16="http://schemas.microsoft.com/office/drawing/2014/main" id="{201D5B37-3B69-B8AB-D98C-9F9F8A7CC87E}"/>
              </a:ext>
            </a:extLst>
          </p:cNvPr>
          <p:cNvGrpSpPr/>
          <p:nvPr/>
        </p:nvGrpSpPr>
        <p:grpSpPr>
          <a:xfrm>
            <a:off x="243493" y="3840285"/>
            <a:ext cx="1878739" cy="574501"/>
            <a:chOff x="2043017" y="4013810"/>
            <a:chExt cx="1878739" cy="574501"/>
          </a:xfrm>
        </p:grpSpPr>
        <p:sp>
          <p:nvSpPr>
            <p:cNvPr id="22" name="Rectangle 21">
              <a:extLst>
                <a:ext uri="{FF2B5EF4-FFF2-40B4-BE49-F238E27FC236}">
                  <a16:creationId xmlns:a16="http://schemas.microsoft.com/office/drawing/2014/main" id="{702DC297-8041-EDB3-6772-2CB5211BE76C}"/>
                </a:ext>
              </a:extLst>
            </p:cNvPr>
            <p:cNvSpPr/>
            <p:nvPr/>
          </p:nvSpPr>
          <p:spPr>
            <a:xfrm>
              <a:off x="2043017" y="4013810"/>
              <a:ext cx="1828800" cy="574501"/>
            </a:xfrm>
            <a:prstGeom prst="rect">
              <a:avLst/>
            </a:prstGeom>
            <a:solidFill>
              <a:srgbClr val="0070C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Context Key</a:t>
              </a:r>
            </a:p>
          </p:txBody>
        </p:sp>
        <p:sp>
          <p:nvSpPr>
            <p:cNvPr id="45" name="Oval 44">
              <a:extLst>
                <a:ext uri="{FF2B5EF4-FFF2-40B4-BE49-F238E27FC236}">
                  <a16:creationId xmlns:a16="http://schemas.microsoft.com/office/drawing/2014/main" id="{BA7E28A1-C36C-D9C3-8F1B-B91AA2C802E9}"/>
                </a:ext>
              </a:extLst>
            </p:cNvPr>
            <p:cNvSpPr/>
            <p:nvPr/>
          </p:nvSpPr>
          <p:spPr>
            <a:xfrm>
              <a:off x="3821878" y="4251121"/>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4EC28594-36AA-F87D-2453-8329BA62D6D0}"/>
              </a:ext>
            </a:extLst>
          </p:cNvPr>
          <p:cNvGrpSpPr/>
          <p:nvPr/>
        </p:nvGrpSpPr>
        <p:grpSpPr>
          <a:xfrm>
            <a:off x="218523" y="4586566"/>
            <a:ext cx="1878739" cy="574501"/>
            <a:chOff x="2043017" y="4710105"/>
            <a:chExt cx="1878739" cy="574501"/>
          </a:xfrm>
        </p:grpSpPr>
        <p:sp>
          <p:nvSpPr>
            <p:cNvPr id="28" name="Rectangle 27">
              <a:extLst>
                <a:ext uri="{FF2B5EF4-FFF2-40B4-BE49-F238E27FC236}">
                  <a16:creationId xmlns:a16="http://schemas.microsoft.com/office/drawing/2014/main" id="{6C864EAD-FCD7-F426-4D56-3FCFFEF0F0CE}"/>
                </a:ext>
              </a:extLst>
            </p:cNvPr>
            <p:cNvSpPr/>
            <p:nvPr/>
          </p:nvSpPr>
          <p:spPr>
            <a:xfrm>
              <a:off x="2043017" y="4710105"/>
              <a:ext cx="1828800" cy="574501"/>
            </a:xfrm>
            <a:prstGeom prst="rect">
              <a:avLst/>
            </a:prstGeom>
            <a:solidFill>
              <a:srgbClr val="0070C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Context Query</a:t>
              </a:r>
            </a:p>
          </p:txBody>
        </p:sp>
        <p:sp>
          <p:nvSpPr>
            <p:cNvPr id="46" name="Oval 45">
              <a:extLst>
                <a:ext uri="{FF2B5EF4-FFF2-40B4-BE49-F238E27FC236}">
                  <a16:creationId xmlns:a16="http://schemas.microsoft.com/office/drawing/2014/main" id="{3DDEF033-6E19-629C-CDF7-A61B6CCA60B2}"/>
                </a:ext>
              </a:extLst>
            </p:cNvPr>
            <p:cNvSpPr/>
            <p:nvPr/>
          </p:nvSpPr>
          <p:spPr>
            <a:xfrm>
              <a:off x="3821878" y="497250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997D0DD7-9BCF-A5CE-921E-D0B2AF628D4B}"/>
              </a:ext>
            </a:extLst>
          </p:cNvPr>
          <p:cNvGrpSpPr/>
          <p:nvPr/>
        </p:nvGrpSpPr>
        <p:grpSpPr>
          <a:xfrm>
            <a:off x="7323529" y="5065003"/>
            <a:ext cx="1878739" cy="574501"/>
            <a:chOff x="2043017" y="5384474"/>
            <a:chExt cx="1878739" cy="574501"/>
          </a:xfrm>
        </p:grpSpPr>
        <p:sp>
          <p:nvSpPr>
            <p:cNvPr id="29" name="Rectangle 28">
              <a:extLst>
                <a:ext uri="{FF2B5EF4-FFF2-40B4-BE49-F238E27FC236}">
                  <a16:creationId xmlns:a16="http://schemas.microsoft.com/office/drawing/2014/main" id="{D776FFF1-1D95-CF5A-B36E-6DEE79338245}"/>
                </a:ext>
              </a:extLst>
            </p:cNvPr>
            <p:cNvSpPr/>
            <p:nvPr/>
          </p:nvSpPr>
          <p:spPr>
            <a:xfrm>
              <a:off x="2043017" y="5384474"/>
              <a:ext cx="1828800" cy="574501"/>
            </a:xfrm>
            <a:prstGeom prst="rect">
              <a:avLst/>
            </a:prstGeom>
            <a:solidFill>
              <a:srgbClr val="0070C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Context Value</a:t>
              </a:r>
            </a:p>
          </p:txBody>
        </p:sp>
        <p:sp>
          <p:nvSpPr>
            <p:cNvPr id="47" name="Oval 46">
              <a:extLst>
                <a:ext uri="{FF2B5EF4-FFF2-40B4-BE49-F238E27FC236}">
                  <a16:creationId xmlns:a16="http://schemas.microsoft.com/office/drawing/2014/main" id="{12CABFC9-9459-D28C-B593-24F12FA9784D}"/>
                </a:ext>
              </a:extLst>
            </p:cNvPr>
            <p:cNvSpPr/>
            <p:nvPr/>
          </p:nvSpPr>
          <p:spPr>
            <a:xfrm>
              <a:off x="3821878" y="5643423"/>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FD4B33E2-7B08-6453-C3D8-3AD1722849B5}"/>
              </a:ext>
            </a:extLst>
          </p:cNvPr>
          <p:cNvGrpSpPr/>
          <p:nvPr/>
        </p:nvGrpSpPr>
        <p:grpSpPr>
          <a:xfrm>
            <a:off x="4982629" y="2573614"/>
            <a:ext cx="1878739" cy="574501"/>
            <a:chOff x="2043017" y="3254643"/>
            <a:chExt cx="1878739" cy="574501"/>
          </a:xfrm>
        </p:grpSpPr>
        <p:sp>
          <p:nvSpPr>
            <p:cNvPr id="21" name="Rectangle 20">
              <a:extLst>
                <a:ext uri="{FF2B5EF4-FFF2-40B4-BE49-F238E27FC236}">
                  <a16:creationId xmlns:a16="http://schemas.microsoft.com/office/drawing/2014/main" id="{BFAEB98B-7790-C8BD-1B71-8186A7B2765C}"/>
                </a:ext>
              </a:extLst>
            </p:cNvPr>
            <p:cNvSpPr/>
            <p:nvPr/>
          </p:nvSpPr>
          <p:spPr>
            <a:xfrm>
              <a:off x="2043017" y="3254643"/>
              <a:ext cx="1828800" cy="574501"/>
            </a:xfrm>
            <a:prstGeom prst="rect">
              <a:avLst/>
            </a:prstGeom>
            <a:solidFill>
              <a:srgbClr val="0070C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Target Value</a:t>
              </a:r>
            </a:p>
          </p:txBody>
        </p:sp>
        <p:sp>
          <p:nvSpPr>
            <p:cNvPr id="48" name="Oval 47">
              <a:extLst>
                <a:ext uri="{FF2B5EF4-FFF2-40B4-BE49-F238E27FC236}">
                  <a16:creationId xmlns:a16="http://schemas.microsoft.com/office/drawing/2014/main" id="{9399EEF5-2A1F-D92D-EA3B-0C062BE8E02B}"/>
                </a:ext>
              </a:extLst>
            </p:cNvPr>
            <p:cNvSpPr/>
            <p:nvPr/>
          </p:nvSpPr>
          <p:spPr>
            <a:xfrm>
              <a:off x="3821878" y="352973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AA624142-4BF5-AA99-12A5-65032CE74AE9}"/>
              </a:ext>
            </a:extLst>
          </p:cNvPr>
          <p:cNvGrpSpPr/>
          <p:nvPr/>
        </p:nvGrpSpPr>
        <p:grpSpPr>
          <a:xfrm>
            <a:off x="218523" y="2558982"/>
            <a:ext cx="1878739" cy="574501"/>
            <a:chOff x="2043017" y="2533522"/>
            <a:chExt cx="1878739" cy="574501"/>
          </a:xfrm>
        </p:grpSpPr>
        <p:sp>
          <p:nvSpPr>
            <p:cNvPr id="19" name="Rectangle 18">
              <a:extLst>
                <a:ext uri="{FF2B5EF4-FFF2-40B4-BE49-F238E27FC236}">
                  <a16:creationId xmlns:a16="http://schemas.microsoft.com/office/drawing/2014/main" id="{F4D48900-7CDE-12F0-D410-B80D033DDB87}"/>
                </a:ext>
              </a:extLst>
            </p:cNvPr>
            <p:cNvSpPr/>
            <p:nvPr/>
          </p:nvSpPr>
          <p:spPr>
            <a:xfrm>
              <a:off x="2043017" y="2533522"/>
              <a:ext cx="1828800" cy="574501"/>
            </a:xfrm>
            <a:prstGeom prst="rect">
              <a:avLst/>
            </a:prstGeom>
            <a:solidFill>
              <a:srgbClr val="0070C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Target Query</a:t>
              </a:r>
            </a:p>
          </p:txBody>
        </p:sp>
        <p:sp>
          <p:nvSpPr>
            <p:cNvPr id="49" name="Oval 48">
              <a:extLst>
                <a:ext uri="{FF2B5EF4-FFF2-40B4-BE49-F238E27FC236}">
                  <a16:creationId xmlns:a16="http://schemas.microsoft.com/office/drawing/2014/main" id="{B17B03A5-910C-39C6-50A4-E86CC1EAC577}"/>
                </a:ext>
              </a:extLst>
            </p:cNvPr>
            <p:cNvSpPr/>
            <p:nvPr/>
          </p:nvSpPr>
          <p:spPr>
            <a:xfrm>
              <a:off x="3821878" y="2784408"/>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1B86CDB5-FCA0-BE46-CF38-293A1883C326}"/>
              </a:ext>
            </a:extLst>
          </p:cNvPr>
          <p:cNvGrpSpPr/>
          <p:nvPr/>
        </p:nvGrpSpPr>
        <p:grpSpPr>
          <a:xfrm>
            <a:off x="218523" y="1823309"/>
            <a:ext cx="1878739" cy="574501"/>
            <a:chOff x="2054247" y="1812402"/>
            <a:chExt cx="1878739" cy="574501"/>
          </a:xfrm>
        </p:grpSpPr>
        <p:sp>
          <p:nvSpPr>
            <p:cNvPr id="8" name="Rectangle 7">
              <a:extLst>
                <a:ext uri="{FF2B5EF4-FFF2-40B4-BE49-F238E27FC236}">
                  <a16:creationId xmlns:a16="http://schemas.microsoft.com/office/drawing/2014/main" id="{8C176C06-AB5B-9450-9578-13E22ADF5E97}"/>
                </a:ext>
              </a:extLst>
            </p:cNvPr>
            <p:cNvSpPr/>
            <p:nvPr/>
          </p:nvSpPr>
          <p:spPr>
            <a:xfrm>
              <a:off x="2054247" y="1812402"/>
              <a:ext cx="1828800" cy="574501"/>
            </a:xfrm>
            <a:prstGeom prst="rect">
              <a:avLst/>
            </a:prstGeom>
            <a:solidFill>
              <a:srgbClr val="0070C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Target Key</a:t>
              </a:r>
            </a:p>
          </p:txBody>
        </p:sp>
        <p:sp>
          <p:nvSpPr>
            <p:cNvPr id="50" name="Oval 49">
              <a:extLst>
                <a:ext uri="{FF2B5EF4-FFF2-40B4-BE49-F238E27FC236}">
                  <a16:creationId xmlns:a16="http://schemas.microsoft.com/office/drawing/2014/main" id="{6348C467-5BA7-7D82-60A1-D37D30FB9238}"/>
                </a:ext>
              </a:extLst>
            </p:cNvPr>
            <p:cNvSpPr/>
            <p:nvPr/>
          </p:nvSpPr>
          <p:spPr>
            <a:xfrm>
              <a:off x="3833108" y="205669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0" name="Group 89">
            <a:extLst>
              <a:ext uri="{FF2B5EF4-FFF2-40B4-BE49-F238E27FC236}">
                <a16:creationId xmlns:a16="http://schemas.microsoft.com/office/drawing/2014/main" id="{36655933-872E-501F-E0CB-50CA6AA0E665}"/>
              </a:ext>
            </a:extLst>
          </p:cNvPr>
          <p:cNvGrpSpPr/>
          <p:nvPr/>
        </p:nvGrpSpPr>
        <p:grpSpPr>
          <a:xfrm>
            <a:off x="2537398" y="1598311"/>
            <a:ext cx="2116656" cy="1200329"/>
            <a:chOff x="5921813" y="2189894"/>
            <a:chExt cx="2116656" cy="1200329"/>
          </a:xfrm>
        </p:grpSpPr>
        <p:sp>
          <p:nvSpPr>
            <p:cNvPr id="91" name="TextBox 90">
              <a:extLst>
                <a:ext uri="{FF2B5EF4-FFF2-40B4-BE49-F238E27FC236}">
                  <a16:creationId xmlns:a16="http://schemas.microsoft.com/office/drawing/2014/main" id="{D2FB05B4-1237-9F5F-91C3-8D0E897A0894}"/>
                </a:ext>
              </a:extLst>
            </p:cNvPr>
            <p:cNvSpPr txBox="1"/>
            <p:nvPr/>
          </p:nvSpPr>
          <p:spPr>
            <a:xfrm>
              <a:off x="5921813" y="2189894"/>
              <a:ext cx="2066717"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Self-Attention (</a:t>
              </a:r>
            </a:p>
            <a:p>
              <a:pPr lvl="1"/>
              <a:r>
                <a:rPr lang="en-US" dirty="0"/>
                <a:t>Key, </a:t>
              </a:r>
            </a:p>
            <a:p>
              <a:pPr lvl="1"/>
              <a:r>
                <a:rPr lang="en-US" dirty="0"/>
                <a:t>Query </a:t>
              </a:r>
            </a:p>
            <a:p>
              <a:r>
                <a:rPr lang="en-US" dirty="0"/>
                <a:t>)</a:t>
              </a:r>
            </a:p>
          </p:txBody>
        </p:sp>
        <p:sp>
          <p:nvSpPr>
            <p:cNvPr id="92" name="Oval 91">
              <a:extLst>
                <a:ext uri="{FF2B5EF4-FFF2-40B4-BE49-F238E27FC236}">
                  <a16:creationId xmlns:a16="http://schemas.microsoft.com/office/drawing/2014/main" id="{2BBBE632-0A77-48FB-A176-5A5A47F93AEA}"/>
                </a:ext>
              </a:extLst>
            </p:cNvPr>
            <p:cNvSpPr/>
            <p:nvPr/>
          </p:nvSpPr>
          <p:spPr>
            <a:xfrm>
              <a:off x="6269722" y="260945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9C71999E-E474-83EB-AC4A-E9FB5E30F028}"/>
                </a:ext>
              </a:extLst>
            </p:cNvPr>
            <p:cNvSpPr/>
            <p:nvPr/>
          </p:nvSpPr>
          <p:spPr>
            <a:xfrm>
              <a:off x="6269722" y="2892475"/>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29C803E3-C647-F281-1C73-A9BAEFF8E66D}"/>
                </a:ext>
              </a:extLst>
            </p:cNvPr>
            <p:cNvSpPr/>
            <p:nvPr/>
          </p:nvSpPr>
          <p:spPr>
            <a:xfrm>
              <a:off x="7938591" y="2776784"/>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5113131D-F0FA-0182-10D7-166D10EE5DEE}"/>
              </a:ext>
            </a:extLst>
          </p:cNvPr>
          <p:cNvGrpSpPr/>
          <p:nvPr/>
        </p:nvGrpSpPr>
        <p:grpSpPr>
          <a:xfrm>
            <a:off x="2537398" y="4396876"/>
            <a:ext cx="2116656" cy="1200329"/>
            <a:chOff x="5921813" y="2189894"/>
            <a:chExt cx="2116656" cy="1200329"/>
          </a:xfrm>
        </p:grpSpPr>
        <p:sp>
          <p:nvSpPr>
            <p:cNvPr id="96" name="TextBox 95">
              <a:extLst>
                <a:ext uri="{FF2B5EF4-FFF2-40B4-BE49-F238E27FC236}">
                  <a16:creationId xmlns:a16="http://schemas.microsoft.com/office/drawing/2014/main" id="{9CE32244-4E8F-D8D7-0851-FC2D2B844192}"/>
                </a:ext>
              </a:extLst>
            </p:cNvPr>
            <p:cNvSpPr txBox="1"/>
            <p:nvPr/>
          </p:nvSpPr>
          <p:spPr>
            <a:xfrm>
              <a:off x="5921813" y="2189894"/>
              <a:ext cx="2066717"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Self-Attention (</a:t>
              </a:r>
            </a:p>
            <a:p>
              <a:pPr lvl="1"/>
              <a:r>
                <a:rPr lang="en-US" dirty="0"/>
                <a:t>Key, </a:t>
              </a:r>
            </a:p>
            <a:p>
              <a:pPr lvl="1"/>
              <a:r>
                <a:rPr lang="en-US" dirty="0"/>
                <a:t>Query </a:t>
              </a:r>
            </a:p>
            <a:p>
              <a:r>
                <a:rPr lang="en-US" dirty="0"/>
                <a:t>)</a:t>
              </a:r>
            </a:p>
          </p:txBody>
        </p:sp>
        <p:sp>
          <p:nvSpPr>
            <p:cNvPr id="97" name="Oval 96">
              <a:extLst>
                <a:ext uri="{FF2B5EF4-FFF2-40B4-BE49-F238E27FC236}">
                  <a16:creationId xmlns:a16="http://schemas.microsoft.com/office/drawing/2014/main" id="{C5F4BEB9-2BF6-6F44-A12F-C2D7BA3EE171}"/>
                </a:ext>
              </a:extLst>
            </p:cNvPr>
            <p:cNvSpPr/>
            <p:nvPr/>
          </p:nvSpPr>
          <p:spPr>
            <a:xfrm>
              <a:off x="6269722" y="260945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5640DF02-D4FA-DD75-7179-66495F0B2003}"/>
                </a:ext>
              </a:extLst>
            </p:cNvPr>
            <p:cNvSpPr/>
            <p:nvPr/>
          </p:nvSpPr>
          <p:spPr>
            <a:xfrm>
              <a:off x="6269722" y="2892475"/>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21F35C50-4584-1CAD-C331-7A5201C56197}"/>
                </a:ext>
              </a:extLst>
            </p:cNvPr>
            <p:cNvSpPr/>
            <p:nvPr/>
          </p:nvSpPr>
          <p:spPr>
            <a:xfrm>
              <a:off x="7938591" y="2776784"/>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 name="Straight Arrow Connector 58">
            <a:extLst>
              <a:ext uri="{FF2B5EF4-FFF2-40B4-BE49-F238E27FC236}">
                <a16:creationId xmlns:a16="http://schemas.microsoft.com/office/drawing/2014/main" id="{A60D7A46-F6C4-CEE3-200C-8D61C1A9D384}"/>
              </a:ext>
            </a:extLst>
          </p:cNvPr>
          <p:cNvCxnSpPr>
            <a:cxnSpLocks/>
            <a:stCxn id="45" idx="6"/>
            <a:endCxn id="97" idx="2"/>
          </p:cNvCxnSpPr>
          <p:nvPr/>
        </p:nvCxnSpPr>
        <p:spPr>
          <a:xfrm>
            <a:off x="2122232" y="4127535"/>
            <a:ext cx="763075" cy="738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AD81FE9F-C214-3F12-C652-E372C012B73E}"/>
              </a:ext>
            </a:extLst>
          </p:cNvPr>
          <p:cNvCxnSpPr>
            <a:cxnSpLocks/>
            <a:stCxn id="46" idx="6"/>
            <a:endCxn id="98" idx="2"/>
          </p:cNvCxnSpPr>
          <p:nvPr/>
        </p:nvCxnSpPr>
        <p:spPr>
          <a:xfrm>
            <a:off x="2097262" y="4898906"/>
            <a:ext cx="788045" cy="2504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E1D3572F-430D-DE8C-8192-0E145F689C8E}"/>
              </a:ext>
            </a:extLst>
          </p:cNvPr>
          <p:cNvCxnSpPr>
            <a:cxnSpLocks/>
            <a:stCxn id="50" idx="6"/>
            <a:endCxn id="92" idx="2"/>
          </p:cNvCxnSpPr>
          <p:nvPr/>
        </p:nvCxnSpPr>
        <p:spPr>
          <a:xfrm flipV="1">
            <a:off x="2097262" y="2067812"/>
            <a:ext cx="788045" cy="49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A72D2F9A-367B-2F82-6BD9-2B1937CB862E}"/>
              </a:ext>
            </a:extLst>
          </p:cNvPr>
          <p:cNvCxnSpPr>
            <a:cxnSpLocks/>
            <a:stCxn id="49" idx="6"/>
            <a:endCxn id="93" idx="2"/>
          </p:cNvCxnSpPr>
          <p:nvPr/>
        </p:nvCxnSpPr>
        <p:spPr>
          <a:xfrm flipV="1">
            <a:off x="2097262" y="2350831"/>
            <a:ext cx="788045" cy="508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337126DD-B3AA-938A-DAEE-CEB81633D772}"/>
              </a:ext>
            </a:extLst>
          </p:cNvPr>
          <p:cNvCxnSpPr>
            <a:cxnSpLocks/>
            <a:stCxn id="49" idx="6"/>
            <a:endCxn id="41" idx="1"/>
          </p:cNvCxnSpPr>
          <p:nvPr/>
        </p:nvCxnSpPr>
        <p:spPr>
          <a:xfrm>
            <a:off x="2097262" y="2859807"/>
            <a:ext cx="802672" cy="818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AF09BFB6-F85E-3765-68B2-AC1934D96B4E}"/>
              </a:ext>
            </a:extLst>
          </p:cNvPr>
          <p:cNvCxnSpPr>
            <a:cxnSpLocks/>
            <a:stCxn id="46" idx="6"/>
            <a:endCxn id="38" idx="3"/>
          </p:cNvCxnSpPr>
          <p:nvPr/>
        </p:nvCxnSpPr>
        <p:spPr>
          <a:xfrm flipV="1">
            <a:off x="2097262" y="3465742"/>
            <a:ext cx="802672" cy="1433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9" name="Group 118">
            <a:extLst>
              <a:ext uri="{FF2B5EF4-FFF2-40B4-BE49-F238E27FC236}">
                <a16:creationId xmlns:a16="http://schemas.microsoft.com/office/drawing/2014/main" id="{0F11E202-E869-DF06-9FB9-DBA29CACD43C}"/>
              </a:ext>
            </a:extLst>
          </p:cNvPr>
          <p:cNvGrpSpPr/>
          <p:nvPr/>
        </p:nvGrpSpPr>
        <p:grpSpPr>
          <a:xfrm>
            <a:off x="7229782" y="1886437"/>
            <a:ext cx="2116656" cy="1200329"/>
            <a:chOff x="5921813" y="2189894"/>
            <a:chExt cx="2116656" cy="1200329"/>
          </a:xfrm>
        </p:grpSpPr>
        <p:sp>
          <p:nvSpPr>
            <p:cNvPr id="120" name="TextBox 119">
              <a:extLst>
                <a:ext uri="{FF2B5EF4-FFF2-40B4-BE49-F238E27FC236}">
                  <a16:creationId xmlns:a16="http://schemas.microsoft.com/office/drawing/2014/main" id="{B18F58ED-D207-4F27-E1B9-24F01194911D}"/>
                </a:ext>
              </a:extLst>
            </p:cNvPr>
            <p:cNvSpPr txBox="1"/>
            <p:nvPr/>
          </p:nvSpPr>
          <p:spPr>
            <a:xfrm>
              <a:off x="5921813" y="2189894"/>
              <a:ext cx="2066717"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Attention Score (</a:t>
              </a:r>
            </a:p>
            <a:p>
              <a:pPr lvl="1"/>
              <a:r>
                <a:rPr lang="en-US" dirty="0"/>
                <a:t>Attention</a:t>
              </a:r>
            </a:p>
            <a:p>
              <a:pPr lvl="1"/>
              <a:r>
                <a:rPr lang="en-US" dirty="0"/>
                <a:t>Value </a:t>
              </a:r>
            </a:p>
            <a:p>
              <a:r>
                <a:rPr lang="en-US" dirty="0"/>
                <a:t>)</a:t>
              </a:r>
            </a:p>
          </p:txBody>
        </p:sp>
        <p:sp>
          <p:nvSpPr>
            <p:cNvPr id="121" name="Oval 120">
              <a:extLst>
                <a:ext uri="{FF2B5EF4-FFF2-40B4-BE49-F238E27FC236}">
                  <a16:creationId xmlns:a16="http://schemas.microsoft.com/office/drawing/2014/main" id="{761C507E-8170-669A-90D1-885AB650923D}"/>
                </a:ext>
              </a:extLst>
            </p:cNvPr>
            <p:cNvSpPr/>
            <p:nvPr/>
          </p:nvSpPr>
          <p:spPr>
            <a:xfrm>
              <a:off x="6269722" y="260945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BD34C0B7-D4AA-6308-2018-21DBE7FB998E}"/>
                </a:ext>
              </a:extLst>
            </p:cNvPr>
            <p:cNvSpPr/>
            <p:nvPr/>
          </p:nvSpPr>
          <p:spPr>
            <a:xfrm>
              <a:off x="6269722" y="2892475"/>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0BF7ECCB-6BF7-60B6-496A-C23531E75020}"/>
                </a:ext>
              </a:extLst>
            </p:cNvPr>
            <p:cNvSpPr/>
            <p:nvPr/>
          </p:nvSpPr>
          <p:spPr>
            <a:xfrm>
              <a:off x="7938591" y="2776784"/>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4" name="Group 123">
            <a:extLst>
              <a:ext uri="{FF2B5EF4-FFF2-40B4-BE49-F238E27FC236}">
                <a16:creationId xmlns:a16="http://schemas.microsoft.com/office/drawing/2014/main" id="{EC475110-109D-B090-B9DA-0814D36CEF3D}"/>
              </a:ext>
            </a:extLst>
          </p:cNvPr>
          <p:cNvGrpSpPr/>
          <p:nvPr/>
        </p:nvGrpSpPr>
        <p:grpSpPr>
          <a:xfrm>
            <a:off x="7204571" y="3553891"/>
            <a:ext cx="2166595" cy="1200329"/>
            <a:chOff x="5921813" y="2189894"/>
            <a:chExt cx="2166595" cy="1200329"/>
          </a:xfrm>
        </p:grpSpPr>
        <p:sp>
          <p:nvSpPr>
            <p:cNvPr id="125" name="TextBox 124">
              <a:extLst>
                <a:ext uri="{FF2B5EF4-FFF2-40B4-BE49-F238E27FC236}">
                  <a16:creationId xmlns:a16="http://schemas.microsoft.com/office/drawing/2014/main" id="{958A45CA-BA16-D0EA-CD25-E0138DAD36CD}"/>
                </a:ext>
              </a:extLst>
            </p:cNvPr>
            <p:cNvSpPr txBox="1"/>
            <p:nvPr/>
          </p:nvSpPr>
          <p:spPr>
            <a:xfrm>
              <a:off x="5921813" y="2189894"/>
              <a:ext cx="2116656"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Local Modulation (</a:t>
              </a:r>
            </a:p>
            <a:p>
              <a:pPr lvl="1"/>
              <a:r>
                <a:rPr lang="en-US" dirty="0"/>
                <a:t>Scale Tensor</a:t>
              </a:r>
            </a:p>
            <a:p>
              <a:pPr lvl="1"/>
              <a:r>
                <a:rPr lang="en-US" dirty="0"/>
                <a:t>Attention</a:t>
              </a:r>
            </a:p>
            <a:p>
              <a:r>
                <a:rPr lang="en-US" dirty="0"/>
                <a:t>)</a:t>
              </a:r>
            </a:p>
          </p:txBody>
        </p:sp>
        <p:sp>
          <p:nvSpPr>
            <p:cNvPr id="126" name="Oval 125">
              <a:extLst>
                <a:ext uri="{FF2B5EF4-FFF2-40B4-BE49-F238E27FC236}">
                  <a16:creationId xmlns:a16="http://schemas.microsoft.com/office/drawing/2014/main" id="{D6E878F0-7354-7AA8-28E5-8281ADDD84B5}"/>
                </a:ext>
              </a:extLst>
            </p:cNvPr>
            <p:cNvSpPr/>
            <p:nvPr/>
          </p:nvSpPr>
          <p:spPr>
            <a:xfrm>
              <a:off x="6269722" y="260945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BCD122F2-35C0-1334-5D9D-D28C884849CD}"/>
                </a:ext>
              </a:extLst>
            </p:cNvPr>
            <p:cNvSpPr/>
            <p:nvPr/>
          </p:nvSpPr>
          <p:spPr>
            <a:xfrm>
              <a:off x="6269722" y="2892475"/>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CCB2347B-029D-E5E9-CC48-B100003DD316}"/>
                </a:ext>
              </a:extLst>
            </p:cNvPr>
            <p:cNvSpPr/>
            <p:nvPr/>
          </p:nvSpPr>
          <p:spPr>
            <a:xfrm>
              <a:off x="7988530" y="2762939"/>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9" name="Group 128">
            <a:extLst>
              <a:ext uri="{FF2B5EF4-FFF2-40B4-BE49-F238E27FC236}">
                <a16:creationId xmlns:a16="http://schemas.microsoft.com/office/drawing/2014/main" id="{76C7E857-C711-27DF-80CF-150A7F2F805D}"/>
              </a:ext>
            </a:extLst>
          </p:cNvPr>
          <p:cNvGrpSpPr/>
          <p:nvPr/>
        </p:nvGrpSpPr>
        <p:grpSpPr>
          <a:xfrm>
            <a:off x="9619197" y="4075867"/>
            <a:ext cx="2116656" cy="1200329"/>
            <a:chOff x="5921813" y="2189894"/>
            <a:chExt cx="2116656" cy="1200329"/>
          </a:xfrm>
        </p:grpSpPr>
        <p:sp>
          <p:nvSpPr>
            <p:cNvPr id="130" name="TextBox 129">
              <a:extLst>
                <a:ext uri="{FF2B5EF4-FFF2-40B4-BE49-F238E27FC236}">
                  <a16:creationId xmlns:a16="http://schemas.microsoft.com/office/drawing/2014/main" id="{840CAC28-1B47-04E3-30F0-E5D95DB3280B}"/>
                </a:ext>
              </a:extLst>
            </p:cNvPr>
            <p:cNvSpPr txBox="1"/>
            <p:nvPr/>
          </p:nvSpPr>
          <p:spPr>
            <a:xfrm>
              <a:off x="5921813" y="2189894"/>
              <a:ext cx="2066717"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Attention Score (</a:t>
              </a:r>
            </a:p>
            <a:p>
              <a:pPr lvl="1"/>
              <a:r>
                <a:rPr lang="en-US" dirty="0"/>
                <a:t>Attention</a:t>
              </a:r>
            </a:p>
            <a:p>
              <a:pPr lvl="1"/>
              <a:r>
                <a:rPr lang="en-US" dirty="0"/>
                <a:t>Value </a:t>
              </a:r>
            </a:p>
            <a:p>
              <a:r>
                <a:rPr lang="en-US" dirty="0"/>
                <a:t>)</a:t>
              </a:r>
            </a:p>
          </p:txBody>
        </p:sp>
        <p:sp>
          <p:nvSpPr>
            <p:cNvPr id="131" name="Oval 130">
              <a:extLst>
                <a:ext uri="{FF2B5EF4-FFF2-40B4-BE49-F238E27FC236}">
                  <a16:creationId xmlns:a16="http://schemas.microsoft.com/office/drawing/2014/main" id="{7B47589A-E960-EA69-2FB5-130DBAC8B175}"/>
                </a:ext>
              </a:extLst>
            </p:cNvPr>
            <p:cNvSpPr/>
            <p:nvPr/>
          </p:nvSpPr>
          <p:spPr>
            <a:xfrm>
              <a:off x="6269722" y="2609456"/>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A3A49D41-C084-3F5A-5261-1560640C8BBC}"/>
                </a:ext>
              </a:extLst>
            </p:cNvPr>
            <p:cNvSpPr/>
            <p:nvPr/>
          </p:nvSpPr>
          <p:spPr>
            <a:xfrm>
              <a:off x="6269722" y="2892475"/>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8CA88344-FA56-C236-94A8-773DEC7998F4}"/>
                </a:ext>
              </a:extLst>
            </p:cNvPr>
            <p:cNvSpPr/>
            <p:nvPr/>
          </p:nvSpPr>
          <p:spPr>
            <a:xfrm>
              <a:off x="7938591" y="2776784"/>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4" name="Straight Arrow Connector 133">
            <a:extLst>
              <a:ext uri="{FF2B5EF4-FFF2-40B4-BE49-F238E27FC236}">
                <a16:creationId xmlns:a16="http://schemas.microsoft.com/office/drawing/2014/main" id="{8B033DAE-BDEA-30F0-0783-C114A7E4FBE5}"/>
              </a:ext>
            </a:extLst>
          </p:cNvPr>
          <p:cNvCxnSpPr>
            <a:cxnSpLocks/>
            <a:stCxn id="94" idx="6"/>
            <a:endCxn id="121" idx="2"/>
          </p:cNvCxnSpPr>
          <p:nvPr/>
        </p:nvCxnSpPr>
        <p:spPr>
          <a:xfrm>
            <a:off x="4654054" y="2235140"/>
            <a:ext cx="2923637" cy="1207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D636E99C-A14C-86F2-1218-5CBCA139CF6E}"/>
              </a:ext>
            </a:extLst>
          </p:cNvPr>
          <p:cNvCxnSpPr>
            <a:cxnSpLocks/>
            <a:stCxn id="48" idx="7"/>
            <a:endCxn id="122" idx="2"/>
          </p:cNvCxnSpPr>
          <p:nvPr/>
        </p:nvCxnSpPr>
        <p:spPr>
          <a:xfrm flipV="1">
            <a:off x="6846741" y="2638957"/>
            <a:ext cx="730950" cy="224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D4B72F37-7DE0-461B-B8BB-0693B66DB4FB}"/>
              </a:ext>
            </a:extLst>
          </p:cNvPr>
          <p:cNvCxnSpPr>
            <a:cxnSpLocks/>
            <a:stCxn id="99" idx="7"/>
            <a:endCxn id="127" idx="2"/>
          </p:cNvCxnSpPr>
          <p:nvPr/>
        </p:nvCxnSpPr>
        <p:spPr>
          <a:xfrm flipV="1">
            <a:off x="4639427" y="4306411"/>
            <a:ext cx="2913053" cy="691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54" name="Group 153">
            <a:extLst>
              <a:ext uri="{FF2B5EF4-FFF2-40B4-BE49-F238E27FC236}">
                <a16:creationId xmlns:a16="http://schemas.microsoft.com/office/drawing/2014/main" id="{E1EC5999-1386-1D23-8C49-FC0B3A63CE28}"/>
              </a:ext>
            </a:extLst>
          </p:cNvPr>
          <p:cNvGrpSpPr/>
          <p:nvPr/>
        </p:nvGrpSpPr>
        <p:grpSpPr>
          <a:xfrm>
            <a:off x="4947317" y="3394056"/>
            <a:ext cx="1914051" cy="369332"/>
            <a:chOff x="6393970" y="3479859"/>
            <a:chExt cx="1914051" cy="369332"/>
          </a:xfrm>
        </p:grpSpPr>
        <p:sp>
          <p:nvSpPr>
            <p:cNvPr id="151" name="TextBox 150">
              <a:extLst>
                <a:ext uri="{FF2B5EF4-FFF2-40B4-BE49-F238E27FC236}">
                  <a16:creationId xmlns:a16="http://schemas.microsoft.com/office/drawing/2014/main" id="{E026E3CB-A572-1203-0F20-A23F7F57F103}"/>
                </a:ext>
              </a:extLst>
            </p:cNvPr>
            <p:cNvSpPr txBox="1"/>
            <p:nvPr/>
          </p:nvSpPr>
          <p:spPr>
            <a:xfrm>
              <a:off x="6443909" y="3479859"/>
              <a:ext cx="181417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Keep Max Only</a:t>
              </a:r>
            </a:p>
          </p:txBody>
        </p:sp>
        <p:sp>
          <p:nvSpPr>
            <p:cNvPr id="152" name="Oval 151">
              <a:extLst>
                <a:ext uri="{FF2B5EF4-FFF2-40B4-BE49-F238E27FC236}">
                  <a16:creationId xmlns:a16="http://schemas.microsoft.com/office/drawing/2014/main" id="{7A5F2B43-3A9F-14A8-9623-D5FAF0F30AD7}"/>
                </a:ext>
              </a:extLst>
            </p:cNvPr>
            <p:cNvSpPr/>
            <p:nvPr/>
          </p:nvSpPr>
          <p:spPr>
            <a:xfrm>
              <a:off x="6393970" y="3624290"/>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Oval 152">
              <a:extLst>
                <a:ext uri="{FF2B5EF4-FFF2-40B4-BE49-F238E27FC236}">
                  <a16:creationId xmlns:a16="http://schemas.microsoft.com/office/drawing/2014/main" id="{56E5558D-74B2-EE03-0596-CB8F60475D7E}"/>
                </a:ext>
              </a:extLst>
            </p:cNvPr>
            <p:cNvSpPr/>
            <p:nvPr/>
          </p:nvSpPr>
          <p:spPr>
            <a:xfrm>
              <a:off x="8208143" y="3624290"/>
              <a:ext cx="99878" cy="99878"/>
            </a:xfrm>
            <a:prstGeom prst="ellips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56" name="Straight Arrow Connector 155">
            <a:extLst>
              <a:ext uri="{FF2B5EF4-FFF2-40B4-BE49-F238E27FC236}">
                <a16:creationId xmlns:a16="http://schemas.microsoft.com/office/drawing/2014/main" id="{0A26A5EE-A15A-04FC-6532-12D55FB791DF}"/>
              </a:ext>
            </a:extLst>
          </p:cNvPr>
          <p:cNvCxnSpPr>
            <a:cxnSpLocks/>
            <a:stCxn id="43" idx="6"/>
            <a:endCxn id="152" idx="2"/>
          </p:cNvCxnSpPr>
          <p:nvPr/>
        </p:nvCxnSpPr>
        <p:spPr>
          <a:xfrm flipV="1">
            <a:off x="4654054" y="3588426"/>
            <a:ext cx="293263" cy="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F477CEA6-349F-D907-59D5-CFDD9F1CB3EC}"/>
              </a:ext>
            </a:extLst>
          </p:cNvPr>
          <p:cNvCxnSpPr>
            <a:cxnSpLocks/>
            <a:stCxn id="153" idx="5"/>
            <a:endCxn id="126" idx="2"/>
          </p:cNvCxnSpPr>
          <p:nvPr/>
        </p:nvCxnSpPr>
        <p:spPr>
          <a:xfrm>
            <a:off x="6846741" y="3623738"/>
            <a:ext cx="705739" cy="399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DF3C27B3-31F9-7ACA-4826-E239D8B13361}"/>
              </a:ext>
            </a:extLst>
          </p:cNvPr>
          <p:cNvCxnSpPr>
            <a:cxnSpLocks/>
            <a:stCxn id="47" idx="6"/>
            <a:endCxn id="132" idx="2"/>
          </p:cNvCxnSpPr>
          <p:nvPr/>
        </p:nvCxnSpPr>
        <p:spPr>
          <a:xfrm flipV="1">
            <a:off x="9202268" y="4828387"/>
            <a:ext cx="764838" cy="54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9AE4D64F-9A4A-622E-D504-BA5946E5D850}"/>
              </a:ext>
            </a:extLst>
          </p:cNvPr>
          <p:cNvCxnSpPr>
            <a:cxnSpLocks/>
            <a:stCxn id="128" idx="5"/>
            <a:endCxn id="131" idx="1"/>
          </p:cNvCxnSpPr>
          <p:nvPr/>
        </p:nvCxnSpPr>
        <p:spPr>
          <a:xfrm>
            <a:off x="9356539" y="4212187"/>
            <a:ext cx="625194" cy="297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D0ED73E4-D863-26D5-DEF3-A71BBC306710}"/>
              </a:ext>
            </a:extLst>
          </p:cNvPr>
          <p:cNvCxnSpPr>
            <a:cxnSpLocks/>
            <a:stCxn id="123" idx="6"/>
          </p:cNvCxnSpPr>
          <p:nvPr/>
        </p:nvCxnSpPr>
        <p:spPr>
          <a:xfrm>
            <a:off x="9346438" y="2523266"/>
            <a:ext cx="27564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CA45363F-4B42-1C8B-D45D-ABD9159FF3E6}"/>
              </a:ext>
            </a:extLst>
          </p:cNvPr>
          <p:cNvCxnSpPr>
            <a:cxnSpLocks/>
            <a:stCxn id="133" idx="6"/>
          </p:cNvCxnSpPr>
          <p:nvPr/>
        </p:nvCxnSpPr>
        <p:spPr>
          <a:xfrm>
            <a:off x="11735853" y="4712696"/>
            <a:ext cx="312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3" name="TextBox 182">
            <a:extLst>
              <a:ext uri="{FF2B5EF4-FFF2-40B4-BE49-F238E27FC236}">
                <a16:creationId xmlns:a16="http://schemas.microsoft.com/office/drawing/2014/main" id="{D57BCEAD-B17B-EC79-8859-E994BEF7BDDA}"/>
              </a:ext>
            </a:extLst>
          </p:cNvPr>
          <p:cNvSpPr txBox="1"/>
          <p:nvPr/>
        </p:nvSpPr>
        <p:spPr>
          <a:xfrm>
            <a:off x="9496559" y="2104035"/>
            <a:ext cx="2777886" cy="369332"/>
          </a:xfrm>
          <a:prstGeom prst="rect">
            <a:avLst/>
          </a:prstGeom>
          <a:noFill/>
        </p:spPr>
        <p:txBody>
          <a:bodyPr wrap="square" rtlCol="0">
            <a:spAutoFit/>
          </a:bodyPr>
          <a:lstStyle/>
          <a:p>
            <a:r>
              <a:rPr lang="en-US" dirty="0"/>
              <a:t>Target Attention Output</a:t>
            </a:r>
          </a:p>
        </p:txBody>
      </p:sp>
      <p:sp>
        <p:nvSpPr>
          <p:cNvPr id="184" name="TextBox 183">
            <a:extLst>
              <a:ext uri="{FF2B5EF4-FFF2-40B4-BE49-F238E27FC236}">
                <a16:creationId xmlns:a16="http://schemas.microsoft.com/office/drawing/2014/main" id="{B1187CD9-A70B-42D0-4912-930542DECE0B}"/>
              </a:ext>
            </a:extLst>
          </p:cNvPr>
          <p:cNvSpPr txBox="1"/>
          <p:nvPr/>
        </p:nvSpPr>
        <p:spPr>
          <a:xfrm>
            <a:off x="9424701" y="3677997"/>
            <a:ext cx="2777886" cy="369332"/>
          </a:xfrm>
          <a:prstGeom prst="rect">
            <a:avLst/>
          </a:prstGeom>
          <a:noFill/>
        </p:spPr>
        <p:txBody>
          <a:bodyPr wrap="square" rtlCol="0">
            <a:spAutoFit/>
          </a:bodyPr>
          <a:lstStyle/>
          <a:p>
            <a:r>
              <a:rPr lang="en-US" dirty="0"/>
              <a:t>Context Attention Output</a:t>
            </a:r>
          </a:p>
        </p:txBody>
      </p:sp>
    </p:spTree>
    <p:extLst>
      <p:ext uri="{BB962C8B-B14F-4D97-AF65-F5344CB8AC3E}">
        <p14:creationId xmlns:p14="http://schemas.microsoft.com/office/powerpoint/2010/main" val="3390691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FD043-82CF-6037-B24E-26DF114C34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0E0258-D485-8E61-800E-5B602B408F8E}"/>
              </a:ext>
            </a:extLst>
          </p:cNvPr>
          <p:cNvSpPr>
            <a:spLocks noGrp="1"/>
          </p:cNvSpPr>
          <p:nvPr>
            <p:ph type="title"/>
          </p:nvPr>
        </p:nvSpPr>
        <p:spPr/>
        <p:txBody>
          <a:bodyPr/>
          <a:lstStyle/>
          <a:p>
            <a:r>
              <a:rPr lang="en-US" dirty="0"/>
              <a:t>Keep Max Only</a:t>
            </a:r>
          </a:p>
        </p:txBody>
      </p:sp>
      <p:pic>
        <p:nvPicPr>
          <p:cNvPr id="7" name="Picture 6">
            <a:extLst>
              <a:ext uri="{FF2B5EF4-FFF2-40B4-BE49-F238E27FC236}">
                <a16:creationId xmlns:a16="http://schemas.microsoft.com/office/drawing/2014/main" id="{A0DBA2A3-7620-ECCB-A48C-76CFA5459EF5}"/>
              </a:ext>
            </a:extLst>
          </p:cNvPr>
          <p:cNvPicPr>
            <a:picLocks noChangeAspect="1"/>
          </p:cNvPicPr>
          <p:nvPr/>
        </p:nvPicPr>
        <p:blipFill>
          <a:blip r:embed="rId3"/>
          <a:stretch>
            <a:fillRect/>
          </a:stretch>
        </p:blipFill>
        <p:spPr>
          <a:xfrm>
            <a:off x="6260953" y="1019674"/>
            <a:ext cx="5800020" cy="4121924"/>
          </a:xfrm>
          <a:prstGeom prst="rect">
            <a:avLst/>
          </a:prstGeom>
        </p:spPr>
      </p:pic>
      <p:sp>
        <p:nvSpPr>
          <p:cNvPr id="9" name="TextBox 8">
            <a:extLst>
              <a:ext uri="{FF2B5EF4-FFF2-40B4-BE49-F238E27FC236}">
                <a16:creationId xmlns:a16="http://schemas.microsoft.com/office/drawing/2014/main" id="{2592F466-EC0D-9C8C-9002-15EB97D71078}"/>
              </a:ext>
            </a:extLst>
          </p:cNvPr>
          <p:cNvSpPr txBox="1"/>
          <p:nvPr/>
        </p:nvSpPr>
        <p:spPr>
          <a:xfrm>
            <a:off x="800101" y="1773044"/>
            <a:ext cx="4791779" cy="4198522"/>
          </a:xfrm>
          <a:prstGeom prst="rect">
            <a:avLst/>
          </a:prstGeom>
          <a:noFill/>
        </p:spPr>
        <p:txBody>
          <a:bodyPr wrap="square" rtlCol="0">
            <a:spAutoFit/>
          </a:bodyPr>
          <a:lstStyle/>
          <a:p>
            <a:pPr algn="just">
              <a:lnSpc>
                <a:spcPct val="150000"/>
              </a:lnSpc>
            </a:pPr>
            <a:r>
              <a:rPr lang="en-US" dirty="0"/>
              <a:t>The keep-max only operation is a sequence of operations that retains the highest value in each column (</a:t>
            </a:r>
            <a:r>
              <a:rPr lang="en-US" dirty="0" err="1"/>
              <a:t>L_t</a:t>
            </a:r>
            <a:r>
              <a:rPr lang="en-US" dirty="0"/>
              <a:t> axis).</a:t>
            </a:r>
          </a:p>
          <a:p>
            <a:pPr algn="just">
              <a:lnSpc>
                <a:spcPct val="150000"/>
              </a:lnSpc>
            </a:pPr>
            <a:r>
              <a:rPr lang="en-US" i="1" dirty="0"/>
              <a:t>Intuitively:</a:t>
            </a:r>
          </a:p>
          <a:p>
            <a:pPr marL="285750" indent="-285750" algn="just">
              <a:lnSpc>
                <a:spcPct val="150000"/>
              </a:lnSpc>
              <a:buFont typeface="Symbol" pitchFamily="2" charset="2"/>
              <a:buChar char="Þ"/>
            </a:pPr>
            <a:r>
              <a:rPr lang="en-US" dirty="0"/>
              <a:t>Keep the highest similarity of the target features in each context image patch.</a:t>
            </a:r>
          </a:p>
          <a:p>
            <a:pPr marL="285750" indent="-285750" algn="just">
              <a:lnSpc>
                <a:spcPct val="150000"/>
              </a:lnSpc>
              <a:buFont typeface="Symbol" pitchFamily="2" charset="2"/>
              <a:buChar char="Þ"/>
            </a:pPr>
            <a:endParaRPr lang="en-US" dirty="0"/>
          </a:p>
          <a:p>
            <a:pPr algn="just">
              <a:lnSpc>
                <a:spcPct val="150000"/>
              </a:lnSpc>
            </a:pPr>
            <a:r>
              <a:rPr lang="en-US" dirty="0"/>
              <a:t>Each image patch is a segment of a picture that behaves similarly to a singular embedding token in natural language processing.</a:t>
            </a:r>
          </a:p>
        </p:txBody>
      </p:sp>
      <p:sp>
        <p:nvSpPr>
          <p:cNvPr id="11" name="TextBox 10">
            <a:extLst>
              <a:ext uri="{FF2B5EF4-FFF2-40B4-BE49-F238E27FC236}">
                <a16:creationId xmlns:a16="http://schemas.microsoft.com/office/drawing/2014/main" id="{34508BC5-097B-27BA-AD44-2AE0FA3C773F}"/>
              </a:ext>
            </a:extLst>
          </p:cNvPr>
          <p:cNvSpPr txBox="1"/>
          <p:nvPr/>
        </p:nvSpPr>
        <p:spPr>
          <a:xfrm>
            <a:off x="8225928" y="4956932"/>
            <a:ext cx="2443298" cy="369332"/>
          </a:xfrm>
          <a:prstGeom prst="rect">
            <a:avLst/>
          </a:prstGeom>
          <a:noFill/>
        </p:spPr>
        <p:txBody>
          <a:bodyPr wrap="none" rtlCol="0">
            <a:spAutoFit/>
          </a:bodyPr>
          <a:lstStyle/>
          <a:p>
            <a:r>
              <a:rPr lang="en-US" dirty="0"/>
              <a:t>Cross-attention output</a:t>
            </a:r>
          </a:p>
        </p:txBody>
      </p:sp>
    </p:spTree>
    <p:extLst>
      <p:ext uri="{BB962C8B-B14F-4D97-AF65-F5344CB8AC3E}">
        <p14:creationId xmlns:p14="http://schemas.microsoft.com/office/powerpoint/2010/main" val="3279127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FEFD-957E-33E1-22B2-C1779A6E39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33F9E4-CCB8-30FD-9B33-E67FA0FEC694}"/>
              </a:ext>
            </a:extLst>
          </p:cNvPr>
          <p:cNvSpPr>
            <a:spLocks noGrp="1"/>
          </p:cNvSpPr>
          <p:nvPr>
            <p:ph type="title"/>
          </p:nvPr>
        </p:nvSpPr>
        <p:spPr/>
        <p:txBody>
          <a:bodyPr/>
          <a:lstStyle/>
          <a:p>
            <a:r>
              <a:rPr lang="en-US" dirty="0"/>
              <a:t>Keep Max Only</a:t>
            </a:r>
          </a:p>
        </p:txBody>
      </p:sp>
      <p:pic>
        <p:nvPicPr>
          <p:cNvPr id="7" name="Picture 6">
            <a:extLst>
              <a:ext uri="{FF2B5EF4-FFF2-40B4-BE49-F238E27FC236}">
                <a16:creationId xmlns:a16="http://schemas.microsoft.com/office/drawing/2014/main" id="{52341F4E-FC07-C840-5C01-752850E8E411}"/>
              </a:ext>
            </a:extLst>
          </p:cNvPr>
          <p:cNvPicPr>
            <a:picLocks noChangeAspect="1"/>
          </p:cNvPicPr>
          <p:nvPr/>
        </p:nvPicPr>
        <p:blipFill>
          <a:blip r:embed="rId3"/>
          <a:stretch>
            <a:fillRect/>
          </a:stretch>
        </p:blipFill>
        <p:spPr>
          <a:xfrm>
            <a:off x="406563" y="1711050"/>
            <a:ext cx="5800020" cy="4121924"/>
          </a:xfrm>
          <a:prstGeom prst="rect">
            <a:avLst/>
          </a:prstGeom>
        </p:spPr>
      </p:pic>
      <p:pic>
        <p:nvPicPr>
          <p:cNvPr id="2" name="Graphic 2">
            <a:extLst>
              <a:ext uri="{FF2B5EF4-FFF2-40B4-BE49-F238E27FC236}">
                <a16:creationId xmlns:a16="http://schemas.microsoft.com/office/drawing/2014/main" id="{A9042F74-5E2A-54C1-BC63-FBBBED604B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32629" y="780927"/>
            <a:ext cx="2015412" cy="5296145"/>
          </a:xfrm>
          <a:prstGeom prst="rect">
            <a:avLst/>
          </a:prstGeom>
        </p:spPr>
      </p:pic>
      <p:cxnSp>
        <p:nvCxnSpPr>
          <p:cNvPr id="5" name="Straight Arrow Connector 4">
            <a:extLst>
              <a:ext uri="{FF2B5EF4-FFF2-40B4-BE49-F238E27FC236}">
                <a16:creationId xmlns:a16="http://schemas.microsoft.com/office/drawing/2014/main" id="{1CC886C4-8026-F835-9078-21DADEB4C2C0}"/>
              </a:ext>
            </a:extLst>
          </p:cNvPr>
          <p:cNvCxnSpPr/>
          <p:nvPr/>
        </p:nvCxnSpPr>
        <p:spPr>
          <a:xfrm>
            <a:off x="6590371" y="3772012"/>
            <a:ext cx="19291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EA1B0C8-B552-822E-E591-38282FA026F3}"/>
              </a:ext>
            </a:extLst>
          </p:cNvPr>
          <p:cNvSpPr txBox="1"/>
          <p:nvPr/>
        </p:nvSpPr>
        <p:spPr>
          <a:xfrm>
            <a:off x="2237723" y="5707740"/>
            <a:ext cx="2443298" cy="369332"/>
          </a:xfrm>
          <a:prstGeom prst="rect">
            <a:avLst/>
          </a:prstGeom>
          <a:noFill/>
        </p:spPr>
        <p:txBody>
          <a:bodyPr wrap="none" rtlCol="0">
            <a:spAutoFit/>
          </a:bodyPr>
          <a:lstStyle/>
          <a:p>
            <a:r>
              <a:rPr lang="en-US" dirty="0"/>
              <a:t>Cross-attention output</a:t>
            </a:r>
          </a:p>
        </p:txBody>
      </p:sp>
      <p:sp>
        <p:nvSpPr>
          <p:cNvPr id="10" name="TextBox 9">
            <a:extLst>
              <a:ext uri="{FF2B5EF4-FFF2-40B4-BE49-F238E27FC236}">
                <a16:creationId xmlns:a16="http://schemas.microsoft.com/office/drawing/2014/main" id="{1D599DA2-39C2-BB3C-E2DB-88FFDD1F522A}"/>
              </a:ext>
            </a:extLst>
          </p:cNvPr>
          <p:cNvSpPr txBox="1"/>
          <p:nvPr/>
        </p:nvSpPr>
        <p:spPr>
          <a:xfrm>
            <a:off x="8732629" y="5648308"/>
            <a:ext cx="1854418" cy="369332"/>
          </a:xfrm>
          <a:prstGeom prst="rect">
            <a:avLst/>
          </a:prstGeom>
          <a:noFill/>
        </p:spPr>
        <p:txBody>
          <a:bodyPr wrap="none" rtlCol="0">
            <a:spAutoFit/>
          </a:bodyPr>
          <a:lstStyle/>
          <a:p>
            <a:r>
              <a:rPr lang="en-US" dirty="0"/>
              <a:t>Query Relevance</a:t>
            </a:r>
          </a:p>
        </p:txBody>
      </p:sp>
    </p:spTree>
    <p:extLst>
      <p:ext uri="{BB962C8B-B14F-4D97-AF65-F5344CB8AC3E}">
        <p14:creationId xmlns:p14="http://schemas.microsoft.com/office/powerpoint/2010/main" val="639644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F6C9E-ED11-B93E-0898-EF5E21BCC1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68C33A-BEEF-0714-A562-B30EA18218C1}"/>
              </a:ext>
            </a:extLst>
          </p:cNvPr>
          <p:cNvSpPr>
            <a:spLocks noGrp="1"/>
          </p:cNvSpPr>
          <p:nvPr>
            <p:ph type="title"/>
          </p:nvPr>
        </p:nvSpPr>
        <p:spPr/>
        <p:txBody>
          <a:bodyPr/>
          <a:lstStyle/>
          <a:p>
            <a:r>
              <a:rPr lang="en-US" dirty="0"/>
              <a:t>Local Modulation operation</a:t>
            </a:r>
          </a:p>
        </p:txBody>
      </p:sp>
      <p:pic>
        <p:nvPicPr>
          <p:cNvPr id="4" name="Graphic 1">
            <a:extLst>
              <a:ext uri="{FF2B5EF4-FFF2-40B4-BE49-F238E27FC236}">
                <a16:creationId xmlns:a16="http://schemas.microsoft.com/office/drawing/2014/main" id="{FA31A772-0BC1-5E62-E35A-F17DCF9A8F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88830" y="914400"/>
            <a:ext cx="2502535" cy="5045075"/>
          </a:xfrm>
          <a:prstGeom prst="rect">
            <a:avLst/>
          </a:prstGeom>
        </p:spPr>
      </p:pic>
      <p:pic>
        <p:nvPicPr>
          <p:cNvPr id="6" name="Graphic 2">
            <a:extLst>
              <a:ext uri="{FF2B5EF4-FFF2-40B4-BE49-F238E27FC236}">
                <a16:creationId xmlns:a16="http://schemas.microsoft.com/office/drawing/2014/main" id="{186DA560-3218-3FEA-8404-E9A3013A0E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7721" y="1568196"/>
            <a:ext cx="1671109" cy="4391378"/>
          </a:xfrm>
          <a:prstGeom prst="rect">
            <a:avLst/>
          </a:prstGeom>
        </p:spPr>
      </p:pic>
      <p:sp>
        <p:nvSpPr>
          <p:cNvPr id="8" name="TextBox 7">
            <a:extLst>
              <a:ext uri="{FF2B5EF4-FFF2-40B4-BE49-F238E27FC236}">
                <a16:creationId xmlns:a16="http://schemas.microsoft.com/office/drawing/2014/main" id="{57A738A2-F46B-9A21-986A-0F7F40E31A4B}"/>
              </a:ext>
            </a:extLst>
          </p:cNvPr>
          <p:cNvSpPr txBox="1"/>
          <p:nvPr/>
        </p:nvSpPr>
        <p:spPr>
          <a:xfrm>
            <a:off x="7134412" y="5752688"/>
            <a:ext cx="1854418" cy="369332"/>
          </a:xfrm>
          <a:prstGeom prst="rect">
            <a:avLst/>
          </a:prstGeom>
          <a:noFill/>
        </p:spPr>
        <p:txBody>
          <a:bodyPr wrap="none" rtlCol="0">
            <a:spAutoFit/>
          </a:bodyPr>
          <a:lstStyle/>
          <a:p>
            <a:r>
              <a:rPr lang="en-US" dirty="0"/>
              <a:t>Query Relevance</a:t>
            </a:r>
          </a:p>
        </p:txBody>
      </p:sp>
      <p:sp>
        <p:nvSpPr>
          <p:cNvPr id="9" name="TextBox 8">
            <a:extLst>
              <a:ext uri="{FF2B5EF4-FFF2-40B4-BE49-F238E27FC236}">
                <a16:creationId xmlns:a16="http://schemas.microsoft.com/office/drawing/2014/main" id="{2DA07E8D-8CFC-EC5F-5544-5799254D6838}"/>
              </a:ext>
            </a:extLst>
          </p:cNvPr>
          <p:cNvSpPr txBox="1"/>
          <p:nvPr/>
        </p:nvSpPr>
        <p:spPr>
          <a:xfrm>
            <a:off x="9404543" y="5758934"/>
            <a:ext cx="1962397" cy="369332"/>
          </a:xfrm>
          <a:prstGeom prst="rect">
            <a:avLst/>
          </a:prstGeom>
          <a:noFill/>
        </p:spPr>
        <p:txBody>
          <a:bodyPr wrap="none" rtlCol="0">
            <a:spAutoFit/>
          </a:bodyPr>
          <a:lstStyle/>
          <a:p>
            <a:r>
              <a:rPr lang="en-US" dirty="0"/>
              <a:t>Local Modulation</a:t>
            </a:r>
          </a:p>
        </p:txBody>
      </p:sp>
      <p:sp>
        <p:nvSpPr>
          <p:cNvPr id="10" name="TextBox 9">
            <a:extLst>
              <a:ext uri="{FF2B5EF4-FFF2-40B4-BE49-F238E27FC236}">
                <a16:creationId xmlns:a16="http://schemas.microsoft.com/office/drawing/2014/main" id="{810723D4-FB0C-954E-6E31-1D65DFCC47DA}"/>
              </a:ext>
            </a:extLst>
          </p:cNvPr>
          <p:cNvSpPr txBox="1"/>
          <p:nvPr/>
        </p:nvSpPr>
        <p:spPr>
          <a:xfrm>
            <a:off x="781687" y="1728439"/>
            <a:ext cx="5937012" cy="4202432"/>
          </a:xfrm>
          <a:prstGeom prst="rect">
            <a:avLst/>
          </a:prstGeom>
          <a:noFill/>
        </p:spPr>
        <p:txBody>
          <a:bodyPr wrap="square" rtlCol="0">
            <a:spAutoFit/>
          </a:bodyPr>
          <a:lstStyle/>
          <a:p>
            <a:pPr algn="just">
              <a:lnSpc>
                <a:spcPct val="150000"/>
              </a:lnSpc>
            </a:pPr>
            <a:r>
              <a:rPr lang="en-US" dirty="0"/>
              <a:t>The local modulation is just a broadcasting element-wise multiplication along the Query axis on the self-attention output of the context attention.</a:t>
            </a:r>
          </a:p>
          <a:p>
            <a:pPr algn="just">
              <a:lnSpc>
                <a:spcPct val="150000"/>
              </a:lnSpc>
            </a:pPr>
            <a:r>
              <a:rPr lang="en-US" dirty="0"/>
              <a:t>The resulting tensor is a locally modulated attention map, which will be multiplied with the context Value tensor to generate the output for the next encoder block.</a:t>
            </a:r>
          </a:p>
          <a:p>
            <a:pPr algn="just">
              <a:lnSpc>
                <a:spcPct val="150000"/>
              </a:lnSpc>
            </a:pPr>
            <a:endParaRPr lang="en-US" dirty="0"/>
          </a:p>
          <a:p>
            <a:pPr algn="just">
              <a:lnSpc>
                <a:spcPct val="150000"/>
              </a:lnSpc>
            </a:pPr>
            <a:r>
              <a:rPr lang="en-US" i="1" dirty="0"/>
              <a:t>Note: </a:t>
            </a:r>
            <a:r>
              <a:rPr lang="en-US" dirty="0"/>
              <a:t>This operation will only be applied to the user-defined </a:t>
            </a:r>
            <a:r>
              <a:rPr lang="en-US" dirty="0" err="1"/>
              <a:t>last_n_layers</a:t>
            </a:r>
            <a:r>
              <a:rPr lang="en-US" dirty="0"/>
              <a:t> of the </a:t>
            </a:r>
            <a:r>
              <a:rPr lang="en-US" dirty="0" err="1"/>
              <a:t>ViT</a:t>
            </a:r>
            <a:r>
              <a:rPr lang="en-US" dirty="0"/>
              <a:t> encoder block; it is not applied to all the encoder blocks in the </a:t>
            </a:r>
            <a:r>
              <a:rPr lang="en-US" dirty="0" err="1"/>
              <a:t>ViT</a:t>
            </a:r>
            <a:r>
              <a:rPr lang="en-US" dirty="0"/>
              <a:t>.</a:t>
            </a:r>
          </a:p>
        </p:txBody>
      </p:sp>
    </p:spTree>
    <p:extLst>
      <p:ext uri="{BB962C8B-B14F-4D97-AF65-F5344CB8AC3E}">
        <p14:creationId xmlns:p14="http://schemas.microsoft.com/office/powerpoint/2010/main" val="1578064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F65D0-418D-F40F-6529-A842B2ECACC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57E452-FBAB-9226-6E63-78A5CF72B4A3}"/>
              </a:ext>
            </a:extLst>
          </p:cNvPr>
          <p:cNvSpPr>
            <a:spLocks noGrp="1"/>
          </p:cNvSpPr>
          <p:nvPr>
            <p:ph type="title"/>
          </p:nvPr>
        </p:nvSpPr>
        <p:spPr/>
        <p:txBody>
          <a:bodyPr/>
          <a:lstStyle/>
          <a:p>
            <a:r>
              <a:rPr lang="en-US" dirty="0"/>
              <a:t>original </a:t>
            </a:r>
            <a:r>
              <a:rPr lang="en-US" dirty="0" err="1"/>
              <a:t>CRTNet</a:t>
            </a:r>
            <a:r>
              <a:rPr lang="en-US" dirty="0"/>
              <a:t> architecture</a:t>
            </a:r>
          </a:p>
        </p:txBody>
      </p:sp>
      <p:pic>
        <p:nvPicPr>
          <p:cNvPr id="7" name="Picture 6" descr="A diagram of a machine&#10;&#10;AI-generated content may be incorrect.">
            <a:extLst>
              <a:ext uri="{FF2B5EF4-FFF2-40B4-BE49-F238E27FC236}">
                <a16:creationId xmlns:a16="http://schemas.microsoft.com/office/drawing/2014/main" id="{722012E9-C421-7DF0-B542-75394D930695}"/>
              </a:ext>
            </a:extLst>
          </p:cNvPr>
          <p:cNvPicPr>
            <a:picLocks noChangeAspect="1"/>
          </p:cNvPicPr>
          <p:nvPr/>
        </p:nvPicPr>
        <p:blipFill>
          <a:blip r:embed="rId3"/>
          <a:stretch>
            <a:fillRect/>
          </a:stretch>
        </p:blipFill>
        <p:spPr>
          <a:xfrm>
            <a:off x="1838325" y="1867774"/>
            <a:ext cx="8515351" cy="3709668"/>
          </a:xfrm>
          <a:prstGeom prst="rect">
            <a:avLst/>
          </a:prstGeom>
        </p:spPr>
      </p:pic>
      <p:sp>
        <p:nvSpPr>
          <p:cNvPr id="12" name="TextBox 11">
            <a:extLst>
              <a:ext uri="{FF2B5EF4-FFF2-40B4-BE49-F238E27FC236}">
                <a16:creationId xmlns:a16="http://schemas.microsoft.com/office/drawing/2014/main" id="{F8EDB664-6C90-26BC-E344-13AC99A46381}"/>
              </a:ext>
            </a:extLst>
          </p:cNvPr>
          <p:cNvSpPr txBox="1"/>
          <p:nvPr/>
        </p:nvSpPr>
        <p:spPr>
          <a:xfrm>
            <a:off x="4255771" y="5577442"/>
            <a:ext cx="6097904" cy="369332"/>
          </a:xfrm>
          <a:prstGeom prst="rect">
            <a:avLst/>
          </a:prstGeom>
          <a:noFill/>
        </p:spPr>
        <p:txBody>
          <a:bodyPr wrap="square">
            <a:spAutoFit/>
          </a:bodyPr>
          <a:lstStyle/>
          <a:p>
            <a:r>
              <a:rPr lang="en-SG" sz="1800" dirty="0" err="1">
                <a:effectLst/>
                <a:latin typeface="Times New Roman" panose="02020603050405020304" pitchFamily="18" charset="0"/>
                <a:ea typeface="Aptos" panose="020B0004020202020204" pitchFamily="34" charset="0"/>
                <a:cs typeface="Times New Roman (Body CS)"/>
              </a:rPr>
              <a:t>CRTNet</a:t>
            </a:r>
            <a:r>
              <a:rPr lang="en-SG" sz="1800" dirty="0">
                <a:effectLst/>
                <a:latin typeface="Times New Roman" panose="02020603050405020304" pitchFamily="18" charset="0"/>
                <a:ea typeface="Aptos" panose="020B0004020202020204" pitchFamily="34" charset="0"/>
                <a:cs typeface="Times New Roman (Body CS)"/>
              </a:rPr>
              <a:t> Architecture (</a:t>
            </a:r>
            <a:r>
              <a:rPr lang="en-SG" sz="1800" dirty="0" err="1">
                <a:effectLst/>
                <a:latin typeface="Times New Roman" panose="02020603050405020304" pitchFamily="18" charset="0"/>
                <a:ea typeface="Aptos" panose="020B0004020202020204" pitchFamily="34" charset="0"/>
                <a:cs typeface="Times New Roman (Body CS)"/>
              </a:rPr>
              <a:t>Bomatter</a:t>
            </a:r>
            <a:r>
              <a:rPr lang="en-SG" sz="1800" dirty="0">
                <a:effectLst/>
                <a:latin typeface="Times New Roman" panose="02020603050405020304" pitchFamily="18" charset="0"/>
                <a:ea typeface="Aptos" panose="020B0004020202020204" pitchFamily="34" charset="0"/>
                <a:cs typeface="Times New Roman (Body CS)"/>
              </a:rPr>
              <a:t> et al., 2021)</a:t>
            </a:r>
            <a:r>
              <a:rPr lang="en-SG" dirty="0">
                <a:effectLst/>
              </a:rPr>
              <a:t> </a:t>
            </a:r>
            <a:endParaRPr lang="en-US" dirty="0"/>
          </a:p>
        </p:txBody>
      </p:sp>
      <p:sp>
        <p:nvSpPr>
          <p:cNvPr id="13" name="TextBox 12">
            <a:extLst>
              <a:ext uri="{FF2B5EF4-FFF2-40B4-BE49-F238E27FC236}">
                <a16:creationId xmlns:a16="http://schemas.microsoft.com/office/drawing/2014/main" id="{FD0F7871-2B7E-7F8A-DA95-BAC41E065435}"/>
              </a:ext>
            </a:extLst>
          </p:cNvPr>
          <p:cNvSpPr txBox="1"/>
          <p:nvPr/>
        </p:nvSpPr>
        <p:spPr>
          <a:xfrm>
            <a:off x="1446034" y="2037326"/>
            <a:ext cx="2925801" cy="369332"/>
          </a:xfrm>
          <a:prstGeom prst="rect">
            <a:avLst/>
          </a:prstGeom>
          <a:noFill/>
        </p:spPr>
        <p:txBody>
          <a:bodyPr wrap="none" rtlCol="0">
            <a:spAutoFit/>
          </a:bodyPr>
          <a:lstStyle/>
          <a:p>
            <a:r>
              <a:rPr lang="en-US" dirty="0" err="1"/>
              <a:t>DenseNet</a:t>
            </a:r>
            <a:r>
              <a:rPr lang="en-US" dirty="0"/>
              <a:t> (Gao et al., 2018)</a:t>
            </a:r>
          </a:p>
        </p:txBody>
      </p:sp>
      <p:cxnSp>
        <p:nvCxnSpPr>
          <p:cNvPr id="15" name="Straight Arrow Connector 14">
            <a:extLst>
              <a:ext uri="{FF2B5EF4-FFF2-40B4-BE49-F238E27FC236}">
                <a16:creationId xmlns:a16="http://schemas.microsoft.com/office/drawing/2014/main" id="{BE21BDC4-8856-244C-B6BB-A150300A4C03}"/>
              </a:ext>
            </a:extLst>
          </p:cNvPr>
          <p:cNvCxnSpPr/>
          <p:nvPr/>
        </p:nvCxnSpPr>
        <p:spPr>
          <a:xfrm>
            <a:off x="2754630" y="2468880"/>
            <a:ext cx="308610" cy="4800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2036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36066-EEB3-963E-7435-7521CEA7BF7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52B15A5-A3E5-78F6-B07A-264379DE61A0}"/>
              </a:ext>
            </a:extLst>
          </p:cNvPr>
          <p:cNvSpPr>
            <a:spLocks noGrp="1"/>
          </p:cNvSpPr>
          <p:nvPr>
            <p:ph type="title"/>
          </p:nvPr>
        </p:nvSpPr>
        <p:spPr/>
        <p:txBody>
          <a:bodyPr/>
          <a:lstStyle/>
          <a:p>
            <a:r>
              <a:rPr lang="en-US" dirty="0"/>
              <a:t>Modified </a:t>
            </a:r>
            <a:r>
              <a:rPr lang="en-US" dirty="0" err="1"/>
              <a:t>CRTNet</a:t>
            </a:r>
            <a:r>
              <a:rPr lang="en-US" dirty="0"/>
              <a:t> architecture</a:t>
            </a:r>
          </a:p>
        </p:txBody>
      </p:sp>
      <p:pic>
        <p:nvPicPr>
          <p:cNvPr id="7" name="Picture 6">
            <a:extLst>
              <a:ext uri="{FF2B5EF4-FFF2-40B4-BE49-F238E27FC236}">
                <a16:creationId xmlns:a16="http://schemas.microsoft.com/office/drawing/2014/main" id="{16532CED-16C2-3703-7565-A73455E7FC7C}"/>
              </a:ext>
            </a:extLst>
          </p:cNvPr>
          <p:cNvPicPr>
            <a:picLocks noChangeAspect="1"/>
          </p:cNvPicPr>
          <p:nvPr/>
        </p:nvPicPr>
        <p:blipFill>
          <a:blip r:embed="rId3"/>
          <a:srcRect/>
          <a:stretch/>
        </p:blipFill>
        <p:spPr>
          <a:xfrm>
            <a:off x="1840046" y="1867774"/>
            <a:ext cx="8511909" cy="3709668"/>
          </a:xfrm>
          <a:prstGeom prst="rect">
            <a:avLst/>
          </a:prstGeom>
        </p:spPr>
      </p:pic>
      <p:sp>
        <p:nvSpPr>
          <p:cNvPr id="12" name="TextBox 11">
            <a:extLst>
              <a:ext uri="{FF2B5EF4-FFF2-40B4-BE49-F238E27FC236}">
                <a16:creationId xmlns:a16="http://schemas.microsoft.com/office/drawing/2014/main" id="{02B4C857-8E15-C46C-A094-B1756866B7E2}"/>
              </a:ext>
            </a:extLst>
          </p:cNvPr>
          <p:cNvSpPr txBox="1"/>
          <p:nvPr/>
        </p:nvSpPr>
        <p:spPr>
          <a:xfrm>
            <a:off x="4255771" y="5577442"/>
            <a:ext cx="6097904" cy="369332"/>
          </a:xfrm>
          <a:prstGeom prst="rect">
            <a:avLst/>
          </a:prstGeom>
          <a:noFill/>
        </p:spPr>
        <p:txBody>
          <a:bodyPr wrap="square">
            <a:spAutoFit/>
          </a:bodyPr>
          <a:lstStyle/>
          <a:p>
            <a:r>
              <a:rPr lang="en-SG" sz="1800" dirty="0" err="1">
                <a:effectLst/>
                <a:latin typeface="Times New Roman" panose="02020603050405020304" pitchFamily="18" charset="0"/>
                <a:ea typeface="Aptos" panose="020B0004020202020204" pitchFamily="34" charset="0"/>
                <a:cs typeface="Times New Roman (Body CS)"/>
              </a:rPr>
              <a:t>CRTNet</a:t>
            </a:r>
            <a:r>
              <a:rPr lang="en-SG" sz="1800" dirty="0">
                <a:effectLst/>
                <a:latin typeface="Times New Roman" panose="02020603050405020304" pitchFamily="18" charset="0"/>
                <a:ea typeface="Aptos" panose="020B0004020202020204" pitchFamily="34" charset="0"/>
                <a:cs typeface="Times New Roman (Body CS)"/>
              </a:rPr>
              <a:t> Architecture (</a:t>
            </a:r>
            <a:r>
              <a:rPr lang="en-SG" sz="1800" dirty="0" err="1">
                <a:effectLst/>
                <a:latin typeface="Times New Roman" panose="02020603050405020304" pitchFamily="18" charset="0"/>
                <a:ea typeface="Aptos" panose="020B0004020202020204" pitchFamily="34" charset="0"/>
                <a:cs typeface="Times New Roman (Body CS)"/>
              </a:rPr>
              <a:t>Bomatter</a:t>
            </a:r>
            <a:r>
              <a:rPr lang="en-SG" sz="1800" dirty="0">
                <a:effectLst/>
                <a:latin typeface="Times New Roman" panose="02020603050405020304" pitchFamily="18" charset="0"/>
                <a:ea typeface="Aptos" panose="020B0004020202020204" pitchFamily="34" charset="0"/>
                <a:cs typeface="Times New Roman (Body CS)"/>
              </a:rPr>
              <a:t> et al., 2021)</a:t>
            </a:r>
            <a:r>
              <a:rPr lang="en-SG" dirty="0">
                <a:effectLst/>
              </a:rPr>
              <a:t> </a:t>
            </a:r>
            <a:endParaRPr lang="en-US" dirty="0"/>
          </a:p>
        </p:txBody>
      </p:sp>
      <p:sp>
        <p:nvSpPr>
          <p:cNvPr id="13" name="TextBox 12">
            <a:extLst>
              <a:ext uri="{FF2B5EF4-FFF2-40B4-BE49-F238E27FC236}">
                <a16:creationId xmlns:a16="http://schemas.microsoft.com/office/drawing/2014/main" id="{AF43DD1E-85D5-0737-2972-3B5437251632}"/>
              </a:ext>
            </a:extLst>
          </p:cNvPr>
          <p:cNvSpPr txBox="1"/>
          <p:nvPr/>
        </p:nvSpPr>
        <p:spPr>
          <a:xfrm>
            <a:off x="1446034" y="2037326"/>
            <a:ext cx="2925801" cy="369332"/>
          </a:xfrm>
          <a:prstGeom prst="rect">
            <a:avLst/>
          </a:prstGeom>
          <a:noFill/>
        </p:spPr>
        <p:txBody>
          <a:bodyPr wrap="none" rtlCol="0">
            <a:spAutoFit/>
          </a:bodyPr>
          <a:lstStyle/>
          <a:p>
            <a:r>
              <a:rPr lang="en-US" dirty="0" err="1"/>
              <a:t>DenseNet</a:t>
            </a:r>
            <a:r>
              <a:rPr lang="en-US" dirty="0"/>
              <a:t> (Gao et al., 2018)</a:t>
            </a:r>
          </a:p>
        </p:txBody>
      </p:sp>
      <p:cxnSp>
        <p:nvCxnSpPr>
          <p:cNvPr id="15" name="Straight Arrow Connector 14">
            <a:extLst>
              <a:ext uri="{FF2B5EF4-FFF2-40B4-BE49-F238E27FC236}">
                <a16:creationId xmlns:a16="http://schemas.microsoft.com/office/drawing/2014/main" id="{0246A1D2-45FF-D3FF-1A7A-5D685C9DE6AF}"/>
              </a:ext>
            </a:extLst>
          </p:cNvPr>
          <p:cNvCxnSpPr/>
          <p:nvPr/>
        </p:nvCxnSpPr>
        <p:spPr>
          <a:xfrm>
            <a:off x="2754630" y="2468880"/>
            <a:ext cx="308610" cy="4800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26070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70FEF2-889B-44F8-9FBD-FA080BA803C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1EAA8569-123A-20A2-CBB4-1F935E05DD18}"/>
              </a:ext>
            </a:extLst>
          </p:cNvPr>
          <p:cNvSpPr>
            <a:spLocks noGrp="1"/>
          </p:cNvSpPr>
          <p:nvPr>
            <p:ph type="title"/>
          </p:nvPr>
        </p:nvSpPr>
        <p:spPr>
          <a:xfrm>
            <a:off x="704088" y="914400"/>
            <a:ext cx="3799763" cy="1473200"/>
          </a:xfrm>
        </p:spPr>
        <p:txBody>
          <a:bodyPr vert="horz" lIns="91440" tIns="45720" rIns="91440" bIns="45720" rtlCol="0" anchor="t">
            <a:normAutofit/>
          </a:bodyPr>
          <a:lstStyle/>
          <a:p>
            <a:r>
              <a:rPr lang="en-US" sz="3600"/>
              <a:t>Modified CRTNet architecture</a:t>
            </a:r>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5DC78E-BEEE-69F9-0D9C-E76E950F923E}"/>
              </a:ext>
            </a:extLst>
          </p:cNvPr>
          <p:cNvSpPr txBox="1"/>
          <p:nvPr/>
        </p:nvSpPr>
        <p:spPr>
          <a:xfrm>
            <a:off x="433349" y="2154168"/>
            <a:ext cx="4750253" cy="4476497"/>
          </a:xfrm>
          <a:prstGeom prst="rect">
            <a:avLst/>
          </a:prstGeom>
        </p:spPr>
        <p:txBody>
          <a:bodyPr vert="horz" lIns="91440" tIns="45720" rIns="91440" bIns="45720" rtlCol="0">
            <a:normAutofit fontScale="70000" lnSpcReduction="20000"/>
          </a:bodyPr>
          <a:lstStyle/>
          <a:p>
            <a:pPr>
              <a:lnSpc>
                <a:spcPct val="170000"/>
              </a:lnSpc>
              <a:spcAft>
                <a:spcPts val="600"/>
              </a:spcAft>
            </a:pPr>
            <a:r>
              <a:rPr lang="en-US" dirty="0"/>
              <a:t>However, there is one vital issue:</a:t>
            </a:r>
          </a:p>
          <a:p>
            <a:pPr algn="just">
              <a:lnSpc>
                <a:spcPct val="170000"/>
              </a:lnSpc>
              <a:spcAft>
                <a:spcPts val="600"/>
              </a:spcAft>
            </a:pPr>
            <a:r>
              <a:rPr lang="en-US" dirty="0"/>
              <a:t>The Positional Encoding in the Transformer takes a bounding box (</a:t>
            </a:r>
            <a:r>
              <a:rPr lang="en-US" dirty="0" err="1"/>
              <a:t>bbox</a:t>
            </a:r>
            <a:r>
              <a:rPr lang="en-US" dirty="0"/>
              <a:t>) as an input.</a:t>
            </a:r>
          </a:p>
          <a:p>
            <a:pPr algn="just">
              <a:lnSpc>
                <a:spcPct val="170000"/>
              </a:lnSpc>
              <a:spcAft>
                <a:spcPts val="600"/>
              </a:spcAft>
            </a:pPr>
            <a:endParaRPr lang="en-US" dirty="0"/>
          </a:p>
          <a:p>
            <a:pPr algn="just">
              <a:lnSpc>
                <a:spcPct val="170000"/>
              </a:lnSpc>
              <a:spcAft>
                <a:spcPts val="600"/>
              </a:spcAft>
            </a:pPr>
            <a:r>
              <a:rPr lang="en-US" dirty="0"/>
              <a:t>Why is it a fundamental issue?</a:t>
            </a:r>
          </a:p>
          <a:p>
            <a:pPr algn="just">
              <a:lnSpc>
                <a:spcPct val="170000"/>
              </a:lnSpc>
              <a:spcAft>
                <a:spcPts val="600"/>
              </a:spcAft>
            </a:pPr>
            <a:r>
              <a:rPr lang="en-US" dirty="0"/>
              <a:t>- The model is responsible for conducting a visual search task to locate the target. </a:t>
            </a:r>
          </a:p>
          <a:p>
            <a:pPr marL="285750" indent="-285750" algn="just">
              <a:lnSpc>
                <a:spcPct val="170000"/>
              </a:lnSpc>
              <a:spcAft>
                <a:spcPts val="600"/>
              </a:spcAft>
              <a:buFontTx/>
              <a:buChar char="-"/>
            </a:pPr>
            <a:r>
              <a:rPr lang="en-US" dirty="0"/>
              <a:t>By having the </a:t>
            </a:r>
            <a:r>
              <a:rPr lang="en-US" dirty="0" err="1"/>
              <a:t>bbox</a:t>
            </a:r>
            <a:r>
              <a:rPr lang="en-US" dirty="0"/>
              <a:t> coordinate in the first place, the model is no longer required to locate the target.</a:t>
            </a:r>
          </a:p>
          <a:p>
            <a:pPr algn="just">
              <a:lnSpc>
                <a:spcPct val="170000"/>
              </a:lnSpc>
              <a:spcAft>
                <a:spcPts val="600"/>
              </a:spcAft>
            </a:pPr>
            <a:r>
              <a:rPr lang="en-US" i="1" dirty="0"/>
              <a:t>Note:</a:t>
            </a:r>
          </a:p>
          <a:p>
            <a:pPr algn="just">
              <a:lnSpc>
                <a:spcPct val="170000"/>
              </a:lnSpc>
              <a:spcAft>
                <a:spcPts val="600"/>
              </a:spcAft>
            </a:pPr>
            <a:r>
              <a:rPr lang="en-US" dirty="0"/>
              <a:t>The original structure is perfectly fine if the model is required to conduct object identification (classification).</a:t>
            </a:r>
          </a:p>
          <a:p>
            <a:pPr algn="just">
              <a:lnSpc>
                <a:spcPct val="170000"/>
              </a:lnSpc>
              <a:spcAft>
                <a:spcPts val="600"/>
              </a:spcAft>
            </a:pPr>
            <a:endParaRPr lang="en-US" i="1" dirty="0"/>
          </a:p>
          <a:p>
            <a:pPr algn="just">
              <a:lnSpc>
                <a:spcPct val="170000"/>
              </a:lnSpc>
              <a:spcAft>
                <a:spcPts val="600"/>
              </a:spcAft>
            </a:pPr>
            <a:endParaRPr lang="en-US" dirty="0"/>
          </a:p>
        </p:txBody>
      </p:sp>
      <p:pic>
        <p:nvPicPr>
          <p:cNvPr id="4" name="Picture 3" descr="A computer code with many text&#10;&#10;AI-generated content may be incorrect.">
            <a:extLst>
              <a:ext uri="{FF2B5EF4-FFF2-40B4-BE49-F238E27FC236}">
                <a16:creationId xmlns:a16="http://schemas.microsoft.com/office/drawing/2014/main" id="{5B276613-27C3-460A-034D-C9BCD3A5F013}"/>
              </a:ext>
            </a:extLst>
          </p:cNvPr>
          <p:cNvPicPr>
            <a:picLocks noChangeAspect="1"/>
          </p:cNvPicPr>
          <p:nvPr/>
        </p:nvPicPr>
        <p:blipFill>
          <a:blip r:embed="rId3"/>
          <a:srcRect r="18207" b="-1"/>
          <a:stretch>
            <a:fillRect/>
          </a:stretch>
        </p:blipFill>
        <p:spPr>
          <a:xfrm>
            <a:off x="5100404" y="722376"/>
            <a:ext cx="6495042" cy="5419642"/>
          </a:xfrm>
          <a:prstGeom prst="rect">
            <a:avLst/>
          </a:prstGeom>
        </p:spPr>
      </p:pic>
      <p:sp>
        <p:nvSpPr>
          <p:cNvPr id="6" name="Rounded Rectangle 5">
            <a:extLst>
              <a:ext uri="{FF2B5EF4-FFF2-40B4-BE49-F238E27FC236}">
                <a16:creationId xmlns:a16="http://schemas.microsoft.com/office/drawing/2014/main" id="{68F823F5-8B3B-D185-A2CC-04838ADAC10E}"/>
              </a:ext>
            </a:extLst>
          </p:cNvPr>
          <p:cNvSpPr/>
          <p:nvPr/>
        </p:nvSpPr>
        <p:spPr>
          <a:xfrm>
            <a:off x="8886632" y="2310724"/>
            <a:ext cx="909941" cy="175017"/>
          </a:xfrm>
          <a:prstGeom prst="roundRect">
            <a:avLst/>
          </a:prstGeom>
          <a:noFill/>
          <a:ln w="19050">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637832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489283-16B1-EF53-795E-E7721DF6E6DD}"/>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D59AE99-0307-5B36-6C16-028FCD9102A4}"/>
              </a:ext>
            </a:extLst>
          </p:cNvPr>
          <p:cNvSpPr>
            <a:spLocks noGrp="1"/>
          </p:cNvSpPr>
          <p:nvPr>
            <p:ph type="title"/>
          </p:nvPr>
        </p:nvSpPr>
        <p:spPr>
          <a:xfrm>
            <a:off x="685800" y="899024"/>
            <a:ext cx="3744686" cy="3914947"/>
          </a:xfrm>
        </p:spPr>
        <p:txBody>
          <a:bodyPr vert="horz" lIns="91440" tIns="45720" rIns="91440" bIns="45720" rtlCol="0" anchor="t">
            <a:normAutofit/>
          </a:bodyPr>
          <a:lstStyle/>
          <a:p>
            <a:r>
              <a:rPr lang="en-US" sz="3400" dirty="0"/>
              <a:t>Modified </a:t>
            </a:r>
            <a:r>
              <a:rPr lang="en-US" sz="3400" dirty="0" err="1"/>
              <a:t>CRTNet</a:t>
            </a:r>
            <a:r>
              <a:rPr lang="en-US" sz="3400" dirty="0"/>
              <a:t> architecture Naïve Solution</a:t>
            </a:r>
          </a:p>
        </p:txBody>
      </p:sp>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descr="A screenshot of a computer program&#10;&#10;AI-generated content may be incorrect.">
            <a:extLst>
              <a:ext uri="{FF2B5EF4-FFF2-40B4-BE49-F238E27FC236}">
                <a16:creationId xmlns:a16="http://schemas.microsoft.com/office/drawing/2014/main" id="{0F03830E-BFD6-5883-491B-8963C1E66D64}"/>
              </a:ext>
            </a:extLst>
          </p:cNvPr>
          <p:cNvPicPr>
            <a:picLocks noChangeAspect="1"/>
          </p:cNvPicPr>
          <p:nvPr/>
        </p:nvPicPr>
        <p:blipFill>
          <a:blip r:embed="rId3"/>
          <a:stretch>
            <a:fillRect/>
          </a:stretch>
        </p:blipFill>
        <p:spPr>
          <a:xfrm>
            <a:off x="4695282" y="723900"/>
            <a:ext cx="7353299" cy="3033235"/>
          </a:xfrm>
          <a:prstGeom prst="rect">
            <a:avLst/>
          </a:prstGeom>
        </p:spPr>
      </p:pic>
      <p:sp>
        <p:nvSpPr>
          <p:cNvPr id="7" name="TextBox 6">
            <a:extLst>
              <a:ext uri="{FF2B5EF4-FFF2-40B4-BE49-F238E27FC236}">
                <a16:creationId xmlns:a16="http://schemas.microsoft.com/office/drawing/2014/main" id="{001634F6-2BEA-E764-319B-0169296489E2}"/>
              </a:ext>
            </a:extLst>
          </p:cNvPr>
          <p:cNvSpPr txBox="1"/>
          <p:nvPr/>
        </p:nvSpPr>
        <p:spPr>
          <a:xfrm>
            <a:off x="685800" y="4503915"/>
            <a:ext cx="11146971" cy="2290334"/>
          </a:xfrm>
          <a:prstGeom prst="rect">
            <a:avLst/>
          </a:prstGeom>
        </p:spPr>
        <p:txBody>
          <a:bodyPr vert="horz" lIns="91440" tIns="45720" rIns="91440" bIns="45720" rtlCol="0">
            <a:normAutofit/>
          </a:bodyPr>
          <a:lstStyle/>
          <a:p>
            <a:pPr algn="just">
              <a:lnSpc>
                <a:spcPct val="170000"/>
              </a:lnSpc>
              <a:spcAft>
                <a:spcPts val="600"/>
              </a:spcAft>
            </a:pPr>
            <a:r>
              <a:rPr lang="en-US" dirty="0"/>
              <a:t>- We simply remove the </a:t>
            </a:r>
            <a:r>
              <a:rPr lang="en-US" dirty="0" err="1"/>
              <a:t>target_bbox</a:t>
            </a:r>
            <a:r>
              <a:rPr lang="en-US" dirty="0"/>
              <a:t> as the parameter, and we don’t need to modify the </a:t>
            </a:r>
            <a:r>
              <a:rPr lang="en-US" dirty="0" err="1"/>
              <a:t>target_encoding</a:t>
            </a:r>
            <a:r>
              <a:rPr lang="en-US" dirty="0"/>
              <a:t>.</a:t>
            </a:r>
          </a:p>
          <a:p>
            <a:pPr algn="just">
              <a:lnSpc>
                <a:spcPct val="170000"/>
              </a:lnSpc>
              <a:spcAft>
                <a:spcPts val="600"/>
              </a:spcAft>
            </a:pPr>
            <a:r>
              <a:rPr lang="en-US" dirty="0"/>
              <a:t>- We just need to modify the </a:t>
            </a:r>
            <a:r>
              <a:rPr lang="en-US" dirty="0" err="1"/>
              <a:t>context_encoding</a:t>
            </a:r>
            <a:r>
              <a:rPr lang="en-US" dirty="0"/>
              <a:t>.</a:t>
            </a:r>
          </a:p>
          <a:p>
            <a:pPr algn="just">
              <a:lnSpc>
                <a:spcPct val="170000"/>
              </a:lnSpc>
              <a:spcAft>
                <a:spcPts val="600"/>
              </a:spcAft>
            </a:pPr>
            <a:r>
              <a:rPr lang="en-US" dirty="0"/>
              <a:t>=&gt; The model might lose the “sense” of the target present in the context surrounding.</a:t>
            </a:r>
          </a:p>
        </p:txBody>
      </p:sp>
    </p:spTree>
    <p:extLst>
      <p:ext uri="{BB962C8B-B14F-4D97-AF65-F5344CB8AC3E}">
        <p14:creationId xmlns:p14="http://schemas.microsoft.com/office/powerpoint/2010/main" val="1610944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A8F126-0200-82A0-DBB4-5D3C2A5F4A5D}"/>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BB4D8EC-34FE-5646-9A5A-C7107DBD97C3}"/>
              </a:ext>
            </a:extLst>
          </p:cNvPr>
          <p:cNvSpPr>
            <a:spLocks noGrp="1"/>
          </p:cNvSpPr>
          <p:nvPr>
            <p:ph type="title"/>
          </p:nvPr>
        </p:nvSpPr>
        <p:spPr>
          <a:xfrm>
            <a:off x="685800" y="899025"/>
            <a:ext cx="3614058" cy="2529976"/>
          </a:xfrm>
        </p:spPr>
        <p:txBody>
          <a:bodyPr vert="horz" lIns="91440" tIns="45720" rIns="91440" bIns="45720" rtlCol="0" anchor="t">
            <a:normAutofit/>
          </a:bodyPr>
          <a:lstStyle/>
          <a:p>
            <a:r>
              <a:rPr lang="en-US" sz="3400" dirty="0"/>
              <a:t>Modified </a:t>
            </a:r>
            <a:r>
              <a:rPr lang="en-US" sz="3400" dirty="0" err="1"/>
              <a:t>CRTNet</a:t>
            </a:r>
            <a:r>
              <a:rPr lang="en-US" sz="3400" dirty="0"/>
              <a:t> architecture heuristic </a:t>
            </a:r>
            <a:r>
              <a:rPr lang="en-US" sz="3400" dirty="0" err="1"/>
              <a:t>bbox</a:t>
            </a:r>
            <a:r>
              <a:rPr lang="en-US" sz="3400" dirty="0"/>
              <a:t> solution</a:t>
            </a:r>
          </a:p>
        </p:txBody>
      </p:sp>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 program&#10;&#10;AI-generated content may be incorrect.">
            <a:extLst>
              <a:ext uri="{FF2B5EF4-FFF2-40B4-BE49-F238E27FC236}">
                <a16:creationId xmlns:a16="http://schemas.microsoft.com/office/drawing/2014/main" id="{EAEC30C3-7BE6-73B8-3D32-44E883567609}"/>
              </a:ext>
            </a:extLst>
          </p:cNvPr>
          <p:cNvPicPr>
            <a:picLocks noChangeAspect="1"/>
          </p:cNvPicPr>
          <p:nvPr/>
        </p:nvPicPr>
        <p:blipFill>
          <a:blip r:embed="rId3"/>
          <a:stretch>
            <a:fillRect/>
          </a:stretch>
        </p:blipFill>
        <p:spPr>
          <a:xfrm>
            <a:off x="5845628" y="250301"/>
            <a:ext cx="5817018" cy="6357398"/>
          </a:xfrm>
          <a:prstGeom prst="rect">
            <a:avLst/>
          </a:prstGeom>
        </p:spPr>
      </p:pic>
      <p:sp>
        <p:nvSpPr>
          <p:cNvPr id="9" name="TextBox 8">
            <a:extLst>
              <a:ext uri="{FF2B5EF4-FFF2-40B4-BE49-F238E27FC236}">
                <a16:creationId xmlns:a16="http://schemas.microsoft.com/office/drawing/2014/main" id="{663EA239-8A0C-C0BD-3DBD-EB9EAC46B865}"/>
              </a:ext>
            </a:extLst>
          </p:cNvPr>
          <p:cNvSpPr txBox="1"/>
          <p:nvPr/>
        </p:nvSpPr>
        <p:spPr>
          <a:xfrm>
            <a:off x="892454" y="3868902"/>
            <a:ext cx="3837333" cy="1754326"/>
          </a:xfrm>
          <a:prstGeom prst="rect">
            <a:avLst/>
          </a:prstGeom>
          <a:noFill/>
        </p:spPr>
        <p:txBody>
          <a:bodyPr wrap="none" rtlCol="0">
            <a:spAutoFit/>
          </a:bodyPr>
          <a:lstStyle/>
          <a:p>
            <a:r>
              <a:rPr lang="en-US" dirty="0"/>
              <a:t>Solution:</a:t>
            </a:r>
          </a:p>
          <a:p>
            <a:r>
              <a:rPr lang="en-US" dirty="0"/>
              <a:t>Added a Light-weight Attention layer</a:t>
            </a:r>
          </a:p>
          <a:p>
            <a:endParaRPr lang="en-US" dirty="0"/>
          </a:p>
          <a:p>
            <a:r>
              <a:rPr lang="en-US" dirty="0"/>
              <a:t>Query:   Target token</a:t>
            </a:r>
          </a:p>
          <a:p>
            <a:r>
              <a:rPr lang="en-US" dirty="0"/>
              <a:t>Key:       Context PE</a:t>
            </a:r>
          </a:p>
          <a:p>
            <a:r>
              <a:rPr lang="en-US" dirty="0"/>
              <a:t>Value:    Context PE</a:t>
            </a:r>
          </a:p>
        </p:txBody>
      </p:sp>
    </p:spTree>
    <p:extLst>
      <p:ext uri="{BB962C8B-B14F-4D97-AF65-F5344CB8AC3E}">
        <p14:creationId xmlns:p14="http://schemas.microsoft.com/office/powerpoint/2010/main" val="2606548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9B889-9DE1-FE86-F279-5198FAE9E3C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860C4DE-7996-040E-4596-795EA25E37D4}"/>
              </a:ext>
            </a:extLst>
          </p:cNvPr>
          <p:cNvSpPr>
            <a:spLocks noGrp="1"/>
          </p:cNvSpPr>
          <p:nvPr>
            <p:ph type="title"/>
          </p:nvPr>
        </p:nvSpPr>
        <p:spPr>
          <a:xfrm>
            <a:off x="685800" y="899025"/>
            <a:ext cx="11038114" cy="1269253"/>
          </a:xfrm>
        </p:spPr>
        <p:txBody>
          <a:bodyPr vert="horz" lIns="91440" tIns="45720" rIns="91440" bIns="45720" rtlCol="0" anchor="t">
            <a:normAutofit/>
          </a:bodyPr>
          <a:lstStyle/>
          <a:p>
            <a:r>
              <a:rPr lang="en-US" sz="3400" dirty="0"/>
              <a:t>Modified </a:t>
            </a:r>
            <a:r>
              <a:rPr lang="en-US" sz="3400" dirty="0" err="1"/>
              <a:t>CRTNet</a:t>
            </a:r>
            <a:r>
              <a:rPr lang="en-US" sz="3400" dirty="0"/>
              <a:t> architecture heuristic </a:t>
            </a:r>
            <a:r>
              <a:rPr lang="en-US" sz="3400" dirty="0" err="1"/>
              <a:t>bbox</a:t>
            </a:r>
            <a:r>
              <a:rPr lang="en-US" sz="3400" dirty="0"/>
              <a:t> solution</a:t>
            </a:r>
          </a:p>
        </p:txBody>
      </p:sp>
      <p:grpSp>
        <p:nvGrpSpPr>
          <p:cNvPr id="32" name="Group 31">
            <a:extLst>
              <a:ext uri="{FF2B5EF4-FFF2-40B4-BE49-F238E27FC236}">
                <a16:creationId xmlns:a16="http://schemas.microsoft.com/office/drawing/2014/main" id="{4D0DDF95-E95B-21F1-FAB2-B5C20F08E272}"/>
              </a:ext>
            </a:extLst>
          </p:cNvPr>
          <p:cNvGrpSpPr/>
          <p:nvPr/>
        </p:nvGrpSpPr>
        <p:grpSpPr>
          <a:xfrm>
            <a:off x="3673394" y="2489510"/>
            <a:ext cx="1001428" cy="598310"/>
            <a:chOff x="2493871" y="2168278"/>
            <a:chExt cx="1001428" cy="598310"/>
          </a:xfrm>
        </p:grpSpPr>
        <p:sp>
          <p:nvSpPr>
            <p:cNvPr id="28" name="Rectangle 27">
              <a:extLst>
                <a:ext uri="{FF2B5EF4-FFF2-40B4-BE49-F238E27FC236}">
                  <a16:creationId xmlns:a16="http://schemas.microsoft.com/office/drawing/2014/main" id="{C4512132-A9A9-268C-DE7D-5D8DE9670610}"/>
                </a:ext>
              </a:extLst>
            </p:cNvPr>
            <p:cNvSpPr/>
            <p:nvPr/>
          </p:nvSpPr>
          <p:spPr>
            <a:xfrm>
              <a:off x="2860194" y="2496532"/>
              <a:ext cx="268782" cy="270056"/>
            </a:xfrm>
            <a:prstGeom prst="rect">
              <a:avLst/>
            </a:prstGeom>
            <a:solidFill>
              <a:srgbClr val="0070C0"/>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65E2607D-8C60-B45D-B8E3-435E31CCB800}"/>
                </a:ext>
              </a:extLst>
            </p:cNvPr>
            <p:cNvSpPr txBox="1"/>
            <p:nvPr/>
          </p:nvSpPr>
          <p:spPr>
            <a:xfrm>
              <a:off x="2493871" y="2168278"/>
              <a:ext cx="1001428" cy="276999"/>
            </a:xfrm>
            <a:prstGeom prst="rect">
              <a:avLst/>
            </a:prstGeom>
            <a:noFill/>
          </p:spPr>
          <p:txBody>
            <a:bodyPr wrap="none" rtlCol="0">
              <a:spAutoFit/>
            </a:bodyPr>
            <a:lstStyle/>
            <a:p>
              <a:r>
                <a:rPr lang="en-US" sz="1200" dirty="0"/>
                <a:t>Target token</a:t>
              </a:r>
            </a:p>
          </p:txBody>
        </p:sp>
      </p:grpSp>
      <p:sp>
        <p:nvSpPr>
          <p:cNvPr id="30" name="TextBox 29">
            <a:extLst>
              <a:ext uri="{FF2B5EF4-FFF2-40B4-BE49-F238E27FC236}">
                <a16:creationId xmlns:a16="http://schemas.microsoft.com/office/drawing/2014/main" id="{9C45E769-5FBC-AA3C-1E49-5D30F8E6F97C}"/>
              </a:ext>
            </a:extLst>
          </p:cNvPr>
          <p:cNvSpPr txBox="1"/>
          <p:nvPr/>
        </p:nvSpPr>
        <p:spPr>
          <a:xfrm>
            <a:off x="1728419" y="2494241"/>
            <a:ext cx="1690271" cy="276999"/>
          </a:xfrm>
          <a:prstGeom prst="rect">
            <a:avLst/>
          </a:prstGeom>
          <a:noFill/>
        </p:spPr>
        <p:txBody>
          <a:bodyPr wrap="none" rtlCol="0">
            <a:spAutoFit/>
          </a:bodyPr>
          <a:lstStyle/>
          <a:p>
            <a:r>
              <a:rPr lang="en-US" sz="1200" dirty="0" err="1"/>
              <a:t>Bbox</a:t>
            </a:r>
            <a:r>
              <a:rPr lang="en-US" sz="1200" dirty="0"/>
              <a:t> coordinates (1, 1)</a:t>
            </a:r>
          </a:p>
        </p:txBody>
      </p:sp>
      <p:grpSp>
        <p:nvGrpSpPr>
          <p:cNvPr id="118" name="Group 117">
            <a:extLst>
              <a:ext uri="{FF2B5EF4-FFF2-40B4-BE49-F238E27FC236}">
                <a16:creationId xmlns:a16="http://schemas.microsoft.com/office/drawing/2014/main" id="{3F48024D-0F1D-D3DE-BAEC-0A8AAE518964}"/>
              </a:ext>
            </a:extLst>
          </p:cNvPr>
          <p:cNvGrpSpPr/>
          <p:nvPr/>
        </p:nvGrpSpPr>
        <p:grpSpPr>
          <a:xfrm>
            <a:off x="309642" y="2489510"/>
            <a:ext cx="1378326" cy="1437845"/>
            <a:chOff x="309642" y="2489510"/>
            <a:chExt cx="1378326" cy="1437845"/>
          </a:xfrm>
        </p:grpSpPr>
        <p:grpSp>
          <p:nvGrpSpPr>
            <p:cNvPr id="27" name="Group 26">
              <a:extLst>
                <a:ext uri="{FF2B5EF4-FFF2-40B4-BE49-F238E27FC236}">
                  <a16:creationId xmlns:a16="http://schemas.microsoft.com/office/drawing/2014/main" id="{8BD543AB-B2C7-06D3-5170-CDB516CC0897}"/>
                </a:ext>
              </a:extLst>
            </p:cNvPr>
            <p:cNvGrpSpPr/>
            <p:nvPr/>
          </p:nvGrpSpPr>
          <p:grpSpPr>
            <a:xfrm>
              <a:off x="377805" y="2830690"/>
              <a:ext cx="1078665" cy="1096665"/>
              <a:chOff x="1153751" y="2704228"/>
              <a:chExt cx="1074757" cy="1113735"/>
            </a:xfrm>
          </p:grpSpPr>
          <p:grpSp>
            <p:nvGrpSpPr>
              <p:cNvPr id="21" name="Group 20">
                <a:extLst>
                  <a:ext uri="{FF2B5EF4-FFF2-40B4-BE49-F238E27FC236}">
                    <a16:creationId xmlns:a16="http://schemas.microsoft.com/office/drawing/2014/main" id="{7866C77A-309C-66E4-83CE-6230544BE397}"/>
                  </a:ext>
                </a:extLst>
              </p:cNvPr>
              <p:cNvGrpSpPr/>
              <p:nvPr/>
            </p:nvGrpSpPr>
            <p:grpSpPr>
              <a:xfrm>
                <a:off x="1425082" y="2981585"/>
                <a:ext cx="803426" cy="823852"/>
                <a:chOff x="1474361" y="3912410"/>
                <a:chExt cx="1240974" cy="1357045"/>
              </a:xfrm>
            </p:grpSpPr>
            <p:sp>
              <p:nvSpPr>
                <p:cNvPr id="7" name="Rectangle 6">
                  <a:extLst>
                    <a:ext uri="{FF2B5EF4-FFF2-40B4-BE49-F238E27FC236}">
                      <a16:creationId xmlns:a16="http://schemas.microsoft.com/office/drawing/2014/main" id="{F5AC68AA-7E3A-FB4E-6D42-8D57CF5D2711}"/>
                    </a:ext>
                  </a:extLst>
                </p:cNvPr>
                <p:cNvSpPr/>
                <p:nvPr/>
              </p:nvSpPr>
              <p:spPr>
                <a:xfrm>
                  <a:off x="1474361" y="3914178"/>
                  <a:ext cx="413658" cy="451759"/>
                </a:xfrm>
                <a:prstGeom prst="rect">
                  <a:avLst/>
                </a:prstGeom>
                <a:solidFill>
                  <a:srgbClr val="0070C0"/>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8372AC8-20B5-5AF3-DB35-A915B993D32C}"/>
                    </a:ext>
                  </a:extLst>
                </p:cNvPr>
                <p:cNvSpPr/>
                <p:nvPr/>
              </p:nvSpPr>
              <p:spPr>
                <a:xfrm>
                  <a:off x="1474361" y="4817696"/>
                  <a:ext cx="413658" cy="451759"/>
                </a:xfrm>
                <a:prstGeom prst="rect">
                  <a:avLst/>
                </a:prstGeom>
                <a:solidFill>
                  <a:schemeClr val="bg2">
                    <a:lumMod val="75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01BF571-9EBF-7F6A-55EA-2D9729AC1609}"/>
                    </a:ext>
                  </a:extLst>
                </p:cNvPr>
                <p:cNvSpPr/>
                <p:nvPr/>
              </p:nvSpPr>
              <p:spPr>
                <a:xfrm>
                  <a:off x="1474361" y="4365937"/>
                  <a:ext cx="413658" cy="451759"/>
                </a:xfrm>
                <a:prstGeom prst="rect">
                  <a:avLst/>
                </a:prstGeom>
                <a:solidFill>
                  <a:schemeClr val="accent1">
                    <a:lumMod val="40000"/>
                    <a:lumOff val="60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C11313-FC6C-2781-A59D-EA8401B0B30D}"/>
                    </a:ext>
                  </a:extLst>
                </p:cNvPr>
                <p:cNvSpPr/>
                <p:nvPr/>
              </p:nvSpPr>
              <p:spPr>
                <a:xfrm>
                  <a:off x="1888019" y="3912999"/>
                  <a:ext cx="413658" cy="451759"/>
                </a:xfrm>
                <a:prstGeom prst="rect">
                  <a:avLst/>
                </a:prstGeom>
                <a:solidFill>
                  <a:schemeClr val="tx2">
                    <a:lumMod val="25000"/>
                    <a:lumOff val="75000"/>
                  </a:schemeClr>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D0436B8-B797-9DC9-B7B6-CB4E1515EF80}"/>
                    </a:ext>
                  </a:extLst>
                </p:cNvPr>
                <p:cNvSpPr/>
                <p:nvPr/>
              </p:nvSpPr>
              <p:spPr>
                <a:xfrm>
                  <a:off x="1888019" y="4365347"/>
                  <a:ext cx="413658" cy="451759"/>
                </a:xfrm>
                <a:prstGeom prst="rect">
                  <a:avLst/>
                </a:prstGeom>
                <a:solidFill>
                  <a:srgbClr val="00B050"/>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A728908-ECA5-54C0-DB04-06DC04FF668B}"/>
                    </a:ext>
                  </a:extLst>
                </p:cNvPr>
                <p:cNvSpPr/>
                <p:nvPr/>
              </p:nvSpPr>
              <p:spPr>
                <a:xfrm>
                  <a:off x="1888019" y="4817695"/>
                  <a:ext cx="413658" cy="451759"/>
                </a:xfrm>
                <a:prstGeom prst="rect">
                  <a:avLst/>
                </a:prstGeom>
                <a:solidFill>
                  <a:schemeClr val="tx1">
                    <a:lumMod val="50000"/>
                    <a:lumOff val="50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BEBC64D-B8B8-F474-63A1-1FB386D5C933}"/>
                    </a:ext>
                  </a:extLst>
                </p:cNvPr>
                <p:cNvSpPr/>
                <p:nvPr/>
              </p:nvSpPr>
              <p:spPr>
                <a:xfrm>
                  <a:off x="2301677" y="3912410"/>
                  <a:ext cx="413658" cy="451759"/>
                </a:xfrm>
                <a:prstGeom prst="rect">
                  <a:avLst/>
                </a:prstGeom>
                <a:solidFill>
                  <a:schemeClr val="accent5">
                    <a:lumMod val="40000"/>
                    <a:lumOff val="60000"/>
                  </a:schemeClr>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39498C6-4488-FDFC-5CA0-9326816D1872}"/>
                    </a:ext>
                  </a:extLst>
                </p:cNvPr>
                <p:cNvSpPr/>
                <p:nvPr/>
              </p:nvSpPr>
              <p:spPr>
                <a:xfrm>
                  <a:off x="2301677" y="4364758"/>
                  <a:ext cx="413658" cy="451759"/>
                </a:xfrm>
                <a:prstGeom prst="rect">
                  <a:avLst/>
                </a:prstGeom>
                <a:solidFill>
                  <a:schemeClr val="accent4">
                    <a:lumMod val="60000"/>
                    <a:lumOff val="40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A5CCD2D-DB4E-CEB6-FEC1-1DBF89DDD8DA}"/>
                    </a:ext>
                  </a:extLst>
                </p:cNvPr>
                <p:cNvSpPr/>
                <p:nvPr/>
              </p:nvSpPr>
              <p:spPr>
                <a:xfrm>
                  <a:off x="2301677" y="4817106"/>
                  <a:ext cx="413658" cy="451759"/>
                </a:xfrm>
                <a:prstGeom prst="rect">
                  <a:avLst/>
                </a:prstGeom>
                <a:solidFill>
                  <a:srgbClr val="002060"/>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1F5C5527-552C-C5C5-FCFF-13038598C6F8}"/>
                  </a:ext>
                </a:extLst>
              </p:cNvPr>
              <p:cNvSpPr txBox="1"/>
              <p:nvPr/>
            </p:nvSpPr>
            <p:spPr>
              <a:xfrm>
                <a:off x="1157273" y="2965360"/>
                <a:ext cx="197116" cy="276999"/>
              </a:xfrm>
              <a:prstGeom prst="rect">
                <a:avLst/>
              </a:prstGeom>
              <a:noFill/>
            </p:spPr>
            <p:txBody>
              <a:bodyPr wrap="square" rtlCol="0">
                <a:spAutoFit/>
              </a:bodyPr>
              <a:lstStyle/>
              <a:p>
                <a:r>
                  <a:rPr lang="en-US" sz="1200" dirty="0"/>
                  <a:t>0</a:t>
                </a:r>
              </a:p>
            </p:txBody>
          </p:sp>
          <p:sp>
            <p:nvSpPr>
              <p:cNvPr id="22" name="TextBox 21">
                <a:extLst>
                  <a:ext uri="{FF2B5EF4-FFF2-40B4-BE49-F238E27FC236}">
                    <a16:creationId xmlns:a16="http://schemas.microsoft.com/office/drawing/2014/main" id="{02958587-5936-E424-EFC7-F117A3832E56}"/>
                  </a:ext>
                </a:extLst>
              </p:cNvPr>
              <p:cNvSpPr txBox="1"/>
              <p:nvPr/>
            </p:nvSpPr>
            <p:spPr>
              <a:xfrm>
                <a:off x="1421559" y="2707029"/>
                <a:ext cx="197116" cy="276999"/>
              </a:xfrm>
              <a:prstGeom prst="rect">
                <a:avLst/>
              </a:prstGeom>
              <a:noFill/>
            </p:spPr>
            <p:txBody>
              <a:bodyPr wrap="square" rtlCol="0">
                <a:spAutoFit/>
              </a:bodyPr>
              <a:lstStyle/>
              <a:p>
                <a:r>
                  <a:rPr lang="en-US" sz="1200" dirty="0"/>
                  <a:t>0</a:t>
                </a:r>
              </a:p>
            </p:txBody>
          </p:sp>
          <p:sp>
            <p:nvSpPr>
              <p:cNvPr id="23" name="TextBox 22">
                <a:extLst>
                  <a:ext uri="{FF2B5EF4-FFF2-40B4-BE49-F238E27FC236}">
                    <a16:creationId xmlns:a16="http://schemas.microsoft.com/office/drawing/2014/main" id="{019B66AD-9369-D060-C817-C9F6CEEE90B9}"/>
                  </a:ext>
                </a:extLst>
              </p:cNvPr>
              <p:cNvSpPr txBox="1"/>
              <p:nvPr/>
            </p:nvSpPr>
            <p:spPr>
              <a:xfrm>
                <a:off x="1696308" y="2706314"/>
                <a:ext cx="197116" cy="276999"/>
              </a:xfrm>
              <a:prstGeom prst="rect">
                <a:avLst/>
              </a:prstGeom>
              <a:noFill/>
            </p:spPr>
            <p:txBody>
              <a:bodyPr wrap="square" rtlCol="0">
                <a:spAutoFit/>
              </a:bodyPr>
              <a:lstStyle/>
              <a:p>
                <a:r>
                  <a:rPr lang="en-US" sz="1200" dirty="0"/>
                  <a:t>1</a:t>
                </a:r>
              </a:p>
            </p:txBody>
          </p:sp>
          <p:sp>
            <p:nvSpPr>
              <p:cNvPr id="24" name="TextBox 23">
                <a:extLst>
                  <a:ext uri="{FF2B5EF4-FFF2-40B4-BE49-F238E27FC236}">
                    <a16:creationId xmlns:a16="http://schemas.microsoft.com/office/drawing/2014/main" id="{ABB64FD7-36F2-BF07-9615-D0F9AA1EB0CA}"/>
                  </a:ext>
                </a:extLst>
              </p:cNvPr>
              <p:cNvSpPr txBox="1"/>
              <p:nvPr/>
            </p:nvSpPr>
            <p:spPr>
              <a:xfrm>
                <a:off x="1975451" y="2704228"/>
                <a:ext cx="197116" cy="276999"/>
              </a:xfrm>
              <a:prstGeom prst="rect">
                <a:avLst/>
              </a:prstGeom>
              <a:noFill/>
            </p:spPr>
            <p:txBody>
              <a:bodyPr wrap="square" rtlCol="0">
                <a:spAutoFit/>
              </a:bodyPr>
              <a:lstStyle/>
              <a:p>
                <a:r>
                  <a:rPr lang="en-US" sz="1200" dirty="0"/>
                  <a:t>2</a:t>
                </a:r>
              </a:p>
            </p:txBody>
          </p:sp>
          <p:sp>
            <p:nvSpPr>
              <p:cNvPr id="25" name="TextBox 24">
                <a:extLst>
                  <a:ext uri="{FF2B5EF4-FFF2-40B4-BE49-F238E27FC236}">
                    <a16:creationId xmlns:a16="http://schemas.microsoft.com/office/drawing/2014/main" id="{E4040D5D-E88F-F916-2A4D-7C6EF20DCADB}"/>
                  </a:ext>
                </a:extLst>
              </p:cNvPr>
              <p:cNvSpPr txBox="1"/>
              <p:nvPr/>
            </p:nvSpPr>
            <p:spPr>
              <a:xfrm>
                <a:off x="1157273" y="3253463"/>
                <a:ext cx="197116" cy="276999"/>
              </a:xfrm>
              <a:prstGeom prst="rect">
                <a:avLst/>
              </a:prstGeom>
              <a:noFill/>
            </p:spPr>
            <p:txBody>
              <a:bodyPr wrap="square" rtlCol="0">
                <a:spAutoFit/>
              </a:bodyPr>
              <a:lstStyle/>
              <a:p>
                <a:r>
                  <a:rPr lang="en-US" sz="1200" dirty="0"/>
                  <a:t>1</a:t>
                </a:r>
              </a:p>
            </p:txBody>
          </p:sp>
          <p:sp>
            <p:nvSpPr>
              <p:cNvPr id="26" name="TextBox 25">
                <a:extLst>
                  <a:ext uri="{FF2B5EF4-FFF2-40B4-BE49-F238E27FC236}">
                    <a16:creationId xmlns:a16="http://schemas.microsoft.com/office/drawing/2014/main" id="{B9F45E0B-334F-3E17-FEAE-CDA38EC26256}"/>
                  </a:ext>
                </a:extLst>
              </p:cNvPr>
              <p:cNvSpPr txBox="1"/>
              <p:nvPr/>
            </p:nvSpPr>
            <p:spPr>
              <a:xfrm>
                <a:off x="1153751" y="3540964"/>
                <a:ext cx="197116" cy="276999"/>
              </a:xfrm>
              <a:prstGeom prst="rect">
                <a:avLst/>
              </a:prstGeom>
              <a:noFill/>
            </p:spPr>
            <p:txBody>
              <a:bodyPr wrap="square" rtlCol="0">
                <a:spAutoFit/>
              </a:bodyPr>
              <a:lstStyle/>
              <a:p>
                <a:r>
                  <a:rPr lang="en-US" sz="1200" dirty="0"/>
                  <a:t>2</a:t>
                </a:r>
              </a:p>
            </p:txBody>
          </p:sp>
        </p:grpSp>
        <p:sp>
          <p:nvSpPr>
            <p:cNvPr id="31" name="TextBox 30">
              <a:extLst>
                <a:ext uri="{FF2B5EF4-FFF2-40B4-BE49-F238E27FC236}">
                  <a16:creationId xmlns:a16="http://schemas.microsoft.com/office/drawing/2014/main" id="{7E9176D1-83D8-1E2D-DCD7-4C9371022B9E}"/>
                </a:ext>
              </a:extLst>
            </p:cNvPr>
            <p:cNvSpPr txBox="1"/>
            <p:nvPr/>
          </p:nvSpPr>
          <p:spPr>
            <a:xfrm>
              <a:off x="309642" y="2489510"/>
              <a:ext cx="1378326" cy="276999"/>
            </a:xfrm>
            <a:prstGeom prst="rect">
              <a:avLst/>
            </a:prstGeom>
            <a:noFill/>
          </p:spPr>
          <p:txBody>
            <a:bodyPr wrap="none" rtlCol="0">
              <a:spAutoFit/>
            </a:bodyPr>
            <a:lstStyle/>
            <a:p>
              <a:r>
                <a:rPr lang="en-US" sz="1200" dirty="0"/>
                <a:t>Context PE tensor</a:t>
              </a:r>
            </a:p>
          </p:txBody>
        </p:sp>
      </p:grpSp>
      <p:sp>
        <p:nvSpPr>
          <p:cNvPr id="33" name="Oval 32">
            <a:extLst>
              <a:ext uri="{FF2B5EF4-FFF2-40B4-BE49-F238E27FC236}">
                <a16:creationId xmlns:a16="http://schemas.microsoft.com/office/drawing/2014/main" id="{3AD3E9F3-337E-94BF-B36B-E7B5DACB0AB6}"/>
              </a:ext>
            </a:extLst>
          </p:cNvPr>
          <p:cNvSpPr/>
          <p:nvPr/>
        </p:nvSpPr>
        <p:spPr>
          <a:xfrm>
            <a:off x="2317172" y="4258394"/>
            <a:ext cx="374073" cy="36200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grpSp>
        <p:nvGrpSpPr>
          <p:cNvPr id="34" name="Group 33">
            <a:extLst>
              <a:ext uri="{FF2B5EF4-FFF2-40B4-BE49-F238E27FC236}">
                <a16:creationId xmlns:a16="http://schemas.microsoft.com/office/drawing/2014/main" id="{E20D0F1C-132E-26D2-C2FD-CD4741A1938A}"/>
              </a:ext>
            </a:extLst>
          </p:cNvPr>
          <p:cNvGrpSpPr/>
          <p:nvPr/>
        </p:nvGrpSpPr>
        <p:grpSpPr>
          <a:xfrm>
            <a:off x="2003494" y="5070054"/>
            <a:ext cx="1001428" cy="598310"/>
            <a:chOff x="2493871" y="2168278"/>
            <a:chExt cx="1001428" cy="598310"/>
          </a:xfrm>
        </p:grpSpPr>
        <p:sp>
          <p:nvSpPr>
            <p:cNvPr id="35" name="Rectangle 34">
              <a:extLst>
                <a:ext uri="{FF2B5EF4-FFF2-40B4-BE49-F238E27FC236}">
                  <a16:creationId xmlns:a16="http://schemas.microsoft.com/office/drawing/2014/main" id="{17781214-F95C-2B9F-C7EB-65443BCE95FF}"/>
                </a:ext>
              </a:extLst>
            </p:cNvPr>
            <p:cNvSpPr/>
            <p:nvPr/>
          </p:nvSpPr>
          <p:spPr>
            <a:xfrm>
              <a:off x="2860194" y="2496532"/>
              <a:ext cx="268782" cy="270056"/>
            </a:xfrm>
            <a:prstGeom prst="rect">
              <a:avLst/>
            </a:prstGeom>
            <a:solidFill>
              <a:srgbClr val="00B0F0"/>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575F473D-9C72-FCBD-978E-63E1889A7991}"/>
                </a:ext>
              </a:extLst>
            </p:cNvPr>
            <p:cNvSpPr txBox="1"/>
            <p:nvPr/>
          </p:nvSpPr>
          <p:spPr>
            <a:xfrm>
              <a:off x="2493871" y="2168278"/>
              <a:ext cx="1001428" cy="276999"/>
            </a:xfrm>
            <a:prstGeom prst="rect">
              <a:avLst/>
            </a:prstGeom>
            <a:noFill/>
          </p:spPr>
          <p:txBody>
            <a:bodyPr wrap="none" rtlCol="0">
              <a:spAutoFit/>
            </a:bodyPr>
            <a:lstStyle/>
            <a:p>
              <a:r>
                <a:rPr lang="en-US" sz="1200" dirty="0"/>
                <a:t>Target token</a:t>
              </a:r>
            </a:p>
          </p:txBody>
        </p:sp>
      </p:grpSp>
      <p:cxnSp>
        <p:nvCxnSpPr>
          <p:cNvPr id="38" name="Straight Arrow Connector 37">
            <a:extLst>
              <a:ext uri="{FF2B5EF4-FFF2-40B4-BE49-F238E27FC236}">
                <a16:creationId xmlns:a16="http://schemas.microsoft.com/office/drawing/2014/main" id="{FB236D3D-56C0-8504-7346-A4557C6833F8}"/>
              </a:ext>
            </a:extLst>
          </p:cNvPr>
          <p:cNvCxnSpPr>
            <a:cxnSpLocks/>
            <a:stCxn id="30" idx="2"/>
            <a:endCxn id="18" idx="3"/>
          </p:cNvCxnSpPr>
          <p:nvPr/>
        </p:nvCxnSpPr>
        <p:spPr>
          <a:xfrm flipH="1">
            <a:off x="1456470" y="2771240"/>
            <a:ext cx="1117085" cy="7379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2CF6F69-0397-F841-5F62-D8950BC34894}"/>
              </a:ext>
            </a:extLst>
          </p:cNvPr>
          <p:cNvCxnSpPr>
            <a:cxnSpLocks/>
            <a:stCxn id="15" idx="2"/>
            <a:endCxn id="109" idx="0"/>
          </p:cNvCxnSpPr>
          <p:nvPr/>
        </p:nvCxnSpPr>
        <p:spPr>
          <a:xfrm flipH="1">
            <a:off x="1052570" y="3915020"/>
            <a:ext cx="726" cy="42572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6D771F9-38F2-F483-7307-52D19DE604D9}"/>
              </a:ext>
            </a:extLst>
          </p:cNvPr>
          <p:cNvCxnSpPr>
            <a:cxnSpLocks/>
            <a:stCxn id="28" idx="2"/>
            <a:endCxn id="33" idx="6"/>
          </p:cNvCxnSpPr>
          <p:nvPr/>
        </p:nvCxnSpPr>
        <p:spPr>
          <a:xfrm flipH="1">
            <a:off x="2691245" y="3087820"/>
            <a:ext cx="1482863" cy="13515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8648033-20F3-1ABD-F952-C762DD0947A8}"/>
              </a:ext>
            </a:extLst>
          </p:cNvPr>
          <p:cNvCxnSpPr>
            <a:cxnSpLocks/>
            <a:stCxn id="33" idx="4"/>
            <a:endCxn id="36" idx="0"/>
          </p:cNvCxnSpPr>
          <p:nvPr/>
        </p:nvCxnSpPr>
        <p:spPr>
          <a:xfrm flipH="1">
            <a:off x="2504208" y="4620399"/>
            <a:ext cx="1" cy="44965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DED7C7AB-2C83-E8C6-3B9A-C0273653A463}"/>
              </a:ext>
            </a:extLst>
          </p:cNvPr>
          <p:cNvSpPr txBox="1"/>
          <p:nvPr/>
        </p:nvSpPr>
        <p:spPr>
          <a:xfrm>
            <a:off x="1556158" y="2094551"/>
            <a:ext cx="2270173" cy="369332"/>
          </a:xfrm>
          <a:prstGeom prst="rect">
            <a:avLst/>
          </a:prstGeom>
          <a:noFill/>
        </p:spPr>
        <p:txBody>
          <a:bodyPr wrap="none" rtlCol="0">
            <a:spAutoFit/>
          </a:bodyPr>
          <a:lstStyle/>
          <a:p>
            <a:r>
              <a:rPr lang="en-US" dirty="0"/>
              <a:t>Original Architecture</a:t>
            </a:r>
          </a:p>
        </p:txBody>
      </p:sp>
      <p:sp>
        <p:nvSpPr>
          <p:cNvPr id="109" name="Rectangle 108">
            <a:extLst>
              <a:ext uri="{FF2B5EF4-FFF2-40B4-BE49-F238E27FC236}">
                <a16:creationId xmlns:a16="http://schemas.microsoft.com/office/drawing/2014/main" id="{5A69A366-79F2-47A6-738B-0E932C74643D}"/>
              </a:ext>
            </a:extLst>
          </p:cNvPr>
          <p:cNvSpPr/>
          <p:nvPr/>
        </p:nvSpPr>
        <p:spPr>
          <a:xfrm>
            <a:off x="918179" y="4340749"/>
            <a:ext cx="268782" cy="270056"/>
          </a:xfrm>
          <a:prstGeom prst="rect">
            <a:avLst/>
          </a:prstGeom>
          <a:solidFill>
            <a:srgbClr val="00B050"/>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2" name="Straight Arrow Connector 111">
            <a:extLst>
              <a:ext uri="{FF2B5EF4-FFF2-40B4-BE49-F238E27FC236}">
                <a16:creationId xmlns:a16="http://schemas.microsoft.com/office/drawing/2014/main" id="{335AC8AB-EFD5-B8C5-A536-3CE66ECECFCD}"/>
              </a:ext>
            </a:extLst>
          </p:cNvPr>
          <p:cNvCxnSpPr>
            <a:cxnSpLocks/>
            <a:stCxn id="109" idx="3"/>
            <a:endCxn id="33" idx="2"/>
          </p:cNvCxnSpPr>
          <p:nvPr/>
        </p:nvCxnSpPr>
        <p:spPr>
          <a:xfrm flipV="1">
            <a:off x="1186961" y="4439397"/>
            <a:ext cx="1130211" cy="363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24" name="Group 123">
            <a:extLst>
              <a:ext uri="{FF2B5EF4-FFF2-40B4-BE49-F238E27FC236}">
                <a16:creationId xmlns:a16="http://schemas.microsoft.com/office/drawing/2014/main" id="{2B4668BF-EF8D-568A-F378-DAF08DB7535F}"/>
              </a:ext>
            </a:extLst>
          </p:cNvPr>
          <p:cNvGrpSpPr/>
          <p:nvPr/>
        </p:nvGrpSpPr>
        <p:grpSpPr>
          <a:xfrm>
            <a:off x="10002884" y="2531535"/>
            <a:ext cx="1001428" cy="598310"/>
            <a:chOff x="2493871" y="2168278"/>
            <a:chExt cx="1001428" cy="598310"/>
          </a:xfrm>
        </p:grpSpPr>
        <p:sp>
          <p:nvSpPr>
            <p:cNvPr id="125" name="Rectangle 124">
              <a:extLst>
                <a:ext uri="{FF2B5EF4-FFF2-40B4-BE49-F238E27FC236}">
                  <a16:creationId xmlns:a16="http://schemas.microsoft.com/office/drawing/2014/main" id="{FA3C6892-66E6-DB04-53B4-35BD5AD28CF5}"/>
                </a:ext>
              </a:extLst>
            </p:cNvPr>
            <p:cNvSpPr/>
            <p:nvPr/>
          </p:nvSpPr>
          <p:spPr>
            <a:xfrm>
              <a:off x="2860194" y="2496532"/>
              <a:ext cx="268782" cy="270056"/>
            </a:xfrm>
            <a:prstGeom prst="rect">
              <a:avLst/>
            </a:prstGeom>
            <a:solidFill>
              <a:srgbClr val="0070C0"/>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A8D4D84E-C6D0-537E-0170-FB3E6F3BE2B8}"/>
                </a:ext>
              </a:extLst>
            </p:cNvPr>
            <p:cNvSpPr txBox="1"/>
            <p:nvPr/>
          </p:nvSpPr>
          <p:spPr>
            <a:xfrm>
              <a:off x="2493871" y="2168278"/>
              <a:ext cx="1001428" cy="276999"/>
            </a:xfrm>
            <a:prstGeom prst="rect">
              <a:avLst/>
            </a:prstGeom>
            <a:noFill/>
          </p:spPr>
          <p:txBody>
            <a:bodyPr wrap="none" rtlCol="0">
              <a:spAutoFit/>
            </a:bodyPr>
            <a:lstStyle/>
            <a:p>
              <a:r>
                <a:rPr lang="en-US" sz="1200" dirty="0"/>
                <a:t>Target token</a:t>
              </a:r>
            </a:p>
          </p:txBody>
        </p:sp>
      </p:grpSp>
      <p:grpSp>
        <p:nvGrpSpPr>
          <p:cNvPr id="128" name="Group 127">
            <a:extLst>
              <a:ext uri="{FF2B5EF4-FFF2-40B4-BE49-F238E27FC236}">
                <a16:creationId xmlns:a16="http://schemas.microsoft.com/office/drawing/2014/main" id="{8DB8478A-1E2A-F65F-3D5F-9559BED19C33}"/>
              </a:ext>
            </a:extLst>
          </p:cNvPr>
          <p:cNvGrpSpPr/>
          <p:nvPr/>
        </p:nvGrpSpPr>
        <p:grpSpPr>
          <a:xfrm>
            <a:off x="6649690" y="2553691"/>
            <a:ext cx="1378326" cy="1415689"/>
            <a:chOff x="320200" y="2511666"/>
            <a:chExt cx="1378326" cy="1415689"/>
          </a:xfrm>
        </p:grpSpPr>
        <p:grpSp>
          <p:nvGrpSpPr>
            <p:cNvPr id="129" name="Group 128">
              <a:extLst>
                <a:ext uri="{FF2B5EF4-FFF2-40B4-BE49-F238E27FC236}">
                  <a16:creationId xmlns:a16="http://schemas.microsoft.com/office/drawing/2014/main" id="{02F5B02C-0707-580D-3365-7A5B8B8D8CC6}"/>
                </a:ext>
              </a:extLst>
            </p:cNvPr>
            <p:cNvGrpSpPr/>
            <p:nvPr/>
          </p:nvGrpSpPr>
          <p:grpSpPr>
            <a:xfrm>
              <a:off x="377805" y="2830690"/>
              <a:ext cx="1078665" cy="1096665"/>
              <a:chOff x="1153751" y="2704228"/>
              <a:chExt cx="1074757" cy="1113735"/>
            </a:xfrm>
          </p:grpSpPr>
          <p:grpSp>
            <p:nvGrpSpPr>
              <p:cNvPr id="131" name="Group 130">
                <a:extLst>
                  <a:ext uri="{FF2B5EF4-FFF2-40B4-BE49-F238E27FC236}">
                    <a16:creationId xmlns:a16="http://schemas.microsoft.com/office/drawing/2014/main" id="{63B5B6D1-1C52-AA53-0585-AFCD0F2A0B8A}"/>
                  </a:ext>
                </a:extLst>
              </p:cNvPr>
              <p:cNvGrpSpPr/>
              <p:nvPr/>
            </p:nvGrpSpPr>
            <p:grpSpPr>
              <a:xfrm>
                <a:off x="1425082" y="2981585"/>
                <a:ext cx="803426" cy="823852"/>
                <a:chOff x="1474361" y="3912410"/>
                <a:chExt cx="1240974" cy="1357045"/>
              </a:xfrm>
            </p:grpSpPr>
            <p:sp>
              <p:nvSpPr>
                <p:cNvPr id="138" name="Rectangle 137">
                  <a:extLst>
                    <a:ext uri="{FF2B5EF4-FFF2-40B4-BE49-F238E27FC236}">
                      <a16:creationId xmlns:a16="http://schemas.microsoft.com/office/drawing/2014/main" id="{03020F1B-E567-DADA-2CAE-640A12E7C9D4}"/>
                    </a:ext>
                  </a:extLst>
                </p:cNvPr>
                <p:cNvSpPr/>
                <p:nvPr/>
              </p:nvSpPr>
              <p:spPr>
                <a:xfrm>
                  <a:off x="1474361" y="3914178"/>
                  <a:ext cx="413658" cy="451759"/>
                </a:xfrm>
                <a:prstGeom prst="rect">
                  <a:avLst/>
                </a:prstGeom>
                <a:solidFill>
                  <a:srgbClr val="0070C0"/>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 name="Rectangle 138">
                  <a:extLst>
                    <a:ext uri="{FF2B5EF4-FFF2-40B4-BE49-F238E27FC236}">
                      <a16:creationId xmlns:a16="http://schemas.microsoft.com/office/drawing/2014/main" id="{41189906-2794-2FFE-DE6D-F821B13A5671}"/>
                    </a:ext>
                  </a:extLst>
                </p:cNvPr>
                <p:cNvSpPr/>
                <p:nvPr/>
              </p:nvSpPr>
              <p:spPr>
                <a:xfrm>
                  <a:off x="1474361" y="4817696"/>
                  <a:ext cx="413658" cy="451759"/>
                </a:xfrm>
                <a:prstGeom prst="rect">
                  <a:avLst/>
                </a:prstGeom>
                <a:solidFill>
                  <a:schemeClr val="bg2">
                    <a:lumMod val="75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B49DDD9F-E650-024C-6D94-C4586F29E11C}"/>
                    </a:ext>
                  </a:extLst>
                </p:cNvPr>
                <p:cNvSpPr/>
                <p:nvPr/>
              </p:nvSpPr>
              <p:spPr>
                <a:xfrm>
                  <a:off x="1474361" y="4365937"/>
                  <a:ext cx="413658" cy="451759"/>
                </a:xfrm>
                <a:prstGeom prst="rect">
                  <a:avLst/>
                </a:prstGeom>
                <a:solidFill>
                  <a:schemeClr val="accent1">
                    <a:lumMod val="40000"/>
                    <a:lumOff val="60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4ACAEB04-BD63-F2A3-7B3F-3994EFCAB664}"/>
                    </a:ext>
                  </a:extLst>
                </p:cNvPr>
                <p:cNvSpPr/>
                <p:nvPr/>
              </p:nvSpPr>
              <p:spPr>
                <a:xfrm>
                  <a:off x="1888019" y="3912999"/>
                  <a:ext cx="413658" cy="451759"/>
                </a:xfrm>
                <a:prstGeom prst="rect">
                  <a:avLst/>
                </a:prstGeom>
                <a:solidFill>
                  <a:schemeClr val="tx2">
                    <a:lumMod val="25000"/>
                    <a:lumOff val="75000"/>
                  </a:schemeClr>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155E84F3-ACD5-821D-2BD1-4F576AF9F6AD}"/>
                    </a:ext>
                  </a:extLst>
                </p:cNvPr>
                <p:cNvSpPr/>
                <p:nvPr/>
              </p:nvSpPr>
              <p:spPr>
                <a:xfrm>
                  <a:off x="1888019" y="4365347"/>
                  <a:ext cx="413658" cy="451759"/>
                </a:xfrm>
                <a:prstGeom prst="rect">
                  <a:avLst/>
                </a:prstGeom>
                <a:solidFill>
                  <a:srgbClr val="00B050"/>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Rectangle 142">
                  <a:extLst>
                    <a:ext uri="{FF2B5EF4-FFF2-40B4-BE49-F238E27FC236}">
                      <a16:creationId xmlns:a16="http://schemas.microsoft.com/office/drawing/2014/main" id="{39D1D00D-8C83-6CCA-8278-8F1C70E7714A}"/>
                    </a:ext>
                  </a:extLst>
                </p:cNvPr>
                <p:cNvSpPr/>
                <p:nvPr/>
              </p:nvSpPr>
              <p:spPr>
                <a:xfrm>
                  <a:off x="1888019" y="4817695"/>
                  <a:ext cx="413658" cy="451759"/>
                </a:xfrm>
                <a:prstGeom prst="rect">
                  <a:avLst/>
                </a:prstGeom>
                <a:solidFill>
                  <a:schemeClr val="tx1">
                    <a:lumMod val="50000"/>
                    <a:lumOff val="50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E96E777C-43D4-B7E5-00B9-51353116DA00}"/>
                    </a:ext>
                  </a:extLst>
                </p:cNvPr>
                <p:cNvSpPr/>
                <p:nvPr/>
              </p:nvSpPr>
              <p:spPr>
                <a:xfrm>
                  <a:off x="2301677" y="3912410"/>
                  <a:ext cx="413658" cy="451759"/>
                </a:xfrm>
                <a:prstGeom prst="rect">
                  <a:avLst/>
                </a:prstGeom>
                <a:solidFill>
                  <a:schemeClr val="accent5">
                    <a:lumMod val="40000"/>
                    <a:lumOff val="60000"/>
                  </a:schemeClr>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Rectangle 144">
                  <a:extLst>
                    <a:ext uri="{FF2B5EF4-FFF2-40B4-BE49-F238E27FC236}">
                      <a16:creationId xmlns:a16="http://schemas.microsoft.com/office/drawing/2014/main" id="{A423EC31-02B7-5A9E-2339-E676D9174C9F}"/>
                    </a:ext>
                  </a:extLst>
                </p:cNvPr>
                <p:cNvSpPr/>
                <p:nvPr/>
              </p:nvSpPr>
              <p:spPr>
                <a:xfrm>
                  <a:off x="2301677" y="4364758"/>
                  <a:ext cx="413658" cy="451759"/>
                </a:xfrm>
                <a:prstGeom prst="rect">
                  <a:avLst/>
                </a:prstGeom>
                <a:solidFill>
                  <a:schemeClr val="accent4">
                    <a:lumMod val="60000"/>
                    <a:lumOff val="40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D0AEDB37-AE22-5638-00D9-4B2EF3D67A5F}"/>
                    </a:ext>
                  </a:extLst>
                </p:cNvPr>
                <p:cNvSpPr/>
                <p:nvPr/>
              </p:nvSpPr>
              <p:spPr>
                <a:xfrm>
                  <a:off x="2301677" y="4817106"/>
                  <a:ext cx="413658" cy="451759"/>
                </a:xfrm>
                <a:prstGeom prst="rect">
                  <a:avLst/>
                </a:prstGeom>
                <a:solidFill>
                  <a:srgbClr val="002060"/>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2" name="TextBox 131">
                <a:extLst>
                  <a:ext uri="{FF2B5EF4-FFF2-40B4-BE49-F238E27FC236}">
                    <a16:creationId xmlns:a16="http://schemas.microsoft.com/office/drawing/2014/main" id="{6FD8F64D-8EBF-E93B-694C-C00611F3C049}"/>
                  </a:ext>
                </a:extLst>
              </p:cNvPr>
              <p:cNvSpPr txBox="1"/>
              <p:nvPr/>
            </p:nvSpPr>
            <p:spPr>
              <a:xfrm>
                <a:off x="1157273" y="2965360"/>
                <a:ext cx="197116" cy="276999"/>
              </a:xfrm>
              <a:prstGeom prst="rect">
                <a:avLst/>
              </a:prstGeom>
              <a:noFill/>
            </p:spPr>
            <p:txBody>
              <a:bodyPr wrap="square" rtlCol="0">
                <a:spAutoFit/>
              </a:bodyPr>
              <a:lstStyle/>
              <a:p>
                <a:r>
                  <a:rPr lang="en-US" sz="1200" dirty="0"/>
                  <a:t>0</a:t>
                </a:r>
              </a:p>
            </p:txBody>
          </p:sp>
          <p:sp>
            <p:nvSpPr>
              <p:cNvPr id="133" name="TextBox 132">
                <a:extLst>
                  <a:ext uri="{FF2B5EF4-FFF2-40B4-BE49-F238E27FC236}">
                    <a16:creationId xmlns:a16="http://schemas.microsoft.com/office/drawing/2014/main" id="{68B08443-6F37-2AEE-2FA5-F04EB094F46C}"/>
                  </a:ext>
                </a:extLst>
              </p:cNvPr>
              <p:cNvSpPr txBox="1"/>
              <p:nvPr/>
            </p:nvSpPr>
            <p:spPr>
              <a:xfrm>
                <a:off x="1421559" y="2707029"/>
                <a:ext cx="197116" cy="276999"/>
              </a:xfrm>
              <a:prstGeom prst="rect">
                <a:avLst/>
              </a:prstGeom>
              <a:noFill/>
            </p:spPr>
            <p:txBody>
              <a:bodyPr wrap="square" rtlCol="0">
                <a:spAutoFit/>
              </a:bodyPr>
              <a:lstStyle/>
              <a:p>
                <a:r>
                  <a:rPr lang="en-US" sz="1200" dirty="0"/>
                  <a:t>0</a:t>
                </a:r>
              </a:p>
            </p:txBody>
          </p:sp>
          <p:sp>
            <p:nvSpPr>
              <p:cNvPr id="134" name="TextBox 133">
                <a:extLst>
                  <a:ext uri="{FF2B5EF4-FFF2-40B4-BE49-F238E27FC236}">
                    <a16:creationId xmlns:a16="http://schemas.microsoft.com/office/drawing/2014/main" id="{53B1AFD5-059D-A0C6-2A63-43EBC1363E2D}"/>
                  </a:ext>
                </a:extLst>
              </p:cNvPr>
              <p:cNvSpPr txBox="1"/>
              <p:nvPr/>
            </p:nvSpPr>
            <p:spPr>
              <a:xfrm>
                <a:off x="1696308" y="2706314"/>
                <a:ext cx="197116" cy="276999"/>
              </a:xfrm>
              <a:prstGeom prst="rect">
                <a:avLst/>
              </a:prstGeom>
              <a:noFill/>
            </p:spPr>
            <p:txBody>
              <a:bodyPr wrap="square" rtlCol="0">
                <a:spAutoFit/>
              </a:bodyPr>
              <a:lstStyle/>
              <a:p>
                <a:r>
                  <a:rPr lang="en-US" sz="1200" dirty="0"/>
                  <a:t>1</a:t>
                </a:r>
              </a:p>
            </p:txBody>
          </p:sp>
          <p:sp>
            <p:nvSpPr>
              <p:cNvPr id="135" name="TextBox 134">
                <a:extLst>
                  <a:ext uri="{FF2B5EF4-FFF2-40B4-BE49-F238E27FC236}">
                    <a16:creationId xmlns:a16="http://schemas.microsoft.com/office/drawing/2014/main" id="{3D9A15A5-C66E-83C5-ED78-49C5B1E459BE}"/>
                  </a:ext>
                </a:extLst>
              </p:cNvPr>
              <p:cNvSpPr txBox="1"/>
              <p:nvPr/>
            </p:nvSpPr>
            <p:spPr>
              <a:xfrm>
                <a:off x="1975451" y="2704228"/>
                <a:ext cx="197116" cy="276999"/>
              </a:xfrm>
              <a:prstGeom prst="rect">
                <a:avLst/>
              </a:prstGeom>
              <a:noFill/>
            </p:spPr>
            <p:txBody>
              <a:bodyPr wrap="square" rtlCol="0">
                <a:spAutoFit/>
              </a:bodyPr>
              <a:lstStyle/>
              <a:p>
                <a:r>
                  <a:rPr lang="en-US" sz="1200" dirty="0"/>
                  <a:t>2</a:t>
                </a:r>
              </a:p>
            </p:txBody>
          </p:sp>
          <p:sp>
            <p:nvSpPr>
              <p:cNvPr id="136" name="TextBox 135">
                <a:extLst>
                  <a:ext uri="{FF2B5EF4-FFF2-40B4-BE49-F238E27FC236}">
                    <a16:creationId xmlns:a16="http://schemas.microsoft.com/office/drawing/2014/main" id="{9A0A8A1D-1E82-9CA0-918E-146DE48B0362}"/>
                  </a:ext>
                </a:extLst>
              </p:cNvPr>
              <p:cNvSpPr txBox="1"/>
              <p:nvPr/>
            </p:nvSpPr>
            <p:spPr>
              <a:xfrm>
                <a:off x="1157273" y="3253463"/>
                <a:ext cx="197116" cy="276999"/>
              </a:xfrm>
              <a:prstGeom prst="rect">
                <a:avLst/>
              </a:prstGeom>
              <a:noFill/>
            </p:spPr>
            <p:txBody>
              <a:bodyPr wrap="square" rtlCol="0">
                <a:spAutoFit/>
              </a:bodyPr>
              <a:lstStyle/>
              <a:p>
                <a:r>
                  <a:rPr lang="en-US" sz="1200" dirty="0"/>
                  <a:t>1</a:t>
                </a:r>
              </a:p>
            </p:txBody>
          </p:sp>
          <p:sp>
            <p:nvSpPr>
              <p:cNvPr id="137" name="TextBox 136">
                <a:extLst>
                  <a:ext uri="{FF2B5EF4-FFF2-40B4-BE49-F238E27FC236}">
                    <a16:creationId xmlns:a16="http://schemas.microsoft.com/office/drawing/2014/main" id="{8A648BAE-C856-0165-AE15-AAD4D5C9083B}"/>
                  </a:ext>
                </a:extLst>
              </p:cNvPr>
              <p:cNvSpPr txBox="1"/>
              <p:nvPr/>
            </p:nvSpPr>
            <p:spPr>
              <a:xfrm>
                <a:off x="1153751" y="3540964"/>
                <a:ext cx="197116" cy="276999"/>
              </a:xfrm>
              <a:prstGeom prst="rect">
                <a:avLst/>
              </a:prstGeom>
              <a:noFill/>
            </p:spPr>
            <p:txBody>
              <a:bodyPr wrap="square" rtlCol="0">
                <a:spAutoFit/>
              </a:bodyPr>
              <a:lstStyle/>
              <a:p>
                <a:r>
                  <a:rPr lang="en-US" sz="1200" dirty="0"/>
                  <a:t>2</a:t>
                </a:r>
              </a:p>
            </p:txBody>
          </p:sp>
        </p:grpSp>
        <p:sp>
          <p:nvSpPr>
            <p:cNvPr id="130" name="TextBox 129">
              <a:extLst>
                <a:ext uri="{FF2B5EF4-FFF2-40B4-BE49-F238E27FC236}">
                  <a16:creationId xmlns:a16="http://schemas.microsoft.com/office/drawing/2014/main" id="{4B04B88B-0347-852B-F0EF-B28B19C4CC59}"/>
                </a:ext>
              </a:extLst>
            </p:cNvPr>
            <p:cNvSpPr txBox="1"/>
            <p:nvPr/>
          </p:nvSpPr>
          <p:spPr>
            <a:xfrm>
              <a:off x="320200" y="2511666"/>
              <a:ext cx="1378326" cy="276999"/>
            </a:xfrm>
            <a:prstGeom prst="rect">
              <a:avLst/>
            </a:prstGeom>
            <a:noFill/>
          </p:spPr>
          <p:txBody>
            <a:bodyPr wrap="none" rtlCol="0">
              <a:spAutoFit/>
            </a:bodyPr>
            <a:lstStyle/>
            <a:p>
              <a:r>
                <a:rPr lang="en-US" sz="1200" dirty="0"/>
                <a:t>Context PE tensor</a:t>
              </a:r>
            </a:p>
          </p:txBody>
        </p:sp>
      </p:grpSp>
      <p:sp>
        <p:nvSpPr>
          <p:cNvPr id="147" name="Oval 146">
            <a:extLst>
              <a:ext uri="{FF2B5EF4-FFF2-40B4-BE49-F238E27FC236}">
                <a16:creationId xmlns:a16="http://schemas.microsoft.com/office/drawing/2014/main" id="{ED27A6DF-0248-D144-3CFE-10898A7AD111}"/>
              </a:ext>
            </a:extLst>
          </p:cNvPr>
          <p:cNvSpPr/>
          <p:nvPr/>
        </p:nvSpPr>
        <p:spPr>
          <a:xfrm>
            <a:off x="9647356" y="4828420"/>
            <a:ext cx="374073" cy="36200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grpSp>
        <p:nvGrpSpPr>
          <p:cNvPr id="148" name="Group 147">
            <a:extLst>
              <a:ext uri="{FF2B5EF4-FFF2-40B4-BE49-F238E27FC236}">
                <a16:creationId xmlns:a16="http://schemas.microsoft.com/office/drawing/2014/main" id="{1E083B3F-6B17-3547-F815-5EF508713BF8}"/>
              </a:ext>
            </a:extLst>
          </p:cNvPr>
          <p:cNvGrpSpPr/>
          <p:nvPr/>
        </p:nvGrpSpPr>
        <p:grpSpPr>
          <a:xfrm>
            <a:off x="9351286" y="5417552"/>
            <a:ext cx="1001428" cy="598310"/>
            <a:chOff x="2493871" y="2168278"/>
            <a:chExt cx="1001428" cy="598310"/>
          </a:xfrm>
        </p:grpSpPr>
        <p:sp>
          <p:nvSpPr>
            <p:cNvPr id="149" name="Rectangle 148">
              <a:extLst>
                <a:ext uri="{FF2B5EF4-FFF2-40B4-BE49-F238E27FC236}">
                  <a16:creationId xmlns:a16="http://schemas.microsoft.com/office/drawing/2014/main" id="{6DC9FD03-E056-6FF7-2971-F66CEE251E81}"/>
                </a:ext>
              </a:extLst>
            </p:cNvPr>
            <p:cNvSpPr/>
            <p:nvPr/>
          </p:nvSpPr>
          <p:spPr>
            <a:xfrm>
              <a:off x="2860194" y="2496532"/>
              <a:ext cx="268782" cy="270056"/>
            </a:xfrm>
            <a:prstGeom prst="rect">
              <a:avLst/>
            </a:prstGeom>
            <a:solidFill>
              <a:srgbClr val="00B0F0"/>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TextBox 149">
              <a:extLst>
                <a:ext uri="{FF2B5EF4-FFF2-40B4-BE49-F238E27FC236}">
                  <a16:creationId xmlns:a16="http://schemas.microsoft.com/office/drawing/2014/main" id="{7A0A7951-4255-D24E-6BAB-6BDB7004CA1A}"/>
                </a:ext>
              </a:extLst>
            </p:cNvPr>
            <p:cNvSpPr txBox="1"/>
            <p:nvPr/>
          </p:nvSpPr>
          <p:spPr>
            <a:xfrm>
              <a:off x="2493871" y="2168278"/>
              <a:ext cx="1001428" cy="276999"/>
            </a:xfrm>
            <a:prstGeom prst="rect">
              <a:avLst/>
            </a:prstGeom>
            <a:noFill/>
          </p:spPr>
          <p:txBody>
            <a:bodyPr wrap="none" rtlCol="0">
              <a:spAutoFit/>
            </a:bodyPr>
            <a:lstStyle/>
            <a:p>
              <a:r>
                <a:rPr lang="en-US" sz="1200" dirty="0"/>
                <a:t>Target token</a:t>
              </a:r>
            </a:p>
          </p:txBody>
        </p:sp>
      </p:grpSp>
      <p:cxnSp>
        <p:nvCxnSpPr>
          <p:cNvPr id="153" name="Straight Arrow Connector 152">
            <a:extLst>
              <a:ext uri="{FF2B5EF4-FFF2-40B4-BE49-F238E27FC236}">
                <a16:creationId xmlns:a16="http://schemas.microsoft.com/office/drawing/2014/main" id="{1CE370B9-8661-45F3-EB43-3E8288A64027}"/>
              </a:ext>
            </a:extLst>
          </p:cNvPr>
          <p:cNvCxnSpPr>
            <a:cxnSpLocks/>
            <a:stCxn id="125" idx="2"/>
            <a:endCxn id="147" idx="7"/>
          </p:cNvCxnSpPr>
          <p:nvPr/>
        </p:nvCxnSpPr>
        <p:spPr>
          <a:xfrm flipH="1">
            <a:off x="9966647" y="3129845"/>
            <a:ext cx="536951" cy="17515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3E7DFF63-D53F-FD26-1981-4FEBA32D0F76}"/>
              </a:ext>
            </a:extLst>
          </p:cNvPr>
          <p:cNvCxnSpPr>
            <a:cxnSpLocks/>
            <a:stCxn id="147" idx="4"/>
            <a:endCxn id="150" idx="0"/>
          </p:cNvCxnSpPr>
          <p:nvPr/>
        </p:nvCxnSpPr>
        <p:spPr>
          <a:xfrm>
            <a:off x="9834393" y="5190425"/>
            <a:ext cx="17607" cy="22712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7F92343A-7CE5-F700-959B-5666FB8F104D}"/>
              </a:ext>
            </a:extLst>
          </p:cNvPr>
          <p:cNvSpPr txBox="1"/>
          <p:nvPr/>
        </p:nvSpPr>
        <p:spPr>
          <a:xfrm>
            <a:off x="7885648" y="2136576"/>
            <a:ext cx="2363147" cy="369332"/>
          </a:xfrm>
          <a:prstGeom prst="rect">
            <a:avLst/>
          </a:prstGeom>
          <a:noFill/>
        </p:spPr>
        <p:txBody>
          <a:bodyPr wrap="none" rtlCol="0">
            <a:spAutoFit/>
          </a:bodyPr>
          <a:lstStyle/>
          <a:p>
            <a:r>
              <a:rPr lang="en-US" dirty="0"/>
              <a:t>Modified Architecture</a:t>
            </a:r>
          </a:p>
        </p:txBody>
      </p:sp>
      <p:sp>
        <p:nvSpPr>
          <p:cNvPr id="156" name="Rectangle 155">
            <a:extLst>
              <a:ext uri="{FF2B5EF4-FFF2-40B4-BE49-F238E27FC236}">
                <a16:creationId xmlns:a16="http://schemas.microsoft.com/office/drawing/2014/main" id="{A7372CCD-6B1D-6AD8-0D1D-F24DBAA2128F}"/>
              </a:ext>
            </a:extLst>
          </p:cNvPr>
          <p:cNvSpPr/>
          <p:nvPr/>
        </p:nvSpPr>
        <p:spPr>
          <a:xfrm>
            <a:off x="8874229" y="4890493"/>
            <a:ext cx="268782" cy="270056"/>
          </a:xfrm>
          <a:prstGeom prst="rect">
            <a:avLst/>
          </a:prstGeom>
          <a:solidFill>
            <a:srgbClr val="92D050"/>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7" name="Straight Arrow Connector 156">
            <a:extLst>
              <a:ext uri="{FF2B5EF4-FFF2-40B4-BE49-F238E27FC236}">
                <a16:creationId xmlns:a16="http://schemas.microsoft.com/office/drawing/2014/main" id="{A5F24AB6-CBCA-93B7-8F9E-81C5B02F8A30}"/>
              </a:ext>
            </a:extLst>
          </p:cNvPr>
          <p:cNvCxnSpPr>
            <a:cxnSpLocks/>
            <a:stCxn id="156" idx="3"/>
            <a:endCxn id="147" idx="2"/>
          </p:cNvCxnSpPr>
          <p:nvPr/>
        </p:nvCxnSpPr>
        <p:spPr>
          <a:xfrm flipV="1">
            <a:off x="9143011" y="5009423"/>
            <a:ext cx="504345" cy="1609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908FB5D6-F42E-4C5F-8746-9AA7BB8E2D2C}"/>
              </a:ext>
            </a:extLst>
          </p:cNvPr>
          <p:cNvGrpSpPr/>
          <p:nvPr/>
        </p:nvGrpSpPr>
        <p:grpSpPr>
          <a:xfrm>
            <a:off x="8311836" y="2529949"/>
            <a:ext cx="1078665" cy="1417749"/>
            <a:chOff x="377805" y="2509606"/>
            <a:chExt cx="1078665" cy="1417749"/>
          </a:xfrm>
        </p:grpSpPr>
        <p:grpSp>
          <p:nvGrpSpPr>
            <p:cNvPr id="174" name="Group 173">
              <a:extLst>
                <a:ext uri="{FF2B5EF4-FFF2-40B4-BE49-F238E27FC236}">
                  <a16:creationId xmlns:a16="http://schemas.microsoft.com/office/drawing/2014/main" id="{560FBEDA-8B05-24EB-CF2D-D1AF3F93869B}"/>
                </a:ext>
              </a:extLst>
            </p:cNvPr>
            <p:cNvGrpSpPr/>
            <p:nvPr/>
          </p:nvGrpSpPr>
          <p:grpSpPr>
            <a:xfrm>
              <a:off x="377805" y="2830690"/>
              <a:ext cx="1078665" cy="1096665"/>
              <a:chOff x="1153751" y="2704228"/>
              <a:chExt cx="1074757" cy="1113735"/>
            </a:xfrm>
          </p:grpSpPr>
          <p:grpSp>
            <p:nvGrpSpPr>
              <p:cNvPr id="176" name="Group 175">
                <a:extLst>
                  <a:ext uri="{FF2B5EF4-FFF2-40B4-BE49-F238E27FC236}">
                    <a16:creationId xmlns:a16="http://schemas.microsoft.com/office/drawing/2014/main" id="{A86431F0-BDC2-1B56-6004-C6E29D3773B8}"/>
                  </a:ext>
                </a:extLst>
              </p:cNvPr>
              <p:cNvGrpSpPr/>
              <p:nvPr/>
            </p:nvGrpSpPr>
            <p:grpSpPr>
              <a:xfrm>
                <a:off x="1425082" y="2981585"/>
                <a:ext cx="803426" cy="823852"/>
                <a:chOff x="1474361" y="3912410"/>
                <a:chExt cx="1240974" cy="1357045"/>
              </a:xfrm>
            </p:grpSpPr>
            <p:sp>
              <p:nvSpPr>
                <p:cNvPr id="183" name="Rectangle 182">
                  <a:extLst>
                    <a:ext uri="{FF2B5EF4-FFF2-40B4-BE49-F238E27FC236}">
                      <a16:creationId xmlns:a16="http://schemas.microsoft.com/office/drawing/2014/main" id="{560BA541-6202-7576-B5C2-E478BF8EF169}"/>
                    </a:ext>
                  </a:extLst>
                </p:cNvPr>
                <p:cNvSpPr/>
                <p:nvPr/>
              </p:nvSpPr>
              <p:spPr>
                <a:xfrm>
                  <a:off x="1474361" y="3914178"/>
                  <a:ext cx="413658" cy="451759"/>
                </a:xfrm>
                <a:prstGeom prst="rect">
                  <a:avLst/>
                </a:prstGeom>
                <a:solidFill>
                  <a:schemeClr val="tx1">
                    <a:lumMod val="85000"/>
                    <a:lumOff val="15000"/>
                  </a:schemeClr>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39FF77A7-3FF0-2715-F69C-6A208CEF5BCA}"/>
                    </a:ext>
                  </a:extLst>
                </p:cNvPr>
                <p:cNvSpPr/>
                <p:nvPr/>
              </p:nvSpPr>
              <p:spPr>
                <a:xfrm>
                  <a:off x="1474361" y="4817696"/>
                  <a:ext cx="413658" cy="451759"/>
                </a:xfrm>
                <a:prstGeom prst="rect">
                  <a:avLst/>
                </a:prstGeom>
                <a:solidFill>
                  <a:schemeClr val="tx1"/>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8B42D25C-6AAA-1C51-C13A-ACC74311DB10}"/>
                    </a:ext>
                  </a:extLst>
                </p:cNvPr>
                <p:cNvSpPr/>
                <p:nvPr/>
              </p:nvSpPr>
              <p:spPr>
                <a:xfrm>
                  <a:off x="1474361" y="4365937"/>
                  <a:ext cx="413658" cy="451759"/>
                </a:xfrm>
                <a:prstGeom prst="rect">
                  <a:avLst/>
                </a:prstGeom>
                <a:solidFill>
                  <a:schemeClr val="tx1">
                    <a:lumMod val="65000"/>
                    <a:lumOff val="35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26C03939-6A80-0BB4-2367-C2DCFB8FFE50}"/>
                    </a:ext>
                  </a:extLst>
                </p:cNvPr>
                <p:cNvSpPr/>
                <p:nvPr/>
              </p:nvSpPr>
              <p:spPr>
                <a:xfrm>
                  <a:off x="1888019" y="3912999"/>
                  <a:ext cx="413658" cy="451759"/>
                </a:xfrm>
                <a:prstGeom prst="rect">
                  <a:avLst/>
                </a:prstGeom>
                <a:solidFill>
                  <a:schemeClr val="tx1">
                    <a:lumMod val="50000"/>
                    <a:lumOff val="50000"/>
                  </a:schemeClr>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Rectangle 186">
                  <a:extLst>
                    <a:ext uri="{FF2B5EF4-FFF2-40B4-BE49-F238E27FC236}">
                      <a16:creationId xmlns:a16="http://schemas.microsoft.com/office/drawing/2014/main" id="{955A50CE-B98F-7A8C-4DDD-95C534842179}"/>
                    </a:ext>
                  </a:extLst>
                </p:cNvPr>
                <p:cNvSpPr/>
                <p:nvPr/>
              </p:nvSpPr>
              <p:spPr>
                <a:xfrm>
                  <a:off x="1888019" y="4365347"/>
                  <a:ext cx="413658" cy="451759"/>
                </a:xfrm>
                <a:prstGeom prst="rect">
                  <a:avLst/>
                </a:prstGeom>
                <a:solidFill>
                  <a:schemeClr val="bg2"/>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894A80F6-0F7B-3650-8C82-1C630E99BCF3}"/>
                    </a:ext>
                  </a:extLst>
                </p:cNvPr>
                <p:cNvSpPr/>
                <p:nvPr/>
              </p:nvSpPr>
              <p:spPr>
                <a:xfrm>
                  <a:off x="1888019" y="4817695"/>
                  <a:ext cx="413658" cy="451759"/>
                </a:xfrm>
                <a:prstGeom prst="rect">
                  <a:avLst/>
                </a:prstGeom>
                <a:solidFill>
                  <a:schemeClr val="tx1">
                    <a:lumMod val="50000"/>
                    <a:lumOff val="50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C3E4B2A4-4807-0388-4F3A-C5BB3850E4CB}"/>
                    </a:ext>
                  </a:extLst>
                </p:cNvPr>
                <p:cNvSpPr/>
                <p:nvPr/>
              </p:nvSpPr>
              <p:spPr>
                <a:xfrm>
                  <a:off x="2301677" y="3912410"/>
                  <a:ext cx="413658" cy="451759"/>
                </a:xfrm>
                <a:prstGeom prst="rect">
                  <a:avLst/>
                </a:prstGeom>
                <a:solidFill>
                  <a:schemeClr val="tx1">
                    <a:lumMod val="75000"/>
                    <a:lumOff val="25000"/>
                  </a:schemeClr>
                </a:solid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Rectangle 189">
                  <a:extLst>
                    <a:ext uri="{FF2B5EF4-FFF2-40B4-BE49-F238E27FC236}">
                      <a16:creationId xmlns:a16="http://schemas.microsoft.com/office/drawing/2014/main" id="{27859A71-EE10-0CDD-B216-8E497D1D0F67}"/>
                    </a:ext>
                  </a:extLst>
                </p:cNvPr>
                <p:cNvSpPr/>
                <p:nvPr/>
              </p:nvSpPr>
              <p:spPr>
                <a:xfrm>
                  <a:off x="2301677" y="4364758"/>
                  <a:ext cx="413658" cy="451759"/>
                </a:xfrm>
                <a:prstGeom prst="rect">
                  <a:avLst/>
                </a:prstGeom>
                <a:solidFill>
                  <a:schemeClr val="tx1">
                    <a:lumMod val="85000"/>
                    <a:lumOff val="15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CD1EC371-2643-B6D0-4D75-F07ABE54E612}"/>
                    </a:ext>
                  </a:extLst>
                </p:cNvPr>
                <p:cNvSpPr/>
                <p:nvPr/>
              </p:nvSpPr>
              <p:spPr>
                <a:xfrm>
                  <a:off x="2301677" y="4817106"/>
                  <a:ext cx="413658" cy="451759"/>
                </a:xfrm>
                <a:prstGeom prst="rect">
                  <a:avLst/>
                </a:prstGeom>
                <a:solidFill>
                  <a:schemeClr val="tx1">
                    <a:lumMod val="65000"/>
                    <a:lumOff val="35000"/>
                  </a:schemeClr>
                </a:solidFill>
                <a:ln w="127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7" name="TextBox 176">
                <a:extLst>
                  <a:ext uri="{FF2B5EF4-FFF2-40B4-BE49-F238E27FC236}">
                    <a16:creationId xmlns:a16="http://schemas.microsoft.com/office/drawing/2014/main" id="{D3E1D777-9774-E992-BEC3-4E8A0E02AA3B}"/>
                  </a:ext>
                </a:extLst>
              </p:cNvPr>
              <p:cNvSpPr txBox="1"/>
              <p:nvPr/>
            </p:nvSpPr>
            <p:spPr>
              <a:xfrm>
                <a:off x="1157273" y="2965360"/>
                <a:ext cx="197116" cy="276999"/>
              </a:xfrm>
              <a:prstGeom prst="rect">
                <a:avLst/>
              </a:prstGeom>
              <a:noFill/>
            </p:spPr>
            <p:txBody>
              <a:bodyPr wrap="square" rtlCol="0">
                <a:spAutoFit/>
              </a:bodyPr>
              <a:lstStyle/>
              <a:p>
                <a:r>
                  <a:rPr lang="en-US" sz="1200" dirty="0"/>
                  <a:t>0</a:t>
                </a:r>
              </a:p>
            </p:txBody>
          </p:sp>
          <p:sp>
            <p:nvSpPr>
              <p:cNvPr id="178" name="TextBox 177">
                <a:extLst>
                  <a:ext uri="{FF2B5EF4-FFF2-40B4-BE49-F238E27FC236}">
                    <a16:creationId xmlns:a16="http://schemas.microsoft.com/office/drawing/2014/main" id="{F8E44706-8AED-F5AE-0955-5571A80A17D6}"/>
                  </a:ext>
                </a:extLst>
              </p:cNvPr>
              <p:cNvSpPr txBox="1"/>
              <p:nvPr/>
            </p:nvSpPr>
            <p:spPr>
              <a:xfrm>
                <a:off x="1421559" y="2707029"/>
                <a:ext cx="197116" cy="276999"/>
              </a:xfrm>
              <a:prstGeom prst="rect">
                <a:avLst/>
              </a:prstGeom>
              <a:noFill/>
            </p:spPr>
            <p:txBody>
              <a:bodyPr wrap="square" rtlCol="0">
                <a:spAutoFit/>
              </a:bodyPr>
              <a:lstStyle/>
              <a:p>
                <a:r>
                  <a:rPr lang="en-US" sz="1200" dirty="0"/>
                  <a:t>0</a:t>
                </a:r>
              </a:p>
            </p:txBody>
          </p:sp>
          <p:sp>
            <p:nvSpPr>
              <p:cNvPr id="179" name="TextBox 178">
                <a:extLst>
                  <a:ext uri="{FF2B5EF4-FFF2-40B4-BE49-F238E27FC236}">
                    <a16:creationId xmlns:a16="http://schemas.microsoft.com/office/drawing/2014/main" id="{E9B6D3C2-71DC-2C34-24F8-FA92C57B1955}"/>
                  </a:ext>
                </a:extLst>
              </p:cNvPr>
              <p:cNvSpPr txBox="1"/>
              <p:nvPr/>
            </p:nvSpPr>
            <p:spPr>
              <a:xfrm>
                <a:off x="1696308" y="2706314"/>
                <a:ext cx="197116" cy="276999"/>
              </a:xfrm>
              <a:prstGeom prst="rect">
                <a:avLst/>
              </a:prstGeom>
              <a:noFill/>
            </p:spPr>
            <p:txBody>
              <a:bodyPr wrap="square" rtlCol="0">
                <a:spAutoFit/>
              </a:bodyPr>
              <a:lstStyle/>
              <a:p>
                <a:r>
                  <a:rPr lang="en-US" sz="1200" dirty="0"/>
                  <a:t>1</a:t>
                </a:r>
              </a:p>
            </p:txBody>
          </p:sp>
          <p:sp>
            <p:nvSpPr>
              <p:cNvPr id="180" name="TextBox 179">
                <a:extLst>
                  <a:ext uri="{FF2B5EF4-FFF2-40B4-BE49-F238E27FC236}">
                    <a16:creationId xmlns:a16="http://schemas.microsoft.com/office/drawing/2014/main" id="{14801583-F597-2C67-792C-1B17A3758235}"/>
                  </a:ext>
                </a:extLst>
              </p:cNvPr>
              <p:cNvSpPr txBox="1"/>
              <p:nvPr/>
            </p:nvSpPr>
            <p:spPr>
              <a:xfrm>
                <a:off x="1975451" y="2704228"/>
                <a:ext cx="197116" cy="276999"/>
              </a:xfrm>
              <a:prstGeom prst="rect">
                <a:avLst/>
              </a:prstGeom>
              <a:noFill/>
            </p:spPr>
            <p:txBody>
              <a:bodyPr wrap="square" rtlCol="0">
                <a:spAutoFit/>
              </a:bodyPr>
              <a:lstStyle/>
              <a:p>
                <a:r>
                  <a:rPr lang="en-US" sz="1200" dirty="0"/>
                  <a:t>2</a:t>
                </a:r>
              </a:p>
            </p:txBody>
          </p:sp>
          <p:sp>
            <p:nvSpPr>
              <p:cNvPr id="181" name="TextBox 180">
                <a:extLst>
                  <a:ext uri="{FF2B5EF4-FFF2-40B4-BE49-F238E27FC236}">
                    <a16:creationId xmlns:a16="http://schemas.microsoft.com/office/drawing/2014/main" id="{26A2E691-9616-897C-B680-050DD20273FE}"/>
                  </a:ext>
                </a:extLst>
              </p:cNvPr>
              <p:cNvSpPr txBox="1"/>
              <p:nvPr/>
            </p:nvSpPr>
            <p:spPr>
              <a:xfrm>
                <a:off x="1157273" y="3253463"/>
                <a:ext cx="197116" cy="276999"/>
              </a:xfrm>
              <a:prstGeom prst="rect">
                <a:avLst/>
              </a:prstGeom>
              <a:noFill/>
            </p:spPr>
            <p:txBody>
              <a:bodyPr wrap="square" rtlCol="0">
                <a:spAutoFit/>
              </a:bodyPr>
              <a:lstStyle/>
              <a:p>
                <a:r>
                  <a:rPr lang="en-US" sz="1200" dirty="0"/>
                  <a:t>1</a:t>
                </a:r>
              </a:p>
            </p:txBody>
          </p:sp>
          <p:sp>
            <p:nvSpPr>
              <p:cNvPr id="182" name="TextBox 181">
                <a:extLst>
                  <a:ext uri="{FF2B5EF4-FFF2-40B4-BE49-F238E27FC236}">
                    <a16:creationId xmlns:a16="http://schemas.microsoft.com/office/drawing/2014/main" id="{06819533-B9CF-800E-39EA-7B3D332B94A5}"/>
                  </a:ext>
                </a:extLst>
              </p:cNvPr>
              <p:cNvSpPr txBox="1"/>
              <p:nvPr/>
            </p:nvSpPr>
            <p:spPr>
              <a:xfrm>
                <a:off x="1153751" y="3540964"/>
                <a:ext cx="197116" cy="276999"/>
              </a:xfrm>
              <a:prstGeom prst="rect">
                <a:avLst/>
              </a:prstGeom>
              <a:noFill/>
            </p:spPr>
            <p:txBody>
              <a:bodyPr wrap="square" rtlCol="0">
                <a:spAutoFit/>
              </a:bodyPr>
              <a:lstStyle/>
              <a:p>
                <a:r>
                  <a:rPr lang="en-US" sz="1200" dirty="0"/>
                  <a:t>2</a:t>
                </a:r>
              </a:p>
            </p:txBody>
          </p:sp>
        </p:grpSp>
        <p:sp>
          <p:nvSpPr>
            <p:cNvPr id="175" name="TextBox 174">
              <a:extLst>
                <a:ext uri="{FF2B5EF4-FFF2-40B4-BE49-F238E27FC236}">
                  <a16:creationId xmlns:a16="http://schemas.microsoft.com/office/drawing/2014/main" id="{BA5F2DD3-1B51-EF26-7AD0-572DB293DE0A}"/>
                </a:ext>
              </a:extLst>
            </p:cNvPr>
            <p:cNvSpPr txBox="1"/>
            <p:nvPr/>
          </p:nvSpPr>
          <p:spPr>
            <a:xfrm>
              <a:off x="611523" y="2509606"/>
              <a:ext cx="809837" cy="276999"/>
            </a:xfrm>
            <a:prstGeom prst="rect">
              <a:avLst/>
            </a:prstGeom>
            <a:noFill/>
          </p:spPr>
          <p:txBody>
            <a:bodyPr wrap="none" rtlCol="0">
              <a:spAutoFit/>
            </a:bodyPr>
            <a:lstStyle/>
            <a:p>
              <a:r>
                <a:rPr lang="en-US" sz="1200" dirty="0"/>
                <a:t>Attention</a:t>
              </a:r>
            </a:p>
          </p:txBody>
        </p:sp>
      </p:grpSp>
      <p:grpSp>
        <p:nvGrpSpPr>
          <p:cNvPr id="199" name="Group 198">
            <a:extLst>
              <a:ext uri="{FF2B5EF4-FFF2-40B4-BE49-F238E27FC236}">
                <a16:creationId xmlns:a16="http://schemas.microsoft.com/office/drawing/2014/main" id="{E54D0891-7793-6ECC-8224-EDE200D7F14E}"/>
              </a:ext>
            </a:extLst>
          </p:cNvPr>
          <p:cNvGrpSpPr/>
          <p:nvPr/>
        </p:nvGrpSpPr>
        <p:grpSpPr>
          <a:xfrm>
            <a:off x="7891586" y="4223856"/>
            <a:ext cx="374073" cy="418397"/>
            <a:chOff x="7310043" y="4227454"/>
            <a:chExt cx="374073" cy="418397"/>
          </a:xfrm>
        </p:grpSpPr>
        <p:sp>
          <p:nvSpPr>
            <p:cNvPr id="197" name="Oval 196">
              <a:extLst>
                <a:ext uri="{FF2B5EF4-FFF2-40B4-BE49-F238E27FC236}">
                  <a16:creationId xmlns:a16="http://schemas.microsoft.com/office/drawing/2014/main" id="{5F2E2D3C-F8BC-B0E1-2D8B-CA41A29BA401}"/>
                </a:ext>
              </a:extLst>
            </p:cNvPr>
            <p:cNvSpPr/>
            <p:nvPr/>
          </p:nvSpPr>
          <p:spPr>
            <a:xfrm>
              <a:off x="7310043" y="4227454"/>
              <a:ext cx="374073" cy="36439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8" name="TextBox 197">
              <a:extLst>
                <a:ext uri="{FF2B5EF4-FFF2-40B4-BE49-F238E27FC236}">
                  <a16:creationId xmlns:a16="http://schemas.microsoft.com/office/drawing/2014/main" id="{7F184880-8D38-26BA-B07F-012C71F24C7D}"/>
                </a:ext>
              </a:extLst>
            </p:cNvPr>
            <p:cNvSpPr txBox="1"/>
            <p:nvPr/>
          </p:nvSpPr>
          <p:spPr>
            <a:xfrm>
              <a:off x="7350244" y="4276519"/>
              <a:ext cx="293670" cy="369332"/>
            </a:xfrm>
            <a:prstGeom prst="rect">
              <a:avLst/>
            </a:prstGeom>
            <a:noFill/>
          </p:spPr>
          <p:txBody>
            <a:bodyPr wrap="none" rtlCol="0">
              <a:spAutoFit/>
            </a:bodyPr>
            <a:lstStyle/>
            <a:p>
              <a:r>
                <a:rPr lang="en-US" dirty="0"/>
                <a:t>*</a:t>
              </a:r>
            </a:p>
          </p:txBody>
        </p:sp>
      </p:grpSp>
      <p:grpSp>
        <p:nvGrpSpPr>
          <p:cNvPr id="201" name="Group 200">
            <a:extLst>
              <a:ext uri="{FF2B5EF4-FFF2-40B4-BE49-F238E27FC236}">
                <a16:creationId xmlns:a16="http://schemas.microsoft.com/office/drawing/2014/main" id="{26A9080B-A14B-CBC5-DB7D-F8D03A1D826A}"/>
              </a:ext>
            </a:extLst>
          </p:cNvPr>
          <p:cNvGrpSpPr/>
          <p:nvPr/>
        </p:nvGrpSpPr>
        <p:grpSpPr>
          <a:xfrm>
            <a:off x="7872131" y="4808790"/>
            <a:ext cx="470838" cy="433461"/>
            <a:chOff x="7310043" y="4227454"/>
            <a:chExt cx="408034" cy="380458"/>
          </a:xfrm>
        </p:grpSpPr>
        <p:sp>
          <p:nvSpPr>
            <p:cNvPr id="202" name="Oval 201">
              <a:extLst>
                <a:ext uri="{FF2B5EF4-FFF2-40B4-BE49-F238E27FC236}">
                  <a16:creationId xmlns:a16="http://schemas.microsoft.com/office/drawing/2014/main" id="{9F2CDFA9-49BF-7EB9-68DF-6738E4918D4D}"/>
                </a:ext>
              </a:extLst>
            </p:cNvPr>
            <p:cNvSpPr/>
            <p:nvPr/>
          </p:nvSpPr>
          <p:spPr>
            <a:xfrm>
              <a:off x="7310043" y="4227454"/>
              <a:ext cx="374073" cy="36439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03" name="TextBox 202">
              <a:extLst>
                <a:ext uri="{FF2B5EF4-FFF2-40B4-BE49-F238E27FC236}">
                  <a16:creationId xmlns:a16="http://schemas.microsoft.com/office/drawing/2014/main" id="{26896540-3595-4350-9A93-56E007E94E35}"/>
                </a:ext>
              </a:extLst>
            </p:cNvPr>
            <p:cNvSpPr txBox="1"/>
            <p:nvPr/>
          </p:nvSpPr>
          <p:spPr>
            <a:xfrm>
              <a:off x="7365095" y="4238580"/>
              <a:ext cx="352982" cy="369332"/>
            </a:xfrm>
            <a:prstGeom prst="rect">
              <a:avLst/>
            </a:prstGeom>
            <a:noFill/>
          </p:spPr>
          <p:txBody>
            <a:bodyPr wrap="none" rtlCol="0">
              <a:spAutoFit/>
            </a:bodyPr>
            <a:lstStyle/>
            <a:p>
              <a:r>
                <a:rPr lang="en-US" dirty="0"/>
                <a:t>⅀</a:t>
              </a:r>
            </a:p>
          </p:txBody>
        </p:sp>
      </p:grpSp>
      <p:cxnSp>
        <p:nvCxnSpPr>
          <p:cNvPr id="210" name="Straight Arrow Connector 209">
            <a:extLst>
              <a:ext uri="{FF2B5EF4-FFF2-40B4-BE49-F238E27FC236}">
                <a16:creationId xmlns:a16="http://schemas.microsoft.com/office/drawing/2014/main" id="{76676649-35FC-60E5-11E9-D5A2147D3ED7}"/>
              </a:ext>
            </a:extLst>
          </p:cNvPr>
          <p:cNvCxnSpPr>
            <a:cxnSpLocks/>
            <a:stCxn id="143" idx="2"/>
            <a:endCxn id="197" idx="2"/>
          </p:cNvCxnSpPr>
          <p:nvPr/>
        </p:nvCxnSpPr>
        <p:spPr>
          <a:xfrm>
            <a:off x="7382786" y="3957045"/>
            <a:ext cx="508800" cy="44900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a:extLst>
              <a:ext uri="{FF2B5EF4-FFF2-40B4-BE49-F238E27FC236}">
                <a16:creationId xmlns:a16="http://schemas.microsoft.com/office/drawing/2014/main" id="{69FABE0E-6E67-4245-EC99-A89298504AE8}"/>
              </a:ext>
            </a:extLst>
          </p:cNvPr>
          <p:cNvCxnSpPr>
            <a:cxnSpLocks/>
            <a:stCxn id="188" idx="2"/>
            <a:endCxn id="197" idx="6"/>
          </p:cNvCxnSpPr>
          <p:nvPr/>
        </p:nvCxnSpPr>
        <p:spPr>
          <a:xfrm flipH="1">
            <a:off x="8265659" y="3935363"/>
            <a:ext cx="721668" cy="47069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EE75315A-45AC-9FB8-A633-8E22D37DB5AB}"/>
              </a:ext>
            </a:extLst>
          </p:cNvPr>
          <p:cNvCxnSpPr>
            <a:cxnSpLocks/>
            <a:stCxn id="197" idx="4"/>
            <a:endCxn id="202" idx="0"/>
          </p:cNvCxnSpPr>
          <p:nvPr/>
        </p:nvCxnSpPr>
        <p:spPr>
          <a:xfrm>
            <a:off x="8078623" y="4588250"/>
            <a:ext cx="9333" cy="22054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8E27DA63-E812-0439-603E-4437A35E8A43}"/>
              </a:ext>
            </a:extLst>
          </p:cNvPr>
          <p:cNvCxnSpPr>
            <a:cxnSpLocks/>
            <a:stCxn id="202" idx="6"/>
            <a:endCxn id="156" idx="1"/>
          </p:cNvCxnSpPr>
          <p:nvPr/>
        </p:nvCxnSpPr>
        <p:spPr>
          <a:xfrm>
            <a:off x="8303781" y="5016370"/>
            <a:ext cx="570448" cy="91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9465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CA5BB7-3445-5994-B6FB-D03AE881A823}"/>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45D2608-D5F0-26E4-35B7-0E62378221B6}"/>
              </a:ext>
            </a:extLst>
          </p:cNvPr>
          <p:cNvSpPr>
            <a:spLocks noGrp="1"/>
          </p:cNvSpPr>
          <p:nvPr>
            <p:ph type="title"/>
          </p:nvPr>
        </p:nvSpPr>
        <p:spPr>
          <a:xfrm>
            <a:off x="685800" y="899025"/>
            <a:ext cx="4177602" cy="1221178"/>
          </a:xfrm>
        </p:spPr>
        <p:txBody>
          <a:bodyPr vert="horz" lIns="91440" tIns="45720" rIns="91440" bIns="45720" rtlCol="0" anchor="t">
            <a:normAutofit/>
          </a:bodyPr>
          <a:lstStyle/>
          <a:p>
            <a:r>
              <a:rPr lang="en-US" sz="3100" dirty="0"/>
              <a:t>Global Modulation </a:t>
            </a:r>
            <a:br>
              <a:rPr lang="en-US" sz="3100" dirty="0"/>
            </a:br>
            <a:r>
              <a:rPr lang="en-US" sz="3100" dirty="0"/>
              <a:t>(TCT architecture)</a:t>
            </a:r>
          </a:p>
        </p:txBody>
      </p:sp>
      <p:cxnSp>
        <p:nvCxnSpPr>
          <p:cNvPr id="14" name="Straight Connector 13">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Graphic 2">
            <a:extLst>
              <a:ext uri="{FF2B5EF4-FFF2-40B4-BE49-F238E27FC236}">
                <a16:creationId xmlns:a16="http://schemas.microsoft.com/office/drawing/2014/main" id="{623AD403-D0C9-7281-6ACE-E1ACF93D64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91159" y="105511"/>
            <a:ext cx="4300841" cy="6752489"/>
          </a:xfrm>
          <a:prstGeom prst="rect">
            <a:avLst/>
          </a:prstGeom>
        </p:spPr>
      </p:pic>
      <p:sp>
        <p:nvSpPr>
          <p:cNvPr id="37" name="TextBox 36">
            <a:extLst>
              <a:ext uri="{FF2B5EF4-FFF2-40B4-BE49-F238E27FC236}">
                <a16:creationId xmlns:a16="http://schemas.microsoft.com/office/drawing/2014/main" id="{8C07FA85-C3BF-80CC-5023-97FB2E12E14E}"/>
              </a:ext>
            </a:extLst>
          </p:cNvPr>
          <p:cNvSpPr txBox="1"/>
          <p:nvPr/>
        </p:nvSpPr>
        <p:spPr>
          <a:xfrm>
            <a:off x="1947333" y="3513667"/>
            <a:ext cx="184731" cy="369332"/>
          </a:xfrm>
          <a:prstGeom prst="rect">
            <a:avLst/>
          </a:prstGeom>
          <a:noFill/>
        </p:spPr>
        <p:txBody>
          <a:bodyPr wrap="none" rtlCol="0">
            <a:spAutoFit/>
          </a:bodyPr>
          <a:lstStyle/>
          <a:p>
            <a:endParaRPr lang="en-US" dirty="0"/>
          </a:p>
        </p:txBody>
      </p:sp>
      <p:sp>
        <p:nvSpPr>
          <p:cNvPr id="2" name="TextBox 1">
            <a:extLst>
              <a:ext uri="{FF2B5EF4-FFF2-40B4-BE49-F238E27FC236}">
                <a16:creationId xmlns:a16="http://schemas.microsoft.com/office/drawing/2014/main" id="{F5BC3452-CE9C-A549-C081-FA6B3B199CC1}"/>
              </a:ext>
            </a:extLst>
          </p:cNvPr>
          <p:cNvSpPr txBox="1"/>
          <p:nvPr/>
        </p:nvSpPr>
        <p:spPr>
          <a:xfrm>
            <a:off x="653903" y="1948259"/>
            <a:ext cx="6583353" cy="4614020"/>
          </a:xfrm>
          <a:prstGeom prst="rect">
            <a:avLst/>
          </a:prstGeom>
          <a:noFill/>
        </p:spPr>
        <p:txBody>
          <a:bodyPr wrap="square" rtlCol="0">
            <a:spAutoFit/>
          </a:bodyPr>
          <a:lstStyle/>
          <a:p>
            <a:pPr algn="just">
              <a:lnSpc>
                <a:spcPct val="150000"/>
              </a:lnSpc>
            </a:pPr>
            <a:r>
              <a:rPr lang="en-US" dirty="0"/>
              <a:t>Global Modulation is an </a:t>
            </a:r>
            <a:r>
              <a:rPr lang="en-US" b="1" dirty="0"/>
              <a:t>element-wise multiplication</a:t>
            </a:r>
            <a:r>
              <a:rPr lang="en-US" dirty="0"/>
              <a:t> between the CRT attention output and the second residual output of the </a:t>
            </a:r>
            <a:r>
              <a:rPr lang="en-US" dirty="0" err="1"/>
              <a:t>ViT</a:t>
            </a:r>
            <a:r>
              <a:rPr lang="en-US" dirty="0"/>
              <a:t> Transformer Architecture.</a:t>
            </a:r>
          </a:p>
          <a:p>
            <a:pPr algn="just">
              <a:lnSpc>
                <a:spcPct val="150000"/>
              </a:lnSpc>
            </a:pPr>
            <a:r>
              <a:rPr lang="en-US" dirty="0"/>
              <a:t>The </a:t>
            </a:r>
            <a:r>
              <a:rPr lang="en-US" b="1" dirty="0"/>
              <a:t>global modulation output </a:t>
            </a:r>
            <a:r>
              <a:rPr lang="en-US" dirty="0"/>
              <a:t>is then </a:t>
            </a:r>
            <a:r>
              <a:rPr lang="en-US" b="1" dirty="0"/>
              <a:t>summed </a:t>
            </a:r>
            <a:r>
              <a:rPr lang="en-US" dirty="0"/>
              <a:t>with </a:t>
            </a:r>
            <a:r>
              <a:rPr lang="en-US" b="1" dirty="0"/>
              <a:t>the final feed-forward layer output</a:t>
            </a:r>
            <a:r>
              <a:rPr lang="en-US" dirty="0"/>
              <a:t>,</a:t>
            </a:r>
            <a:r>
              <a:rPr lang="en-US" b="1" dirty="0"/>
              <a:t> </a:t>
            </a:r>
            <a:r>
              <a:rPr lang="en-US" dirty="0"/>
              <a:t>resulting in the final attention map for that encoder block.</a:t>
            </a:r>
          </a:p>
          <a:p>
            <a:pPr algn="just">
              <a:lnSpc>
                <a:spcPct val="150000"/>
              </a:lnSpc>
            </a:pPr>
            <a:endParaRPr lang="en-US" dirty="0"/>
          </a:p>
          <a:p>
            <a:pPr algn="just">
              <a:lnSpc>
                <a:spcPct val="150000"/>
              </a:lnSpc>
            </a:pPr>
            <a:r>
              <a:rPr lang="en-US" i="1" dirty="0"/>
              <a:t>Note:</a:t>
            </a:r>
          </a:p>
          <a:p>
            <a:pPr algn="just">
              <a:lnSpc>
                <a:spcPct val="150000"/>
              </a:lnSpc>
            </a:pPr>
            <a:r>
              <a:rPr lang="en-US" dirty="0"/>
              <a:t>This operation is only applied </a:t>
            </a:r>
            <a:r>
              <a:rPr lang="en-US" b="1" dirty="0"/>
              <a:t>ONCE</a:t>
            </a:r>
            <a:r>
              <a:rPr lang="en-US" dirty="0"/>
              <a:t> in a </a:t>
            </a:r>
            <a:r>
              <a:rPr lang="en-US" b="1" dirty="0"/>
              <a:t>pre-selected</a:t>
            </a:r>
            <a:r>
              <a:rPr lang="en-US" dirty="0"/>
              <a:t> (user-defined) </a:t>
            </a:r>
            <a:r>
              <a:rPr lang="en-US" dirty="0" err="1"/>
              <a:t>ViT</a:t>
            </a:r>
            <a:r>
              <a:rPr lang="en-US" dirty="0"/>
              <a:t> Encoder Block (other encoder blocks do not have a global modulation operation)</a:t>
            </a:r>
          </a:p>
        </p:txBody>
      </p:sp>
    </p:spTree>
    <p:extLst>
      <p:ext uri="{BB962C8B-B14F-4D97-AF65-F5344CB8AC3E}">
        <p14:creationId xmlns:p14="http://schemas.microsoft.com/office/powerpoint/2010/main" val="2585496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0E5A-D9D2-95B4-1B0C-92B95ABA6C26}"/>
              </a:ext>
            </a:extLst>
          </p:cNvPr>
          <p:cNvSpPr>
            <a:spLocks noGrp="1"/>
          </p:cNvSpPr>
          <p:nvPr>
            <p:ph type="title"/>
          </p:nvPr>
        </p:nvSpPr>
        <p:spPr/>
        <p:txBody>
          <a:bodyPr/>
          <a:lstStyle/>
          <a:p>
            <a:r>
              <a:rPr lang="en-US" dirty="0"/>
              <a:t>Data Augmentation for </a:t>
            </a:r>
            <a:r>
              <a:rPr lang="en-US" dirty="0" err="1"/>
              <a:t>CRTNet</a:t>
            </a:r>
            <a:r>
              <a:rPr lang="en-US" dirty="0"/>
              <a:t> </a:t>
            </a:r>
            <a:r>
              <a:rPr lang="en-US" dirty="0">
                <a:solidFill>
                  <a:srgbClr val="FF0000"/>
                </a:solidFill>
              </a:rPr>
              <a:t>training</a:t>
            </a:r>
          </a:p>
        </p:txBody>
      </p:sp>
      <p:sp>
        <p:nvSpPr>
          <p:cNvPr id="3" name="Content Placeholder 2">
            <a:extLst>
              <a:ext uri="{FF2B5EF4-FFF2-40B4-BE49-F238E27FC236}">
                <a16:creationId xmlns:a16="http://schemas.microsoft.com/office/drawing/2014/main" id="{DF859578-2424-9E7D-2B6E-706042D5702C}"/>
              </a:ext>
            </a:extLst>
          </p:cNvPr>
          <p:cNvSpPr>
            <a:spLocks noGrp="1"/>
          </p:cNvSpPr>
          <p:nvPr>
            <p:ph idx="1"/>
          </p:nvPr>
        </p:nvSpPr>
        <p:spPr>
          <a:xfrm>
            <a:off x="700635" y="2221992"/>
            <a:ext cx="10691265" cy="1701422"/>
          </a:xfrm>
        </p:spPr>
        <p:txBody>
          <a:bodyPr/>
          <a:lstStyle/>
          <a:p>
            <a:r>
              <a:rPr lang="en-US" dirty="0"/>
              <a:t>We select 18 image categories from the COCO dataset </a:t>
            </a:r>
            <a:r>
              <a:rPr lang="en-SG" dirty="0"/>
              <a:t>(Lin et al., 2015) and conduct augmentation on both context and target images.</a:t>
            </a:r>
          </a:p>
          <a:p>
            <a:r>
              <a:rPr lang="en-SG" dirty="0"/>
              <a:t>There are 3 selections for Context Image and 3 selections for Target Image to form 1 image pair.</a:t>
            </a:r>
          </a:p>
          <a:p>
            <a:pPr marL="0" indent="0">
              <a:buNone/>
            </a:pPr>
            <a:endParaRPr lang="en-SG" dirty="0"/>
          </a:p>
        </p:txBody>
      </p:sp>
      <p:sp>
        <p:nvSpPr>
          <p:cNvPr id="5" name="TextBox 4">
            <a:extLst>
              <a:ext uri="{FF2B5EF4-FFF2-40B4-BE49-F238E27FC236}">
                <a16:creationId xmlns:a16="http://schemas.microsoft.com/office/drawing/2014/main" id="{95E92041-607D-25AC-6D5E-19F70B7285D7}"/>
              </a:ext>
            </a:extLst>
          </p:cNvPr>
          <p:cNvSpPr txBox="1"/>
          <p:nvPr/>
        </p:nvSpPr>
        <p:spPr>
          <a:xfrm>
            <a:off x="6966985" y="3429000"/>
            <a:ext cx="4888314" cy="2031325"/>
          </a:xfrm>
          <a:prstGeom prst="rect">
            <a:avLst/>
          </a:prstGeom>
          <a:noFill/>
        </p:spPr>
        <p:txBody>
          <a:bodyPr wrap="square">
            <a:spAutoFit/>
          </a:bodyPr>
          <a:lstStyle/>
          <a:p>
            <a:pPr marL="0" indent="0">
              <a:lnSpc>
                <a:spcPct val="150000"/>
              </a:lnSpc>
              <a:buNone/>
            </a:pPr>
            <a:r>
              <a:rPr lang="en-SG" dirty="0"/>
              <a:t>Target input selections:</a:t>
            </a:r>
          </a:p>
          <a:p>
            <a:pPr marL="342900" indent="-342900">
              <a:lnSpc>
                <a:spcPct val="150000"/>
              </a:lnSpc>
              <a:buAutoNum type="arabicParenBoth"/>
            </a:pPr>
            <a:r>
              <a:rPr lang="en-SG" b="1" dirty="0"/>
              <a:t>Original target</a:t>
            </a:r>
            <a:r>
              <a:rPr lang="en-SG" dirty="0"/>
              <a:t> image.</a:t>
            </a:r>
          </a:p>
          <a:p>
            <a:pPr marL="342900" indent="-342900">
              <a:lnSpc>
                <a:spcPct val="150000"/>
              </a:lnSpc>
              <a:buAutoNum type="arabicParenBoth"/>
            </a:pPr>
            <a:r>
              <a:rPr lang="en-SG" b="1" dirty="0"/>
              <a:t>Random target</a:t>
            </a:r>
            <a:r>
              <a:rPr lang="en-SG" dirty="0"/>
              <a:t> image of the same category.</a:t>
            </a:r>
          </a:p>
          <a:p>
            <a:pPr marL="342900" indent="-342900">
              <a:lnSpc>
                <a:spcPct val="150000"/>
              </a:lnSpc>
              <a:buAutoNum type="arabicParenBoth"/>
            </a:pPr>
            <a:r>
              <a:rPr lang="en-SG" b="1" dirty="0"/>
              <a:t>Black rectangle</a:t>
            </a:r>
            <a:r>
              <a:rPr lang="en-SG" dirty="0"/>
              <a:t> of the target image size.</a:t>
            </a:r>
          </a:p>
          <a:p>
            <a:pPr marL="342900" indent="-342900">
              <a:buAutoNum type="arabicParenBoth"/>
            </a:pPr>
            <a:endParaRPr lang="en-SG" dirty="0"/>
          </a:p>
        </p:txBody>
      </p:sp>
      <p:sp>
        <p:nvSpPr>
          <p:cNvPr id="6" name="TextBox 5">
            <a:extLst>
              <a:ext uri="{FF2B5EF4-FFF2-40B4-BE49-F238E27FC236}">
                <a16:creationId xmlns:a16="http://schemas.microsoft.com/office/drawing/2014/main" id="{541EBC4E-C588-827E-C1ED-119B33032AEF}"/>
              </a:ext>
            </a:extLst>
          </p:cNvPr>
          <p:cNvSpPr txBox="1"/>
          <p:nvPr/>
        </p:nvSpPr>
        <p:spPr>
          <a:xfrm>
            <a:off x="784924" y="3429000"/>
            <a:ext cx="6097772" cy="2862322"/>
          </a:xfrm>
          <a:prstGeom prst="rect">
            <a:avLst/>
          </a:prstGeom>
          <a:noFill/>
        </p:spPr>
        <p:txBody>
          <a:bodyPr wrap="square">
            <a:spAutoFit/>
          </a:bodyPr>
          <a:lstStyle/>
          <a:p>
            <a:pPr marL="0" indent="0">
              <a:lnSpc>
                <a:spcPct val="150000"/>
              </a:lnSpc>
              <a:buNone/>
            </a:pPr>
            <a:r>
              <a:rPr lang="en-SG" dirty="0"/>
              <a:t>Context input selections:</a:t>
            </a:r>
          </a:p>
          <a:p>
            <a:pPr marL="342900" indent="-342900">
              <a:lnSpc>
                <a:spcPct val="150000"/>
              </a:lnSpc>
              <a:buAutoNum type="arabicParenBoth"/>
            </a:pPr>
            <a:r>
              <a:rPr lang="en-SG" b="1" dirty="0"/>
              <a:t>Original context</a:t>
            </a:r>
            <a:r>
              <a:rPr lang="en-SG" dirty="0"/>
              <a:t> image with </a:t>
            </a:r>
            <a:r>
              <a:rPr lang="en-SG" b="1" dirty="0"/>
              <a:t>original target</a:t>
            </a:r>
            <a:r>
              <a:rPr lang="en-SG" dirty="0"/>
              <a:t> image.</a:t>
            </a:r>
          </a:p>
          <a:p>
            <a:pPr marL="342900" indent="-342900">
              <a:lnSpc>
                <a:spcPct val="150000"/>
              </a:lnSpc>
              <a:buAutoNum type="arabicParenBoth"/>
            </a:pPr>
            <a:r>
              <a:rPr lang="en-SG" b="1" dirty="0"/>
              <a:t>Original context</a:t>
            </a:r>
            <a:r>
              <a:rPr lang="en-SG" dirty="0"/>
              <a:t> image with a </a:t>
            </a:r>
            <a:r>
              <a:rPr lang="en-SG" b="1" dirty="0"/>
              <a:t>random target</a:t>
            </a:r>
            <a:r>
              <a:rPr lang="en-SG" dirty="0"/>
              <a:t> of the same category.</a:t>
            </a:r>
          </a:p>
          <a:p>
            <a:pPr marL="342900" indent="-342900">
              <a:lnSpc>
                <a:spcPct val="150000"/>
              </a:lnSpc>
              <a:buAutoNum type="arabicParenBoth"/>
            </a:pPr>
            <a:r>
              <a:rPr lang="en-SG" b="1" dirty="0"/>
              <a:t>Original context</a:t>
            </a:r>
            <a:r>
              <a:rPr lang="en-SG" dirty="0"/>
              <a:t> image with a </a:t>
            </a:r>
            <a:r>
              <a:rPr lang="en-SG" b="1" dirty="0"/>
              <a:t>black rectangle</a:t>
            </a:r>
            <a:r>
              <a:rPr lang="en-SG" dirty="0"/>
              <a:t> covering the target region.</a:t>
            </a:r>
          </a:p>
          <a:p>
            <a:pPr marL="342900" indent="-342900">
              <a:buAutoNum type="arabicParenBoth"/>
            </a:pPr>
            <a:endParaRPr lang="en-SG" dirty="0"/>
          </a:p>
        </p:txBody>
      </p:sp>
      <p:cxnSp>
        <p:nvCxnSpPr>
          <p:cNvPr id="12" name="Straight Connector 11">
            <a:extLst>
              <a:ext uri="{FF2B5EF4-FFF2-40B4-BE49-F238E27FC236}">
                <a16:creationId xmlns:a16="http://schemas.microsoft.com/office/drawing/2014/main" id="{AA2B4E0C-D84B-B27B-CE9D-878B7E0009E1}"/>
              </a:ext>
            </a:extLst>
          </p:cNvPr>
          <p:cNvCxnSpPr>
            <a:cxnSpLocks/>
          </p:cNvCxnSpPr>
          <p:nvPr/>
        </p:nvCxnSpPr>
        <p:spPr>
          <a:xfrm>
            <a:off x="6882696" y="3529584"/>
            <a:ext cx="0" cy="2414016"/>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01272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0F446E-EC8E-C33D-5E4E-8390860EEDDC}"/>
              </a:ext>
            </a:extLst>
          </p:cNvPr>
          <p:cNvPicPr>
            <a:picLocks noChangeAspect="1"/>
          </p:cNvPicPr>
          <p:nvPr/>
        </p:nvPicPr>
        <p:blipFill>
          <a:blip r:embed="rId2"/>
          <a:stretch>
            <a:fillRect/>
          </a:stretch>
        </p:blipFill>
        <p:spPr>
          <a:xfrm>
            <a:off x="4811652" y="821964"/>
            <a:ext cx="6043306" cy="4786618"/>
          </a:xfrm>
          <a:prstGeom prst="rect">
            <a:avLst/>
          </a:prstGeom>
        </p:spPr>
      </p:pic>
      <p:pic>
        <p:nvPicPr>
          <p:cNvPr id="5" name="Picture 4">
            <a:extLst>
              <a:ext uri="{FF2B5EF4-FFF2-40B4-BE49-F238E27FC236}">
                <a16:creationId xmlns:a16="http://schemas.microsoft.com/office/drawing/2014/main" id="{88D31A07-A971-0389-CE03-4532E8DB9E43}"/>
              </a:ext>
            </a:extLst>
          </p:cNvPr>
          <p:cNvPicPr>
            <a:picLocks noChangeAspect="1"/>
          </p:cNvPicPr>
          <p:nvPr/>
        </p:nvPicPr>
        <p:blipFill>
          <a:blip r:embed="rId3"/>
          <a:stretch>
            <a:fillRect/>
          </a:stretch>
        </p:blipFill>
        <p:spPr>
          <a:xfrm>
            <a:off x="798200" y="1205264"/>
            <a:ext cx="2164230" cy="2121794"/>
          </a:xfrm>
          <a:prstGeom prst="rect">
            <a:avLst/>
          </a:prstGeom>
        </p:spPr>
      </p:pic>
      <p:pic>
        <p:nvPicPr>
          <p:cNvPr id="6" name="Picture 5">
            <a:extLst>
              <a:ext uri="{FF2B5EF4-FFF2-40B4-BE49-F238E27FC236}">
                <a16:creationId xmlns:a16="http://schemas.microsoft.com/office/drawing/2014/main" id="{A90C33C3-188D-BBD1-AC85-5D613E7A9DE0}"/>
              </a:ext>
            </a:extLst>
          </p:cNvPr>
          <p:cNvPicPr>
            <a:picLocks noChangeAspect="1"/>
          </p:cNvPicPr>
          <p:nvPr/>
        </p:nvPicPr>
        <p:blipFill>
          <a:blip r:embed="rId4"/>
          <a:stretch>
            <a:fillRect/>
          </a:stretch>
        </p:blipFill>
        <p:spPr>
          <a:xfrm>
            <a:off x="859637" y="3877912"/>
            <a:ext cx="2164230" cy="2121794"/>
          </a:xfrm>
          <a:prstGeom prst="rect">
            <a:avLst/>
          </a:prstGeom>
        </p:spPr>
      </p:pic>
      <p:sp>
        <p:nvSpPr>
          <p:cNvPr id="7" name="TextBox 6">
            <a:extLst>
              <a:ext uri="{FF2B5EF4-FFF2-40B4-BE49-F238E27FC236}">
                <a16:creationId xmlns:a16="http://schemas.microsoft.com/office/drawing/2014/main" id="{D07500EC-C86E-6439-A5F4-9FA5833C3C38}"/>
              </a:ext>
            </a:extLst>
          </p:cNvPr>
          <p:cNvSpPr txBox="1"/>
          <p:nvPr/>
        </p:nvSpPr>
        <p:spPr>
          <a:xfrm>
            <a:off x="1061482" y="858294"/>
            <a:ext cx="1832489" cy="369332"/>
          </a:xfrm>
          <a:prstGeom prst="rect">
            <a:avLst/>
          </a:prstGeom>
          <a:noFill/>
        </p:spPr>
        <p:txBody>
          <a:bodyPr wrap="none" rtlCol="0">
            <a:spAutoFit/>
          </a:bodyPr>
          <a:lstStyle/>
          <a:p>
            <a:r>
              <a:rPr lang="en-US" dirty="0"/>
              <a:t>Original Context</a:t>
            </a:r>
          </a:p>
        </p:txBody>
      </p:sp>
      <p:sp>
        <p:nvSpPr>
          <p:cNvPr id="8" name="TextBox 7">
            <a:extLst>
              <a:ext uri="{FF2B5EF4-FFF2-40B4-BE49-F238E27FC236}">
                <a16:creationId xmlns:a16="http://schemas.microsoft.com/office/drawing/2014/main" id="{10A1320C-17DD-771E-B42D-9D19B60C0F8F}"/>
              </a:ext>
            </a:extLst>
          </p:cNvPr>
          <p:cNvSpPr txBox="1"/>
          <p:nvPr/>
        </p:nvSpPr>
        <p:spPr>
          <a:xfrm>
            <a:off x="1204584" y="3595338"/>
            <a:ext cx="1675074" cy="369332"/>
          </a:xfrm>
          <a:prstGeom prst="rect">
            <a:avLst/>
          </a:prstGeom>
          <a:noFill/>
        </p:spPr>
        <p:txBody>
          <a:bodyPr wrap="none" rtlCol="0">
            <a:spAutoFit/>
          </a:bodyPr>
          <a:lstStyle/>
          <a:p>
            <a:r>
              <a:rPr lang="en-US" dirty="0"/>
              <a:t>Original Target</a:t>
            </a:r>
          </a:p>
        </p:txBody>
      </p:sp>
      <p:sp>
        <p:nvSpPr>
          <p:cNvPr id="9" name="TextBox 8">
            <a:extLst>
              <a:ext uri="{FF2B5EF4-FFF2-40B4-BE49-F238E27FC236}">
                <a16:creationId xmlns:a16="http://schemas.microsoft.com/office/drawing/2014/main" id="{9E3F8AEF-F193-604E-8FB3-426DE57F1E75}"/>
              </a:ext>
            </a:extLst>
          </p:cNvPr>
          <p:cNvSpPr txBox="1"/>
          <p:nvPr/>
        </p:nvSpPr>
        <p:spPr>
          <a:xfrm>
            <a:off x="4920243" y="5666704"/>
            <a:ext cx="6294224" cy="369332"/>
          </a:xfrm>
          <a:prstGeom prst="rect">
            <a:avLst/>
          </a:prstGeom>
          <a:noFill/>
        </p:spPr>
        <p:txBody>
          <a:bodyPr wrap="none" rtlCol="0">
            <a:spAutoFit/>
          </a:bodyPr>
          <a:lstStyle/>
          <a:p>
            <a:r>
              <a:rPr lang="en-US" dirty="0"/>
              <a:t>All the Target and Context combinations for </a:t>
            </a:r>
            <a:r>
              <a:rPr lang="en-US" dirty="0" err="1"/>
              <a:t>CRTNet</a:t>
            </a:r>
            <a:r>
              <a:rPr lang="en-US" dirty="0"/>
              <a:t> Training</a:t>
            </a:r>
          </a:p>
        </p:txBody>
      </p:sp>
      <p:sp>
        <p:nvSpPr>
          <p:cNvPr id="10" name="Rectangle 9">
            <a:extLst>
              <a:ext uri="{FF2B5EF4-FFF2-40B4-BE49-F238E27FC236}">
                <a16:creationId xmlns:a16="http://schemas.microsoft.com/office/drawing/2014/main" id="{30D5305B-CAAB-1E69-251D-4A9947C4AD5E}"/>
              </a:ext>
            </a:extLst>
          </p:cNvPr>
          <p:cNvSpPr/>
          <p:nvPr/>
        </p:nvSpPr>
        <p:spPr>
          <a:xfrm>
            <a:off x="1337043" y="1285472"/>
            <a:ext cx="517394" cy="774064"/>
          </a:xfrm>
          <a:prstGeom prst="rect">
            <a:avLst/>
          </a:prstGeom>
          <a:noFill/>
          <a:ln w="3810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1C9D962B-6314-B25E-995D-CE0A747644F9}"/>
              </a:ext>
            </a:extLst>
          </p:cNvPr>
          <p:cNvSpPr>
            <a:spLocks noGrp="1"/>
          </p:cNvSpPr>
          <p:nvPr>
            <p:ph type="title"/>
          </p:nvPr>
        </p:nvSpPr>
        <p:spPr>
          <a:xfrm>
            <a:off x="702535" y="79649"/>
            <a:ext cx="10691265" cy="1307592"/>
          </a:xfrm>
        </p:spPr>
        <p:txBody>
          <a:bodyPr/>
          <a:lstStyle/>
          <a:p>
            <a:r>
              <a:rPr lang="en-US" dirty="0"/>
              <a:t>Data Augmentation for </a:t>
            </a:r>
            <a:r>
              <a:rPr lang="en-US" dirty="0" err="1"/>
              <a:t>CRTNet</a:t>
            </a:r>
            <a:r>
              <a:rPr lang="en-US" dirty="0"/>
              <a:t> </a:t>
            </a:r>
            <a:r>
              <a:rPr lang="en-US" dirty="0">
                <a:solidFill>
                  <a:srgbClr val="FF0000"/>
                </a:solidFill>
              </a:rPr>
              <a:t>training</a:t>
            </a:r>
          </a:p>
        </p:txBody>
      </p:sp>
    </p:spTree>
    <p:extLst>
      <p:ext uri="{BB962C8B-B14F-4D97-AF65-F5344CB8AC3E}">
        <p14:creationId xmlns:p14="http://schemas.microsoft.com/office/powerpoint/2010/main" val="8679453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8316E-43E5-E710-9A3A-56B360BFE660}"/>
              </a:ext>
            </a:extLst>
          </p:cNvPr>
          <p:cNvSpPr>
            <a:spLocks noGrp="1"/>
          </p:cNvSpPr>
          <p:nvPr>
            <p:ph type="title"/>
          </p:nvPr>
        </p:nvSpPr>
        <p:spPr/>
        <p:txBody>
          <a:bodyPr/>
          <a:lstStyle/>
          <a:p>
            <a:r>
              <a:rPr lang="en-US" dirty="0" err="1"/>
              <a:t>CRTNet</a:t>
            </a:r>
            <a:r>
              <a:rPr lang="en-US" dirty="0"/>
              <a:t> Recognition </a:t>
            </a:r>
            <a:r>
              <a:rPr lang="en-US" dirty="0">
                <a:solidFill>
                  <a:srgbClr val="FF0000"/>
                </a:solidFill>
              </a:rPr>
              <a:t>TEST</a:t>
            </a:r>
            <a:r>
              <a:rPr lang="en-US" dirty="0"/>
              <a:t> Performance</a:t>
            </a:r>
          </a:p>
        </p:txBody>
      </p:sp>
      <p:pic>
        <p:nvPicPr>
          <p:cNvPr id="5" name="Picture 4">
            <a:extLst>
              <a:ext uri="{FF2B5EF4-FFF2-40B4-BE49-F238E27FC236}">
                <a16:creationId xmlns:a16="http://schemas.microsoft.com/office/drawing/2014/main" id="{45640112-313A-68D2-8595-21050221C548}"/>
              </a:ext>
            </a:extLst>
          </p:cNvPr>
          <p:cNvPicPr>
            <a:picLocks noChangeAspect="1"/>
          </p:cNvPicPr>
          <p:nvPr/>
        </p:nvPicPr>
        <p:blipFill>
          <a:blip r:embed="rId2"/>
          <a:stretch>
            <a:fillRect/>
          </a:stretch>
        </p:blipFill>
        <p:spPr>
          <a:xfrm>
            <a:off x="700634" y="1800385"/>
            <a:ext cx="5653211" cy="4321445"/>
          </a:xfrm>
          <a:prstGeom prst="rect">
            <a:avLst/>
          </a:prstGeom>
        </p:spPr>
      </p:pic>
      <p:graphicFrame>
        <p:nvGraphicFramePr>
          <p:cNvPr id="3" name="Table 2">
            <a:extLst>
              <a:ext uri="{FF2B5EF4-FFF2-40B4-BE49-F238E27FC236}">
                <a16:creationId xmlns:a16="http://schemas.microsoft.com/office/drawing/2014/main" id="{BBB7E213-8C6A-FDFB-1C78-982AF1A99CD7}"/>
              </a:ext>
            </a:extLst>
          </p:cNvPr>
          <p:cNvGraphicFramePr>
            <a:graphicFrameLocks noGrp="1"/>
          </p:cNvGraphicFramePr>
          <p:nvPr>
            <p:extLst>
              <p:ext uri="{D42A27DB-BD31-4B8C-83A1-F6EECF244321}">
                <p14:modId xmlns:p14="http://schemas.microsoft.com/office/powerpoint/2010/main" val="2023623960"/>
              </p:ext>
            </p:extLst>
          </p:nvPr>
        </p:nvGraphicFramePr>
        <p:xfrm>
          <a:off x="6705600" y="1950862"/>
          <a:ext cx="4686300" cy="1478138"/>
        </p:xfrm>
        <a:graphic>
          <a:graphicData uri="http://schemas.openxmlformats.org/drawingml/2006/table">
            <a:tbl>
              <a:tblPr firstRow="1" firstCol="1" bandRow="1">
                <a:tableStyleId>{5C22544A-7EE6-4342-B048-85BDC9FD1C3A}</a:tableStyleId>
              </a:tblPr>
              <a:tblGrid>
                <a:gridCol w="971550">
                  <a:extLst>
                    <a:ext uri="{9D8B030D-6E8A-4147-A177-3AD203B41FA5}">
                      <a16:colId xmlns:a16="http://schemas.microsoft.com/office/drawing/2014/main" val="1266745552"/>
                    </a:ext>
                  </a:extLst>
                </a:gridCol>
                <a:gridCol w="1861185">
                  <a:extLst>
                    <a:ext uri="{9D8B030D-6E8A-4147-A177-3AD203B41FA5}">
                      <a16:colId xmlns:a16="http://schemas.microsoft.com/office/drawing/2014/main" val="573536048"/>
                    </a:ext>
                  </a:extLst>
                </a:gridCol>
                <a:gridCol w="1853565">
                  <a:extLst>
                    <a:ext uri="{9D8B030D-6E8A-4147-A177-3AD203B41FA5}">
                      <a16:colId xmlns:a16="http://schemas.microsoft.com/office/drawing/2014/main" val="3123355784"/>
                    </a:ext>
                  </a:extLst>
                </a:gridCol>
              </a:tblGrid>
              <a:tr h="762910">
                <a:tc>
                  <a:txBody>
                    <a:bodyPr/>
                    <a:lstStyle/>
                    <a:p>
                      <a:pPr algn="ctr">
                        <a:lnSpc>
                          <a:spcPct val="150000"/>
                        </a:lnSpc>
                        <a:buNone/>
                      </a:pPr>
                      <a:r>
                        <a:rPr lang="vi-VN" sz="1200" kern="100">
                          <a:effectLst/>
                        </a:rPr>
                        <a:t>Epoch</a:t>
                      </a:r>
                      <a:endParaRPr lang="en-SG" sz="1200" kern="100">
                        <a:effectLst/>
                        <a:latin typeface="Times New Roman" panose="02020603050405020304" pitchFamily="18" charset="0"/>
                        <a:ea typeface="Aptos" panose="020B0004020202020204" pitchFamily="34" charset="0"/>
                        <a:cs typeface="Times New Roman (Body CS)"/>
                      </a:endParaRPr>
                    </a:p>
                  </a:txBody>
                  <a:tcPr marL="68580" marR="68580" marT="0" marB="0" anchor="ctr"/>
                </a:tc>
                <a:tc>
                  <a:txBody>
                    <a:bodyPr/>
                    <a:lstStyle/>
                    <a:p>
                      <a:pPr algn="ctr">
                        <a:lnSpc>
                          <a:spcPct val="150000"/>
                        </a:lnSpc>
                        <a:buNone/>
                      </a:pPr>
                      <a:r>
                        <a:rPr lang="vi-VN" sz="1200" kern="100">
                          <a:effectLst/>
                        </a:rPr>
                        <a:t>Test Accuracy</a:t>
                      </a:r>
                      <a:endParaRPr lang="en-SG" sz="1200" kern="100">
                        <a:effectLst/>
                      </a:endParaRPr>
                    </a:p>
                    <a:p>
                      <a:pPr algn="ctr">
                        <a:lnSpc>
                          <a:spcPct val="150000"/>
                        </a:lnSpc>
                        <a:buNone/>
                      </a:pPr>
                      <a:r>
                        <a:rPr lang="en-US" sz="1200" kern="100">
                          <a:effectLst/>
                        </a:rPr>
                        <a:t>(CRT cross-attention PE)</a:t>
                      </a:r>
                      <a:endParaRPr lang="en-SG" sz="1200" kern="100">
                        <a:effectLst/>
                        <a:latin typeface="Times New Roman" panose="02020603050405020304" pitchFamily="18" charset="0"/>
                        <a:ea typeface="Aptos" panose="020B0004020202020204" pitchFamily="34" charset="0"/>
                        <a:cs typeface="Times New Roman (Body CS)"/>
                      </a:endParaRPr>
                    </a:p>
                  </a:txBody>
                  <a:tcPr marL="68580" marR="68580" marT="0" marB="0" anchor="ctr"/>
                </a:tc>
                <a:tc>
                  <a:txBody>
                    <a:bodyPr/>
                    <a:lstStyle/>
                    <a:p>
                      <a:pPr algn="ctr">
                        <a:lnSpc>
                          <a:spcPct val="150000"/>
                        </a:lnSpc>
                        <a:buNone/>
                      </a:pPr>
                      <a:r>
                        <a:rPr lang="vi-VN" sz="1200" kern="100">
                          <a:effectLst/>
                        </a:rPr>
                        <a:t>Test Accuracy</a:t>
                      </a:r>
                      <a:endParaRPr lang="en-SG" sz="1200" kern="100">
                        <a:effectLst/>
                      </a:endParaRPr>
                    </a:p>
                    <a:p>
                      <a:pPr algn="ctr">
                        <a:lnSpc>
                          <a:spcPct val="150000"/>
                        </a:lnSpc>
                        <a:buNone/>
                      </a:pPr>
                      <a:r>
                        <a:rPr lang="en-US" sz="1200" kern="100">
                          <a:effectLst/>
                        </a:rPr>
                        <a:t>(CRT bbox-guided PE)</a:t>
                      </a:r>
                      <a:endParaRPr lang="en-SG" sz="1200" kern="100">
                        <a:effectLst/>
                        <a:latin typeface="Times New Roman" panose="02020603050405020304" pitchFamily="18" charset="0"/>
                        <a:ea typeface="Aptos" panose="020B0004020202020204" pitchFamily="34" charset="0"/>
                        <a:cs typeface="Times New Roman (Body CS)"/>
                      </a:endParaRPr>
                    </a:p>
                  </a:txBody>
                  <a:tcPr marL="68580" marR="68580" marT="0" marB="0" anchor="ctr"/>
                </a:tc>
                <a:extLst>
                  <a:ext uri="{0D108BD9-81ED-4DB2-BD59-A6C34878D82A}">
                    <a16:rowId xmlns:a16="http://schemas.microsoft.com/office/drawing/2014/main" val="1794581064"/>
                  </a:ext>
                </a:extLst>
              </a:tr>
              <a:tr h="357614">
                <a:tc>
                  <a:txBody>
                    <a:bodyPr/>
                    <a:lstStyle/>
                    <a:p>
                      <a:pPr algn="ctr">
                        <a:lnSpc>
                          <a:spcPct val="150000"/>
                        </a:lnSpc>
                        <a:buNone/>
                      </a:pPr>
                      <a:r>
                        <a:rPr lang="vi-VN" sz="1200" kern="100">
                          <a:effectLst/>
                        </a:rPr>
                        <a:t>7</a:t>
                      </a:r>
                      <a:endParaRPr lang="en-SG" sz="1200" kern="100">
                        <a:effectLst/>
                        <a:latin typeface="Times New Roman" panose="02020603050405020304" pitchFamily="18" charset="0"/>
                        <a:ea typeface="Aptos" panose="020B0004020202020204" pitchFamily="34" charset="0"/>
                        <a:cs typeface="Times New Roman (Body CS)"/>
                      </a:endParaRPr>
                    </a:p>
                  </a:txBody>
                  <a:tcPr marL="68580" marR="68580" marT="0" marB="0" anchor="ctr"/>
                </a:tc>
                <a:tc>
                  <a:txBody>
                    <a:bodyPr/>
                    <a:lstStyle/>
                    <a:p>
                      <a:pPr algn="ctr">
                        <a:lnSpc>
                          <a:spcPct val="150000"/>
                        </a:lnSpc>
                        <a:buNone/>
                      </a:pPr>
                      <a:r>
                        <a:rPr lang="vi-VN" sz="1200" kern="100">
                          <a:effectLst/>
                        </a:rPr>
                        <a:t>7</a:t>
                      </a:r>
                      <a:r>
                        <a:rPr lang="en-US" sz="1200" kern="100">
                          <a:effectLst/>
                        </a:rPr>
                        <a:t>5</a:t>
                      </a:r>
                      <a:r>
                        <a:rPr lang="vi-VN" sz="1200" kern="100">
                          <a:effectLst/>
                        </a:rPr>
                        <a:t>.</a:t>
                      </a:r>
                      <a:r>
                        <a:rPr lang="en-US" sz="1200" kern="100">
                          <a:effectLst/>
                        </a:rPr>
                        <a:t>44</a:t>
                      </a:r>
                      <a:r>
                        <a:rPr lang="vi-VN" sz="1200" kern="100">
                          <a:effectLst/>
                        </a:rPr>
                        <a:t>%</a:t>
                      </a:r>
                      <a:endParaRPr lang="en-SG" sz="1200" kern="100">
                        <a:effectLst/>
                        <a:latin typeface="Times New Roman" panose="02020603050405020304" pitchFamily="18" charset="0"/>
                        <a:ea typeface="Aptos" panose="020B0004020202020204" pitchFamily="34" charset="0"/>
                        <a:cs typeface="Times New Roman (Body CS)"/>
                      </a:endParaRPr>
                    </a:p>
                  </a:txBody>
                  <a:tcPr marL="68580" marR="68580" marT="0" marB="0" anchor="ctr"/>
                </a:tc>
                <a:tc>
                  <a:txBody>
                    <a:bodyPr/>
                    <a:lstStyle/>
                    <a:p>
                      <a:pPr algn="ctr">
                        <a:lnSpc>
                          <a:spcPct val="150000"/>
                        </a:lnSpc>
                        <a:buNone/>
                      </a:pPr>
                      <a:r>
                        <a:rPr lang="vi-VN" sz="1200" kern="100">
                          <a:effectLst/>
                        </a:rPr>
                        <a:t>70.38%</a:t>
                      </a:r>
                      <a:endParaRPr lang="en-SG" sz="1200" kern="100">
                        <a:effectLst/>
                        <a:latin typeface="Times New Roman" panose="02020603050405020304" pitchFamily="18" charset="0"/>
                        <a:ea typeface="Aptos" panose="020B0004020202020204" pitchFamily="34" charset="0"/>
                        <a:cs typeface="Times New Roman (Body CS)"/>
                      </a:endParaRPr>
                    </a:p>
                  </a:txBody>
                  <a:tcPr marL="68580" marR="68580" marT="0" marB="0"/>
                </a:tc>
                <a:extLst>
                  <a:ext uri="{0D108BD9-81ED-4DB2-BD59-A6C34878D82A}">
                    <a16:rowId xmlns:a16="http://schemas.microsoft.com/office/drawing/2014/main" val="1412339994"/>
                  </a:ext>
                </a:extLst>
              </a:tr>
              <a:tr h="357614">
                <a:tc>
                  <a:txBody>
                    <a:bodyPr/>
                    <a:lstStyle/>
                    <a:p>
                      <a:pPr algn="ctr">
                        <a:lnSpc>
                          <a:spcPct val="150000"/>
                        </a:lnSpc>
                        <a:buNone/>
                      </a:pPr>
                      <a:r>
                        <a:rPr lang="en-US" sz="1200" kern="100">
                          <a:effectLst/>
                        </a:rPr>
                        <a:t>24</a:t>
                      </a:r>
                      <a:endParaRPr lang="en-SG" sz="1200" kern="100">
                        <a:effectLst/>
                        <a:latin typeface="Times New Roman" panose="02020603050405020304" pitchFamily="18" charset="0"/>
                        <a:ea typeface="Aptos" panose="020B0004020202020204" pitchFamily="34" charset="0"/>
                        <a:cs typeface="Times New Roman (Body CS)"/>
                      </a:endParaRPr>
                    </a:p>
                  </a:txBody>
                  <a:tcPr marL="68580" marR="68580" marT="0" marB="0" anchor="ctr"/>
                </a:tc>
                <a:tc>
                  <a:txBody>
                    <a:bodyPr/>
                    <a:lstStyle/>
                    <a:p>
                      <a:pPr algn="ctr">
                        <a:lnSpc>
                          <a:spcPct val="150000"/>
                        </a:lnSpc>
                        <a:buNone/>
                      </a:pPr>
                      <a:r>
                        <a:rPr lang="en-US" sz="1200" kern="100">
                          <a:effectLst/>
                        </a:rPr>
                        <a:t>85.31</a:t>
                      </a:r>
                      <a:r>
                        <a:rPr lang="vi-VN" sz="1200" kern="100">
                          <a:effectLst/>
                        </a:rPr>
                        <a:t>%</a:t>
                      </a:r>
                      <a:endParaRPr lang="en-SG" sz="1200" kern="100">
                        <a:effectLst/>
                        <a:latin typeface="Times New Roman" panose="02020603050405020304" pitchFamily="18" charset="0"/>
                        <a:ea typeface="Aptos" panose="020B0004020202020204" pitchFamily="34" charset="0"/>
                        <a:cs typeface="Times New Roman (Body CS)"/>
                      </a:endParaRPr>
                    </a:p>
                  </a:txBody>
                  <a:tcPr marL="68580" marR="68580" marT="0" marB="0" anchor="ctr"/>
                </a:tc>
                <a:tc>
                  <a:txBody>
                    <a:bodyPr/>
                    <a:lstStyle/>
                    <a:p>
                      <a:pPr algn="ctr">
                        <a:lnSpc>
                          <a:spcPct val="150000"/>
                        </a:lnSpc>
                        <a:buNone/>
                      </a:pPr>
                      <a:r>
                        <a:rPr lang="en-US" sz="1200" kern="100" dirty="0">
                          <a:effectLst/>
                        </a:rPr>
                        <a:t>71.56</a:t>
                      </a:r>
                      <a:r>
                        <a:rPr lang="vi-VN" sz="1200" kern="100" dirty="0">
                          <a:effectLst/>
                        </a:rPr>
                        <a:t>%</a:t>
                      </a:r>
                      <a:endParaRPr lang="en-SG" sz="1200" kern="100" dirty="0">
                        <a:effectLst/>
                        <a:latin typeface="Times New Roman" panose="02020603050405020304" pitchFamily="18" charset="0"/>
                        <a:ea typeface="Aptos" panose="020B0004020202020204" pitchFamily="34" charset="0"/>
                        <a:cs typeface="Times New Roman (Body CS)"/>
                      </a:endParaRPr>
                    </a:p>
                  </a:txBody>
                  <a:tcPr marL="68580" marR="68580" marT="0" marB="0"/>
                </a:tc>
                <a:extLst>
                  <a:ext uri="{0D108BD9-81ED-4DB2-BD59-A6C34878D82A}">
                    <a16:rowId xmlns:a16="http://schemas.microsoft.com/office/drawing/2014/main" val="2889946817"/>
                  </a:ext>
                </a:extLst>
              </a:tr>
            </a:tbl>
          </a:graphicData>
        </a:graphic>
      </p:graphicFrame>
    </p:spTree>
    <p:extLst>
      <p:ext uri="{BB962C8B-B14F-4D97-AF65-F5344CB8AC3E}">
        <p14:creationId xmlns:p14="http://schemas.microsoft.com/office/powerpoint/2010/main" val="3430885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80C05A-2F8A-DD4B-E8AD-B96737F49F53}"/>
              </a:ext>
            </a:extLst>
          </p:cNvPr>
          <p:cNvSpPr>
            <a:spLocks noGrp="1"/>
          </p:cNvSpPr>
          <p:nvPr>
            <p:ph type="title"/>
          </p:nvPr>
        </p:nvSpPr>
        <p:spPr>
          <a:xfrm>
            <a:off x="685799" y="899024"/>
            <a:ext cx="4928191" cy="954106"/>
          </a:xfrm>
        </p:spPr>
        <p:txBody>
          <a:bodyPr vert="horz" lIns="91440" tIns="45720" rIns="91440" bIns="45720" rtlCol="0" anchor="t">
            <a:normAutofit fontScale="90000"/>
          </a:bodyPr>
          <a:lstStyle/>
          <a:p>
            <a:r>
              <a:rPr lang="en-US" dirty="0"/>
              <a:t>Experiment</a:t>
            </a:r>
            <a:br>
              <a:rPr lang="en-US" dirty="0"/>
            </a:br>
            <a:br>
              <a:rPr lang="en-US" dirty="0"/>
            </a:br>
            <a:endParaRPr lang="en-US" dirty="0"/>
          </a:p>
        </p:txBody>
      </p:sp>
      <p:cxnSp>
        <p:nvCxnSpPr>
          <p:cNvPr id="21" name="Straight Connector 2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Graphic 21" descr="Microscope">
            <a:extLst>
              <a:ext uri="{FF2B5EF4-FFF2-40B4-BE49-F238E27FC236}">
                <a16:creationId xmlns:a16="http://schemas.microsoft.com/office/drawing/2014/main" id="{C36D3089-A5FD-63B3-6C54-1F298D0504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10149" y="723901"/>
            <a:ext cx="5410200" cy="5410200"/>
          </a:xfrm>
          <a:prstGeom prst="rect">
            <a:avLst/>
          </a:prstGeom>
        </p:spPr>
      </p:pic>
      <p:sp>
        <p:nvSpPr>
          <p:cNvPr id="6" name="TextBox 5">
            <a:extLst>
              <a:ext uri="{FF2B5EF4-FFF2-40B4-BE49-F238E27FC236}">
                <a16:creationId xmlns:a16="http://schemas.microsoft.com/office/drawing/2014/main" id="{1742E718-8580-0A46-F99C-173816424208}"/>
              </a:ext>
            </a:extLst>
          </p:cNvPr>
          <p:cNvSpPr txBox="1"/>
          <p:nvPr/>
        </p:nvSpPr>
        <p:spPr>
          <a:xfrm>
            <a:off x="685798" y="1818166"/>
            <a:ext cx="4928191" cy="954107"/>
          </a:xfrm>
          <a:prstGeom prst="rect">
            <a:avLst/>
          </a:prstGeom>
          <a:noFill/>
        </p:spPr>
        <p:txBody>
          <a:bodyPr wrap="square" rtlCol="0">
            <a:spAutoFit/>
          </a:bodyPr>
          <a:lstStyle/>
          <a:p>
            <a:r>
              <a:rPr lang="en-US" sz="2800" dirty="0">
                <a:latin typeface="Apple Braille" pitchFamily="2" charset="0"/>
              </a:rPr>
              <a:t>TCT model performance on different benchmark datasets</a:t>
            </a:r>
          </a:p>
        </p:txBody>
      </p:sp>
    </p:spTree>
    <p:extLst>
      <p:ext uri="{BB962C8B-B14F-4D97-AF65-F5344CB8AC3E}">
        <p14:creationId xmlns:p14="http://schemas.microsoft.com/office/powerpoint/2010/main" val="1220955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D649B-3E73-6530-FA51-480D87A2C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CE65D-1BD9-1D1E-9E95-712316C07646}"/>
              </a:ext>
            </a:extLst>
          </p:cNvPr>
          <p:cNvSpPr>
            <a:spLocks noGrp="1"/>
          </p:cNvSpPr>
          <p:nvPr>
            <p:ph type="title"/>
          </p:nvPr>
        </p:nvSpPr>
        <p:spPr/>
        <p:txBody>
          <a:bodyPr>
            <a:normAutofit fontScale="90000"/>
          </a:bodyPr>
          <a:lstStyle/>
          <a:p>
            <a:r>
              <a:rPr lang="en-US" dirty="0"/>
              <a:t>Benchmark dataset COCO-Search18 (Lin et al., 2015)</a:t>
            </a:r>
            <a:r>
              <a:rPr lang="en-SG" dirty="0"/>
              <a:t> </a:t>
            </a:r>
            <a:endParaRPr lang="en-US" dirty="0"/>
          </a:p>
        </p:txBody>
      </p:sp>
      <p:pic>
        <p:nvPicPr>
          <p:cNvPr id="4" name="Picture 3">
            <a:extLst>
              <a:ext uri="{FF2B5EF4-FFF2-40B4-BE49-F238E27FC236}">
                <a16:creationId xmlns:a16="http://schemas.microsoft.com/office/drawing/2014/main" id="{F95405A4-087E-F6D6-1F4E-0A73F543A635}"/>
              </a:ext>
            </a:extLst>
          </p:cNvPr>
          <p:cNvPicPr>
            <a:picLocks noChangeAspect="1"/>
          </p:cNvPicPr>
          <p:nvPr/>
        </p:nvPicPr>
        <p:blipFill>
          <a:blip r:embed="rId2"/>
          <a:stretch>
            <a:fillRect/>
          </a:stretch>
        </p:blipFill>
        <p:spPr>
          <a:xfrm>
            <a:off x="794572" y="2067926"/>
            <a:ext cx="5072937" cy="3875674"/>
          </a:xfrm>
          <a:prstGeom prst="rect">
            <a:avLst/>
          </a:prstGeom>
        </p:spPr>
      </p:pic>
    </p:spTree>
    <p:extLst>
      <p:ext uri="{BB962C8B-B14F-4D97-AF65-F5344CB8AC3E}">
        <p14:creationId xmlns:p14="http://schemas.microsoft.com/office/powerpoint/2010/main" val="3077244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3A46F-7EE9-576B-D281-B6196D874675}"/>
              </a:ext>
            </a:extLst>
          </p:cNvPr>
          <p:cNvSpPr>
            <a:spLocks noGrp="1"/>
          </p:cNvSpPr>
          <p:nvPr>
            <p:ph type="title"/>
          </p:nvPr>
        </p:nvSpPr>
        <p:spPr/>
        <p:txBody>
          <a:bodyPr>
            <a:normAutofit fontScale="90000"/>
          </a:bodyPr>
          <a:lstStyle/>
          <a:p>
            <a:r>
              <a:rPr lang="en-US" dirty="0"/>
              <a:t>Benchmark dataset SCEGRAM </a:t>
            </a:r>
            <a:r>
              <a:rPr lang="en-GB" dirty="0"/>
              <a:t>(</a:t>
            </a:r>
            <a:r>
              <a:rPr lang="en-GB" dirty="0" err="1"/>
              <a:t>Öhlschläger</a:t>
            </a:r>
            <a:r>
              <a:rPr lang="en-GB" dirty="0"/>
              <a:t> &amp; Võ, 2017)</a:t>
            </a:r>
            <a:r>
              <a:rPr lang="en-SG" dirty="0"/>
              <a:t> </a:t>
            </a:r>
            <a:endParaRPr lang="en-US" dirty="0"/>
          </a:p>
        </p:txBody>
      </p:sp>
      <p:pic>
        <p:nvPicPr>
          <p:cNvPr id="6" name="Picture 5">
            <a:extLst>
              <a:ext uri="{FF2B5EF4-FFF2-40B4-BE49-F238E27FC236}">
                <a16:creationId xmlns:a16="http://schemas.microsoft.com/office/drawing/2014/main" id="{4E1A3A3C-C7CB-CE08-AF3E-6CC758EB4215}"/>
              </a:ext>
            </a:extLst>
          </p:cNvPr>
          <p:cNvPicPr>
            <a:picLocks noChangeAspect="1"/>
          </p:cNvPicPr>
          <p:nvPr/>
        </p:nvPicPr>
        <p:blipFill>
          <a:blip r:embed="rId3"/>
          <a:stretch>
            <a:fillRect/>
          </a:stretch>
        </p:blipFill>
        <p:spPr>
          <a:xfrm>
            <a:off x="794573" y="2074892"/>
            <a:ext cx="5072936" cy="3875674"/>
          </a:xfrm>
          <a:prstGeom prst="rect">
            <a:avLst/>
          </a:prstGeom>
        </p:spPr>
      </p:pic>
    </p:spTree>
    <p:extLst>
      <p:ext uri="{BB962C8B-B14F-4D97-AF65-F5344CB8AC3E}">
        <p14:creationId xmlns:p14="http://schemas.microsoft.com/office/powerpoint/2010/main" val="2515388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05912-11B3-D239-2B9A-26FF9D7CB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A04AC-09A8-FC28-A3D9-CCF41AD4E113}"/>
              </a:ext>
            </a:extLst>
          </p:cNvPr>
          <p:cNvSpPr>
            <a:spLocks noGrp="1"/>
          </p:cNvSpPr>
          <p:nvPr>
            <p:ph type="title"/>
          </p:nvPr>
        </p:nvSpPr>
        <p:spPr/>
        <p:txBody>
          <a:bodyPr>
            <a:normAutofit fontScale="90000"/>
          </a:bodyPr>
          <a:lstStyle/>
          <a:p>
            <a:r>
              <a:rPr lang="en-US" dirty="0"/>
              <a:t>Benchmark dataset </a:t>
            </a:r>
            <a:r>
              <a:rPr lang="en-US" dirty="0" err="1"/>
              <a:t>NaturalDesign</a:t>
            </a:r>
            <a:r>
              <a:rPr lang="en-US" dirty="0"/>
              <a:t> (Zhang et al., 2018)</a:t>
            </a:r>
            <a:r>
              <a:rPr lang="en-SG" dirty="0"/>
              <a:t> </a:t>
            </a:r>
            <a:endParaRPr lang="en-US" dirty="0"/>
          </a:p>
        </p:txBody>
      </p:sp>
      <p:pic>
        <p:nvPicPr>
          <p:cNvPr id="3" name="Picture 2">
            <a:extLst>
              <a:ext uri="{FF2B5EF4-FFF2-40B4-BE49-F238E27FC236}">
                <a16:creationId xmlns:a16="http://schemas.microsoft.com/office/drawing/2014/main" id="{1903B580-1317-2E03-AD3B-7C61E9C442A9}"/>
              </a:ext>
            </a:extLst>
          </p:cNvPr>
          <p:cNvPicPr>
            <a:picLocks noChangeAspect="1"/>
          </p:cNvPicPr>
          <p:nvPr/>
        </p:nvPicPr>
        <p:blipFill>
          <a:blip r:embed="rId3"/>
          <a:stretch>
            <a:fillRect/>
          </a:stretch>
        </p:blipFill>
        <p:spPr>
          <a:xfrm>
            <a:off x="794573" y="2074892"/>
            <a:ext cx="5072937" cy="3875674"/>
          </a:xfrm>
          <a:prstGeom prst="rect">
            <a:avLst/>
          </a:prstGeom>
        </p:spPr>
      </p:pic>
    </p:spTree>
    <p:extLst>
      <p:ext uri="{BB962C8B-B14F-4D97-AF65-F5344CB8AC3E}">
        <p14:creationId xmlns:p14="http://schemas.microsoft.com/office/powerpoint/2010/main" val="1028765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458E3-520F-6F1A-0F66-C19763479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ED400-AC59-ECF2-1BE7-D760E74B84FA}"/>
              </a:ext>
            </a:extLst>
          </p:cNvPr>
          <p:cNvSpPr>
            <a:spLocks noGrp="1"/>
          </p:cNvSpPr>
          <p:nvPr>
            <p:ph type="title"/>
          </p:nvPr>
        </p:nvSpPr>
        <p:spPr/>
        <p:txBody>
          <a:bodyPr>
            <a:normAutofit/>
          </a:bodyPr>
          <a:lstStyle/>
          <a:p>
            <a:r>
              <a:rPr lang="en-US" dirty="0"/>
              <a:t>Benchmark dataset </a:t>
            </a:r>
            <a:r>
              <a:rPr lang="en-US" dirty="0" err="1"/>
              <a:t>ContextBreak</a:t>
            </a:r>
            <a:endParaRPr lang="en-US" dirty="0"/>
          </a:p>
        </p:txBody>
      </p:sp>
      <p:sp>
        <p:nvSpPr>
          <p:cNvPr id="5" name="Rectangle 4">
            <a:extLst>
              <a:ext uri="{FF2B5EF4-FFF2-40B4-BE49-F238E27FC236}">
                <a16:creationId xmlns:a16="http://schemas.microsoft.com/office/drawing/2014/main" id="{D8A97DA7-0B8F-6AE0-41AF-352212D7C6CF}"/>
              </a:ext>
            </a:extLst>
          </p:cNvPr>
          <p:cNvSpPr>
            <a:spLocks/>
          </p:cNvSpPr>
          <p:nvPr/>
        </p:nvSpPr>
        <p:spPr>
          <a:xfrm>
            <a:off x="794573" y="2074892"/>
            <a:ext cx="5072937" cy="3875674"/>
          </a:xfrm>
          <a:prstGeom prst="rect">
            <a:avLst/>
          </a:prstGeom>
          <a:noFill/>
          <a:ln w="12700" cap="flat" cmpd="sng" algn="ctr">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901BF44-95ED-710A-6669-F9C530F536DA}"/>
              </a:ext>
            </a:extLst>
          </p:cNvPr>
          <p:cNvPicPr>
            <a:picLocks noChangeAspect="1"/>
          </p:cNvPicPr>
          <p:nvPr/>
        </p:nvPicPr>
        <p:blipFill>
          <a:blip r:embed="rId3"/>
          <a:stretch>
            <a:fillRect/>
          </a:stretch>
        </p:blipFill>
        <p:spPr>
          <a:xfrm>
            <a:off x="794574" y="2074892"/>
            <a:ext cx="5072936" cy="3875674"/>
          </a:xfrm>
          <a:prstGeom prst="rect">
            <a:avLst/>
          </a:prstGeom>
        </p:spPr>
      </p:pic>
    </p:spTree>
    <p:extLst>
      <p:ext uri="{BB962C8B-B14F-4D97-AF65-F5344CB8AC3E}">
        <p14:creationId xmlns:p14="http://schemas.microsoft.com/office/powerpoint/2010/main" val="17792508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4BB1D-D247-7916-8C24-9AFA2160F076}"/>
              </a:ext>
            </a:extLst>
          </p:cNvPr>
          <p:cNvSpPr>
            <a:spLocks noGrp="1"/>
          </p:cNvSpPr>
          <p:nvPr>
            <p:ph type="title"/>
          </p:nvPr>
        </p:nvSpPr>
        <p:spPr>
          <a:xfrm>
            <a:off x="5633342" y="1137215"/>
            <a:ext cx="6126857" cy="3376766"/>
          </a:xfrm>
        </p:spPr>
        <p:txBody>
          <a:bodyPr vert="horz" lIns="91440" tIns="45720" rIns="91440" bIns="45720" rtlCol="0" anchor="t">
            <a:normAutofit/>
          </a:bodyPr>
          <a:lstStyle/>
          <a:p>
            <a:r>
              <a:rPr lang="en-US" sz="6600" dirty="0"/>
              <a:t>Contributions and future directions</a:t>
            </a:r>
          </a:p>
        </p:txBody>
      </p:sp>
      <p:pic>
        <p:nvPicPr>
          <p:cNvPr id="7" name="Graphic 6" descr="Bullseye">
            <a:extLst>
              <a:ext uri="{FF2B5EF4-FFF2-40B4-BE49-F238E27FC236}">
                <a16:creationId xmlns:a16="http://schemas.microsoft.com/office/drawing/2014/main" id="{C83CB4C3-1C2F-6EF1-754A-F9C5ED7659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5383" y="1171349"/>
            <a:ext cx="4515301" cy="4515301"/>
          </a:xfrm>
          <a:prstGeom prst="rect">
            <a:avLst/>
          </a:prstGeom>
        </p:spPr>
      </p:pic>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3343" y="723900"/>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E634B8-311A-4810-A5DB-7043D02804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3343" y="6134100"/>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5392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2332-689D-45A5-FAF4-D7D544C66EFA}"/>
              </a:ext>
            </a:extLst>
          </p:cNvPr>
          <p:cNvSpPr>
            <a:spLocks noGrp="1"/>
          </p:cNvSpPr>
          <p:nvPr>
            <p:ph type="title"/>
          </p:nvPr>
        </p:nvSpPr>
        <p:spPr/>
        <p:txBody>
          <a:bodyPr/>
          <a:lstStyle/>
          <a:p>
            <a:r>
              <a:rPr lang="en-US" dirty="0"/>
              <a:t>Possible limitations</a:t>
            </a:r>
          </a:p>
        </p:txBody>
      </p:sp>
      <p:sp>
        <p:nvSpPr>
          <p:cNvPr id="3" name="Content Placeholder 2">
            <a:extLst>
              <a:ext uri="{FF2B5EF4-FFF2-40B4-BE49-F238E27FC236}">
                <a16:creationId xmlns:a16="http://schemas.microsoft.com/office/drawing/2014/main" id="{564E6363-99E4-B840-9420-675F20837156}"/>
              </a:ext>
            </a:extLst>
          </p:cNvPr>
          <p:cNvSpPr>
            <a:spLocks noGrp="1"/>
          </p:cNvSpPr>
          <p:nvPr>
            <p:ph idx="1"/>
          </p:nvPr>
        </p:nvSpPr>
        <p:spPr/>
        <p:txBody>
          <a:bodyPr/>
          <a:lstStyle/>
          <a:p>
            <a:r>
              <a:rPr lang="en-US" dirty="0"/>
              <a:t>The TCT model’s performance is not mathematically justified, as its components, </a:t>
            </a:r>
            <a:r>
              <a:rPr lang="en-US" dirty="0" err="1"/>
              <a:t>ViT</a:t>
            </a:r>
            <a:r>
              <a:rPr lang="en-US" dirty="0"/>
              <a:t> and </a:t>
            </a:r>
            <a:r>
              <a:rPr lang="en-US" dirty="0" err="1"/>
              <a:t>CRTNet</a:t>
            </a:r>
            <a:r>
              <a:rPr lang="en-US" dirty="0"/>
              <a:t>, are trained on different datasets and are linked only through a global modulation operation.</a:t>
            </a:r>
          </a:p>
          <a:p>
            <a:r>
              <a:rPr lang="en-US" dirty="0"/>
              <a:t>The selected </a:t>
            </a:r>
            <a:r>
              <a:rPr lang="en-US" dirty="0" err="1"/>
              <a:t>last_n_layers</a:t>
            </a:r>
            <a:r>
              <a:rPr lang="en-US" dirty="0"/>
              <a:t> for the local modulation operation, and the selected encoding layer for global modulation are chosen from an iterative process rather than rationally or intuitively selected.</a:t>
            </a:r>
          </a:p>
          <a:p>
            <a:endParaRPr lang="en-US" dirty="0"/>
          </a:p>
        </p:txBody>
      </p:sp>
    </p:spTree>
    <p:extLst>
      <p:ext uri="{BB962C8B-B14F-4D97-AF65-F5344CB8AC3E}">
        <p14:creationId xmlns:p14="http://schemas.microsoft.com/office/powerpoint/2010/main" val="30797858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9287F-7F7B-3561-9F20-DFD2F7A636EE}"/>
              </a:ext>
            </a:extLst>
          </p:cNvPr>
          <p:cNvSpPr>
            <a:spLocks noGrp="1"/>
          </p:cNvSpPr>
          <p:nvPr>
            <p:ph type="title"/>
          </p:nvPr>
        </p:nvSpPr>
        <p:spPr/>
        <p:txBody>
          <a:bodyPr/>
          <a:lstStyle/>
          <a:p>
            <a:r>
              <a:rPr lang="en-US" dirty="0"/>
              <a:t>Contributions</a:t>
            </a:r>
          </a:p>
        </p:txBody>
      </p:sp>
      <p:sp>
        <p:nvSpPr>
          <p:cNvPr id="3" name="Content Placeholder 2">
            <a:extLst>
              <a:ext uri="{FF2B5EF4-FFF2-40B4-BE49-F238E27FC236}">
                <a16:creationId xmlns:a16="http://schemas.microsoft.com/office/drawing/2014/main" id="{63C45F31-C064-0B82-959A-2BF82FE23711}"/>
              </a:ext>
            </a:extLst>
          </p:cNvPr>
          <p:cNvSpPr>
            <a:spLocks noGrp="1"/>
          </p:cNvSpPr>
          <p:nvPr>
            <p:ph idx="1"/>
          </p:nvPr>
        </p:nvSpPr>
        <p:spPr/>
        <p:txBody>
          <a:bodyPr/>
          <a:lstStyle/>
          <a:p>
            <a:r>
              <a:rPr lang="en-US" dirty="0"/>
              <a:t>Rebuild the </a:t>
            </a:r>
            <a:r>
              <a:rPr lang="en-US" dirty="0" err="1"/>
              <a:t>CRTNet</a:t>
            </a:r>
            <a:r>
              <a:rPr lang="en-US" dirty="0"/>
              <a:t> architecture through code inspection and modify the PE layer for the visual search task by introducing a light-weight attention layer.</a:t>
            </a:r>
          </a:p>
          <a:p>
            <a:r>
              <a:rPr lang="en-US" dirty="0"/>
              <a:t>Modify the </a:t>
            </a:r>
            <a:r>
              <a:rPr lang="en-US" dirty="0" err="1"/>
              <a:t>ViT</a:t>
            </a:r>
            <a:r>
              <a:rPr lang="en-US" dirty="0"/>
              <a:t> structure by introducing the local modulation operation inside the encoder architecture.</a:t>
            </a:r>
          </a:p>
          <a:p>
            <a:r>
              <a:rPr lang="en-US" dirty="0"/>
              <a:t>Conduct image augmentation for the </a:t>
            </a:r>
            <a:r>
              <a:rPr lang="en-US" dirty="0" err="1"/>
              <a:t>CRTNet</a:t>
            </a:r>
            <a:r>
              <a:rPr lang="en-US" dirty="0"/>
              <a:t> recognition task training to “encourage” the model to leverage the attention mechanism of the decoder layer.</a:t>
            </a:r>
          </a:p>
          <a:p>
            <a:r>
              <a:rPr lang="en-US" dirty="0"/>
              <a:t>Perform a visual search task using the TCT model on different benchmark datasets with different attribute to evaluate the model performance.</a:t>
            </a:r>
          </a:p>
        </p:txBody>
      </p:sp>
    </p:spTree>
    <p:extLst>
      <p:ext uri="{BB962C8B-B14F-4D97-AF65-F5344CB8AC3E}">
        <p14:creationId xmlns:p14="http://schemas.microsoft.com/office/powerpoint/2010/main" val="26161072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517D6-91D9-8FCC-8223-6095F765033C}"/>
              </a:ext>
            </a:extLst>
          </p:cNvPr>
          <p:cNvSpPr>
            <a:spLocks noGrp="1"/>
          </p:cNvSpPr>
          <p:nvPr>
            <p:ph type="title"/>
          </p:nvPr>
        </p:nvSpPr>
        <p:spPr/>
        <p:txBody>
          <a:bodyPr>
            <a:normAutofit/>
          </a:bodyPr>
          <a:lstStyle/>
          <a:p>
            <a:r>
              <a:rPr lang="en-US" dirty="0"/>
              <a:t>Future directions</a:t>
            </a:r>
          </a:p>
        </p:txBody>
      </p:sp>
      <p:sp>
        <p:nvSpPr>
          <p:cNvPr id="3" name="Content Placeholder 2">
            <a:extLst>
              <a:ext uri="{FF2B5EF4-FFF2-40B4-BE49-F238E27FC236}">
                <a16:creationId xmlns:a16="http://schemas.microsoft.com/office/drawing/2014/main" id="{ABE5707E-35C8-C2DC-478D-5969AD8C01AC}"/>
              </a:ext>
            </a:extLst>
          </p:cNvPr>
          <p:cNvSpPr>
            <a:spLocks noGrp="1"/>
          </p:cNvSpPr>
          <p:nvPr>
            <p:ph idx="1"/>
          </p:nvPr>
        </p:nvSpPr>
        <p:spPr/>
        <p:txBody>
          <a:bodyPr/>
          <a:lstStyle/>
          <a:p>
            <a:r>
              <a:rPr lang="en-US" dirty="0"/>
              <a:t>Explore the replaceability of the building blocks of the TCT model (</a:t>
            </a:r>
            <a:r>
              <a:rPr lang="en-US" dirty="0" err="1"/>
              <a:t>ViT</a:t>
            </a:r>
            <a:r>
              <a:rPr lang="en-US" dirty="0"/>
              <a:t>, </a:t>
            </a:r>
            <a:r>
              <a:rPr lang="en-US" dirty="0" err="1"/>
              <a:t>CRTNet</a:t>
            </a:r>
            <a:r>
              <a:rPr lang="en-US" dirty="0"/>
              <a:t>).</a:t>
            </a:r>
          </a:p>
          <a:p>
            <a:r>
              <a:rPr lang="en-US" dirty="0"/>
              <a:t>Discover a more complex architecture, e.g., waterfall global modulation, local modulation in building block for both Transformer Architecture instead of only one, etc.</a:t>
            </a:r>
          </a:p>
          <a:p>
            <a:r>
              <a:rPr lang="en-US" dirty="0"/>
              <a:t>Reconsider training the whole TCT model on the recognition task and transferring it to the visual search task.</a:t>
            </a:r>
          </a:p>
          <a:p>
            <a:r>
              <a:rPr lang="en-US" dirty="0"/>
              <a:t>Build an application that leverages such an effective model for tasks like satellite detection, human face detection, etc.</a:t>
            </a:r>
          </a:p>
        </p:txBody>
      </p:sp>
    </p:spTree>
    <p:extLst>
      <p:ext uri="{BB962C8B-B14F-4D97-AF65-F5344CB8AC3E}">
        <p14:creationId xmlns:p14="http://schemas.microsoft.com/office/powerpoint/2010/main" val="1366780318"/>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31377</TotalTime>
  <Words>3292</Words>
  <Application>Microsoft Macintosh PowerPoint</Application>
  <PresentationFormat>Widescreen</PresentationFormat>
  <Paragraphs>656</Paragraphs>
  <Slides>51</Slides>
  <Notes>42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Apple Braille</vt:lpstr>
      <vt:lpstr>Aptos</vt:lpstr>
      <vt:lpstr>Arial</vt:lpstr>
      <vt:lpstr>Calisto MT</vt:lpstr>
      <vt:lpstr>Symbol</vt:lpstr>
      <vt:lpstr>Times New Roman</vt:lpstr>
      <vt:lpstr>Univers Condensed</vt:lpstr>
      <vt:lpstr>ChronicleVTI</vt:lpstr>
      <vt:lpstr>Target and Context Aware Transformer for Visual Search Task</vt:lpstr>
      <vt:lpstr>Outline</vt:lpstr>
      <vt:lpstr>Introduction</vt:lpstr>
      <vt:lpstr>Introduction – Outline</vt:lpstr>
      <vt:lpstr>Introduction – Visual search</vt:lpstr>
      <vt:lpstr>Introduction - Contributions</vt:lpstr>
      <vt:lpstr>Literature Review</vt:lpstr>
      <vt:lpstr>C0gnitive visual search Theory</vt:lpstr>
      <vt:lpstr>C0gnitive visual search Theory</vt:lpstr>
      <vt:lpstr>C0gnitive visual search Theory</vt:lpstr>
      <vt:lpstr>C0gnitive visual search Theory</vt:lpstr>
      <vt:lpstr>C0gnitive visual search Theory</vt:lpstr>
      <vt:lpstr>C0gnitive visual search Theory</vt:lpstr>
      <vt:lpstr>C0gnitive visual search Theory</vt:lpstr>
      <vt:lpstr>C0gnitive visual search Theory</vt:lpstr>
      <vt:lpstr>C0mputational visual search Theory</vt:lpstr>
      <vt:lpstr>C0mputational visual search Theory</vt:lpstr>
      <vt:lpstr>C0mputational visual search Theory</vt:lpstr>
      <vt:lpstr>C0mputational visual search Theory</vt:lpstr>
      <vt:lpstr>C0mputational visual search Theory</vt:lpstr>
      <vt:lpstr>C0mputational visual search Theory</vt:lpstr>
      <vt:lpstr>C0mputational visual search Theory</vt:lpstr>
      <vt:lpstr>C0mputational visual search Theory</vt:lpstr>
      <vt:lpstr>C0mputational visual search Theory</vt:lpstr>
      <vt:lpstr>C0mputational visual search Theory</vt:lpstr>
      <vt:lpstr>C0mputational visual search Theory</vt:lpstr>
      <vt:lpstr>Proposed TCT architecture </vt:lpstr>
      <vt:lpstr>TCT model components </vt:lpstr>
      <vt:lpstr>Modified Visual Transformer (one encoder block) </vt:lpstr>
      <vt:lpstr>Keep Max Only</vt:lpstr>
      <vt:lpstr>Keep Max Only</vt:lpstr>
      <vt:lpstr>Local Modulation operation</vt:lpstr>
      <vt:lpstr>original CRTNet architecture</vt:lpstr>
      <vt:lpstr>Modified CRTNet architecture</vt:lpstr>
      <vt:lpstr>Modified CRTNet architecture</vt:lpstr>
      <vt:lpstr>Modified CRTNet architecture Naïve Solution</vt:lpstr>
      <vt:lpstr>Modified CRTNet architecture heuristic bbox solution</vt:lpstr>
      <vt:lpstr>Modified CRTNet architecture heuristic bbox solution</vt:lpstr>
      <vt:lpstr>Global Modulation  (TCT architecture)</vt:lpstr>
      <vt:lpstr>Data Augmentation for CRTNet training</vt:lpstr>
      <vt:lpstr>Data Augmentation for CRTNet training</vt:lpstr>
      <vt:lpstr>CRTNet Recognition TEST Performance</vt:lpstr>
      <vt:lpstr>Experiment  </vt:lpstr>
      <vt:lpstr>Benchmark dataset COCO-Search18 (Lin et al., 2015) </vt:lpstr>
      <vt:lpstr>Benchmark dataset SCEGRAM (Öhlschläger &amp; Võ, 2017) </vt:lpstr>
      <vt:lpstr>Benchmark dataset NaturalDesign (Zhang et al., 2018) </vt:lpstr>
      <vt:lpstr>Benchmark dataset ContextBreak</vt:lpstr>
      <vt:lpstr>Contributions and future directions</vt:lpstr>
      <vt:lpstr>Possible limitations</vt:lpstr>
      <vt:lpstr>Contributions</vt:lpstr>
      <vt:lpstr>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TUAN#</dc:creator>
  <cp:lastModifiedBy>#NGUYEN TUAN#</cp:lastModifiedBy>
  <cp:revision>58</cp:revision>
  <dcterms:created xsi:type="dcterms:W3CDTF">2026-03-25T08:10:11Z</dcterms:created>
  <dcterms:modified xsi:type="dcterms:W3CDTF">2026-05-07T17:11:44Z</dcterms:modified>
</cp:coreProperties>
</file>