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53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  <p:sldId id="300" r:id="rId46"/>
    <p:sldId id="302" r:id="rId47"/>
    <p:sldId id="303" r:id="rId48"/>
    <p:sldId id="304" r:id="rId49"/>
    <p:sldId id="305" r:id="rId50"/>
    <p:sldId id="306" r:id="rId51"/>
    <p:sldId id="307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6291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5518-F45D-2A8F-0375-A607D2F6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F48DA-C6E4-D54E-984A-834D96808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1384F-7691-4BB0-598B-5A80CBE6B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E9D7D-E2C1-D514-6477-B60878E42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31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28F2E-D6E4-85D8-4D24-EBB2071F6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8FAF16-BB65-0863-2889-5D416906A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84FC6-1CF4-BE83-16E6-02A973015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8D5F4-0BE2-69F0-17ED-AD420A1C5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7445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cueing),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A standardized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r>
              <a:rPr lang="en-US" i="1" dirty="0"/>
              <a:t>Intuitively: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433349" y="2154168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5100404" y="72237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886632" y="2310724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BC3452-CE9C-A549-C081-FA6B3B199CC1}"/>
              </a:ext>
            </a:extLst>
          </p:cNvPr>
          <p:cNvSpPr txBox="1"/>
          <p:nvPr/>
        </p:nvSpPr>
        <p:spPr>
          <a:xfrm>
            <a:off x="653903" y="1948259"/>
            <a:ext cx="6583353" cy="46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Global Modulation is an </a:t>
            </a:r>
            <a:r>
              <a:rPr lang="en-US" b="1" dirty="0"/>
              <a:t>element-wise multiplication</a:t>
            </a:r>
            <a:r>
              <a:rPr lang="en-US" dirty="0"/>
              <a:t> between the CRT attention output and the second residual output of the </a:t>
            </a:r>
            <a:r>
              <a:rPr lang="en-US" dirty="0" err="1"/>
              <a:t>ViT</a:t>
            </a:r>
            <a:r>
              <a:rPr lang="en-US" dirty="0"/>
              <a:t> Transformer Architecture.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</a:t>
            </a:r>
            <a:r>
              <a:rPr lang="en-US" b="1" dirty="0"/>
              <a:t>global modulation output </a:t>
            </a:r>
            <a:r>
              <a:rPr lang="en-US" dirty="0"/>
              <a:t>is then </a:t>
            </a:r>
            <a:r>
              <a:rPr lang="en-US" b="1" dirty="0"/>
              <a:t>summed </a:t>
            </a:r>
            <a:r>
              <a:rPr lang="en-US" dirty="0"/>
              <a:t>with </a:t>
            </a:r>
            <a:r>
              <a:rPr lang="en-US" b="1" dirty="0"/>
              <a:t>the final feed-forward layer output</a:t>
            </a:r>
            <a:r>
              <a:rPr lang="en-US" dirty="0"/>
              <a:t>,</a:t>
            </a:r>
            <a:r>
              <a:rPr lang="en-US" b="1" dirty="0"/>
              <a:t> </a:t>
            </a:r>
            <a:r>
              <a:rPr lang="en-US" dirty="0"/>
              <a:t>resulting in the final attention map for that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This operation is only applied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pre-selected</a:t>
            </a:r>
            <a:r>
              <a:rPr lang="en-US" dirty="0"/>
              <a:t> (user-defined) </a:t>
            </a:r>
            <a:r>
              <a:rPr lang="en-US" dirty="0" err="1"/>
              <a:t>ViT</a:t>
            </a:r>
            <a:r>
              <a:rPr lang="en-US" dirty="0"/>
              <a:t> Encoder Block (other encoder blocks do not have a global modulation operation)</a:t>
            </a:r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1701422"/>
          </a:xfrm>
        </p:spPr>
        <p:txBody>
          <a:bodyPr/>
          <a:lstStyle/>
          <a:p>
            <a:r>
              <a:rPr lang="en-US" dirty="0"/>
              <a:t>We select 18 image categories from the COCO dataset </a:t>
            </a:r>
            <a:r>
              <a:rPr lang="en-SG" dirty="0"/>
              <a:t>(Lin et al., 2015) and conduct augmentation on both context and target images.</a:t>
            </a:r>
          </a:p>
          <a:p>
            <a:r>
              <a:rPr lang="en-SG" dirty="0"/>
              <a:t>There are 3 selections for Context Image and 3 selections for Target Image to form 1 image pair.</a:t>
            </a:r>
          </a:p>
          <a:p>
            <a:pPr marL="0" indent="0">
              <a:buNone/>
            </a:pP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2041-607D-25AC-6D5E-19F70B7285D7}"/>
              </a:ext>
            </a:extLst>
          </p:cNvPr>
          <p:cNvSpPr txBox="1"/>
          <p:nvPr/>
        </p:nvSpPr>
        <p:spPr>
          <a:xfrm>
            <a:off x="6966985" y="3429000"/>
            <a:ext cx="488831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Target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Random target</a:t>
            </a:r>
            <a:r>
              <a:rPr lang="en-SG" dirty="0"/>
              <a:t> image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Black rectangle</a:t>
            </a:r>
            <a:r>
              <a:rPr lang="en-SG" dirty="0"/>
              <a:t> of the target image size.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1EBC4E-C588-827E-C1ED-119B33032AEF}"/>
              </a:ext>
            </a:extLst>
          </p:cNvPr>
          <p:cNvSpPr txBox="1"/>
          <p:nvPr/>
        </p:nvSpPr>
        <p:spPr>
          <a:xfrm>
            <a:off x="784924" y="3429000"/>
            <a:ext cx="609777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SG" dirty="0"/>
              <a:t>Context input selections: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</a:t>
            </a:r>
            <a:r>
              <a:rPr lang="en-SG" b="1" dirty="0"/>
              <a:t>original target</a:t>
            </a:r>
            <a:r>
              <a:rPr lang="en-SG" dirty="0"/>
              <a:t> image.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random target</a:t>
            </a:r>
            <a:r>
              <a:rPr lang="en-SG" dirty="0"/>
              <a:t> of the same category.</a:t>
            </a:r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lang="en-SG" b="1" dirty="0"/>
              <a:t>Original context</a:t>
            </a:r>
            <a:r>
              <a:rPr lang="en-SG" dirty="0"/>
              <a:t> image with a </a:t>
            </a:r>
            <a:r>
              <a:rPr lang="en-SG" b="1" dirty="0"/>
              <a:t>black rectangle</a:t>
            </a:r>
            <a:r>
              <a:rPr lang="en-SG" dirty="0"/>
              <a:t> covering the target region.</a:t>
            </a:r>
          </a:p>
          <a:p>
            <a:pPr marL="342900" indent="-342900">
              <a:buAutoNum type="arabicParenBoth"/>
            </a:pPr>
            <a:endParaRPr lang="en-SG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2B4E0C-D84B-B27B-CE9D-878B7E0009E1}"/>
              </a:ext>
            </a:extLst>
          </p:cNvPr>
          <p:cNvCxnSpPr>
            <a:cxnSpLocks/>
          </p:cNvCxnSpPr>
          <p:nvPr/>
        </p:nvCxnSpPr>
        <p:spPr>
          <a:xfrm>
            <a:off x="6882696" y="3529584"/>
            <a:ext cx="0" cy="241401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0F446E-EC8E-C33D-5E4E-8390860EE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652" y="821964"/>
            <a:ext cx="6043306" cy="47866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D31A07-A971-0389-CE03-4532E8DB9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00" y="1205264"/>
            <a:ext cx="2164230" cy="21217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0C33C3-188D-BBD1-AC85-5D613E7A9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37" y="3877912"/>
            <a:ext cx="2164230" cy="2121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7500EC-C86E-6439-A5F4-9FA5833C3C38}"/>
              </a:ext>
            </a:extLst>
          </p:cNvPr>
          <p:cNvSpPr txBox="1"/>
          <p:nvPr/>
        </p:nvSpPr>
        <p:spPr>
          <a:xfrm>
            <a:off x="1061482" y="858294"/>
            <a:ext cx="1832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Context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A1320C-17DD-771E-B42D-9D19B60C0F8F}"/>
              </a:ext>
            </a:extLst>
          </p:cNvPr>
          <p:cNvSpPr txBox="1"/>
          <p:nvPr/>
        </p:nvSpPr>
        <p:spPr>
          <a:xfrm>
            <a:off x="1204584" y="3595338"/>
            <a:ext cx="1675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Target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F8AEF-F193-604E-8FB3-426DE57F1E75}"/>
              </a:ext>
            </a:extLst>
          </p:cNvPr>
          <p:cNvSpPr txBox="1"/>
          <p:nvPr/>
        </p:nvSpPr>
        <p:spPr>
          <a:xfrm>
            <a:off x="4920243" y="5666704"/>
            <a:ext cx="6294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the Target and Context combinations for </a:t>
            </a:r>
            <a:r>
              <a:rPr lang="en-US" dirty="0" err="1"/>
              <a:t>CRTNet</a:t>
            </a:r>
            <a:r>
              <a:rPr lang="en-US" dirty="0"/>
              <a:t> Training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305B-CAAB-1E69-251D-4A9947C4AD5E}"/>
              </a:ext>
            </a:extLst>
          </p:cNvPr>
          <p:cNvSpPr/>
          <p:nvPr/>
        </p:nvSpPr>
        <p:spPr>
          <a:xfrm>
            <a:off x="1337043" y="1285472"/>
            <a:ext cx="517394" cy="774064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9D962B-6314-B25E-995D-CE0A74764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535" y="79649"/>
            <a:ext cx="10691265" cy="1307592"/>
          </a:xfrm>
        </p:spPr>
        <p:txBody>
          <a:bodyPr/>
          <a:lstStyle/>
          <a:p>
            <a:r>
              <a:rPr lang="en-US" dirty="0"/>
              <a:t>Data Augmentation for </a:t>
            </a:r>
            <a:r>
              <a:rPr lang="en-US" dirty="0" err="1"/>
              <a:t>CRTNet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training</a:t>
            </a:r>
          </a:p>
        </p:txBody>
      </p:sp>
    </p:spTree>
    <p:extLst>
      <p:ext uri="{BB962C8B-B14F-4D97-AF65-F5344CB8AC3E}">
        <p14:creationId xmlns:p14="http://schemas.microsoft.com/office/powerpoint/2010/main" val="8679453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8316E-43E5-E710-9A3A-56B360BFE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CRTNet</a:t>
            </a:r>
            <a:r>
              <a:rPr lang="en-US" dirty="0"/>
              <a:t> Recognition </a:t>
            </a:r>
            <a:r>
              <a:rPr lang="en-US" dirty="0">
                <a:solidFill>
                  <a:srgbClr val="FF0000"/>
                </a:solidFill>
              </a:rPr>
              <a:t>TEST</a:t>
            </a:r>
            <a:r>
              <a:rPr lang="en-US" dirty="0"/>
              <a:t>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640112-313A-68D2-8595-21050221C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34" y="1800385"/>
            <a:ext cx="5653211" cy="4321445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B7E213-8C6A-FDFB-1C78-982AF1A99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623960"/>
              </p:ext>
            </p:extLst>
          </p:nvPr>
        </p:nvGraphicFramePr>
        <p:xfrm>
          <a:off x="6705600" y="1950862"/>
          <a:ext cx="4686300" cy="14781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1266745552"/>
                    </a:ext>
                  </a:extLst>
                </a:gridCol>
                <a:gridCol w="1861185">
                  <a:extLst>
                    <a:ext uri="{9D8B030D-6E8A-4147-A177-3AD203B41FA5}">
                      <a16:colId xmlns:a16="http://schemas.microsoft.com/office/drawing/2014/main" val="573536048"/>
                    </a:ext>
                  </a:extLst>
                </a:gridCol>
                <a:gridCol w="1853565">
                  <a:extLst>
                    <a:ext uri="{9D8B030D-6E8A-4147-A177-3AD203B41FA5}">
                      <a16:colId xmlns:a16="http://schemas.microsoft.com/office/drawing/2014/main" val="3123355784"/>
                    </a:ext>
                  </a:extLst>
                </a:gridCol>
              </a:tblGrid>
              <a:tr h="7629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Epoch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cross-attention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Test Accuracy</a:t>
                      </a:r>
                      <a:endParaRPr lang="en-SG" sz="1200" kern="100">
                        <a:effectLst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(CRT bbox-guided PE)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9458106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</a:t>
                      </a:r>
                      <a:r>
                        <a:rPr lang="en-US" sz="1200" kern="100">
                          <a:effectLst/>
                        </a:rPr>
                        <a:t>5</a:t>
                      </a:r>
                      <a:r>
                        <a:rPr lang="vi-VN" sz="1200" kern="100">
                          <a:effectLst/>
                        </a:rPr>
                        <a:t>.</a:t>
                      </a:r>
                      <a:r>
                        <a:rPr lang="en-US" sz="1200" kern="100">
                          <a:effectLst/>
                        </a:rPr>
                        <a:t>44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vi-VN" sz="1200" kern="100">
                          <a:effectLst/>
                        </a:rPr>
                        <a:t>70.38%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2339994"/>
                  </a:ext>
                </a:extLst>
              </a:tr>
              <a:tr h="3576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24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>
                          <a:effectLst/>
                        </a:rPr>
                        <a:t>85.31</a:t>
                      </a:r>
                      <a:r>
                        <a:rPr lang="vi-VN" sz="1200" kern="100">
                          <a:effectLst/>
                        </a:rPr>
                        <a:t>%</a:t>
                      </a:r>
                      <a:endParaRPr lang="en-SG" sz="12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kern="100" dirty="0">
                          <a:effectLst/>
                        </a:rPr>
                        <a:t>71.56</a:t>
                      </a:r>
                      <a:r>
                        <a:rPr lang="vi-VN" sz="1200" kern="100" dirty="0">
                          <a:effectLst/>
                        </a:rPr>
                        <a:t>%</a:t>
                      </a:r>
                      <a:endParaRPr lang="en-SG" sz="12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 (Body CS)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9946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08855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80C05A-2F8A-DD4B-E8AD-B96737F49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4"/>
            <a:ext cx="4928191" cy="9541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Experiment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icroscope">
            <a:extLst>
              <a:ext uri="{FF2B5EF4-FFF2-40B4-BE49-F238E27FC236}">
                <a16:creationId xmlns:a16="http://schemas.microsoft.com/office/drawing/2014/main" id="{C36D3089-A5FD-63B3-6C54-1F298D0504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42E718-8580-0A46-F99C-173816424208}"/>
              </a:ext>
            </a:extLst>
          </p:cNvPr>
          <p:cNvSpPr txBox="1"/>
          <p:nvPr/>
        </p:nvSpPr>
        <p:spPr>
          <a:xfrm>
            <a:off x="685798" y="1818166"/>
            <a:ext cx="49281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pple Braille" pitchFamily="2" charset="0"/>
              </a:rPr>
              <a:t>TCT model performance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12209551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D649B-3E73-6530-FA51-480D87A2C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CE65D-1BD9-1D1E-9E95-712316C0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COCO-Search18 (Lin et al., 2015)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5405A4-087E-F6D6-1F4E-0A73F543A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72" y="2067926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45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A46F-7EE9-576B-D281-B6196D874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SCEGRAM </a:t>
            </a:r>
            <a:r>
              <a:rPr lang="en-GB" dirty="0"/>
              <a:t>(</a:t>
            </a:r>
            <a:r>
              <a:rPr lang="en-GB" dirty="0" err="1"/>
              <a:t>Öhlschläger</a:t>
            </a:r>
            <a:r>
              <a:rPr lang="en-GB" dirty="0"/>
              <a:t> &amp; Võ, 2017)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1A3A3C-C7CB-CE08-AF3E-6CC758EB4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388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05912-11B3-D239-2B9A-26FF9D7C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04AC-09A8-FC28-A3D9-CCF41AD4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NaturalDesign</a:t>
            </a:r>
            <a:r>
              <a:rPr lang="en-US" dirty="0"/>
              <a:t> (Zhang et al., 2018)</a:t>
            </a:r>
            <a:r>
              <a:rPr lang="en-SG" dirty="0"/>
              <a:t> 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3B580-1317-2E03-AD3B-7C61E9C44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3" y="2074892"/>
            <a:ext cx="5072937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655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458E3-520F-6F1A-0F66-C19763479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ED400-AC59-ECF2-1BE7-D760E74B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Benchmark dataset </a:t>
            </a:r>
            <a:r>
              <a:rPr lang="en-US" dirty="0" err="1"/>
              <a:t>ContextBreak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A97DA7-0B8F-6AE0-41AF-352212D7C6CF}"/>
              </a:ext>
            </a:extLst>
          </p:cNvPr>
          <p:cNvSpPr>
            <a:spLocks/>
          </p:cNvSpPr>
          <p:nvPr/>
        </p:nvSpPr>
        <p:spPr>
          <a:xfrm>
            <a:off x="794573" y="2074892"/>
            <a:ext cx="5072937" cy="3875674"/>
          </a:xfrm>
          <a:prstGeom prst="rect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01BF44-95ED-710A-6669-F9C530F536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74" y="2074892"/>
            <a:ext cx="5072936" cy="387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2508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54BB1D-D247-7916-8C24-9AFA2160F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2" y="1137215"/>
            <a:ext cx="6126857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Contributions and future directions</a:t>
            </a:r>
          </a:p>
        </p:txBody>
      </p:sp>
      <p:pic>
        <p:nvPicPr>
          <p:cNvPr id="7" name="Graphic 6" descr="Bullseye">
            <a:extLst>
              <a:ext uri="{FF2B5EF4-FFF2-40B4-BE49-F238E27FC236}">
                <a16:creationId xmlns:a16="http://schemas.microsoft.com/office/drawing/2014/main" id="{C83CB4C3-1C2F-6EF1-754A-F9C5ED7659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539279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2332-689D-45A5-FAF4-D7D544C66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E6363-99E4-B840-9420-675F208371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TCT model’s performance is not mathematically justified, as its components, </a:t>
            </a:r>
            <a:r>
              <a:rPr lang="en-US" dirty="0" err="1"/>
              <a:t>ViT</a:t>
            </a:r>
            <a:r>
              <a:rPr lang="en-US" dirty="0"/>
              <a:t> and </a:t>
            </a:r>
            <a:r>
              <a:rPr lang="en-US" dirty="0" err="1"/>
              <a:t>CRTNet</a:t>
            </a:r>
            <a:r>
              <a:rPr lang="en-US" dirty="0"/>
              <a:t>, are trained on different datasets and are linked only through a global modulation operation.</a:t>
            </a:r>
          </a:p>
          <a:p>
            <a:r>
              <a:rPr lang="en-US" dirty="0"/>
              <a:t>The selected </a:t>
            </a:r>
            <a:r>
              <a:rPr lang="en-US" dirty="0" err="1"/>
              <a:t>last_n_layers</a:t>
            </a:r>
            <a:r>
              <a:rPr lang="en-US" dirty="0"/>
              <a:t> for the local modulation operation, and the selected encoding layer for global modulation are chosen from an iterative process rather than rationally or intuitively selected.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785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9287F-7F7B-3561-9F20-DFD2F7A63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45F31-C064-0B82-959A-2BF82FE23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61072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517D6-91D9-8FCC-8223-6095F765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5707E-35C8-C2DC-478D-5969AD8C0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780318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30756</TotalTime>
  <Words>2140</Words>
  <Application>Microsoft Macintosh PowerPoint</Application>
  <PresentationFormat>Widescreen</PresentationFormat>
  <Paragraphs>572</Paragraphs>
  <Slides>51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Apple Braille</vt:lpstr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Data Augmentation for CRTNet training</vt:lpstr>
      <vt:lpstr>Data Augmentation for CRTNet training</vt:lpstr>
      <vt:lpstr>CRTNet Recognition TEST Performance</vt:lpstr>
      <vt:lpstr>Experiment  </vt:lpstr>
      <vt:lpstr>Benchmark dataset COCO-Search18 (Lin et al., 2015) </vt:lpstr>
      <vt:lpstr>Benchmark dataset SCEGRAM (Öhlschläger &amp; Võ, 2017) </vt:lpstr>
      <vt:lpstr>Benchmark dataset NaturalDesign (Zhang et al., 2018) </vt:lpstr>
      <vt:lpstr>Benchmark dataset ContextBreak</vt:lpstr>
      <vt:lpstr>Contributions and future directions</vt:lpstr>
      <vt:lpstr>Possible limitations</vt:lpstr>
      <vt:lpstr>Contributions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50</cp:revision>
  <dcterms:created xsi:type="dcterms:W3CDTF">2026-03-25T08:10:11Z</dcterms:created>
  <dcterms:modified xsi:type="dcterms:W3CDTF">2026-05-06T17:17:42Z</dcterms:modified>
</cp:coreProperties>
</file>