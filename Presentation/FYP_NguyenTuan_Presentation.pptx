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51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0" r:id="rId46"/>
    <p:sldId id="302" r:id="rId47"/>
    <p:sldId id="303" r:id="rId48"/>
    <p:sldId id="304" r:id="rId49"/>
    <p:sldId id="305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6291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5518-F45D-2A8F-0375-A607D2F6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F48DA-C6E4-D54E-984A-834D96808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1384F-7691-4BB0-598B-5A80CBE6B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E9D7D-E2C1-D514-6477-B60878E4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31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28F2E-D6E4-85D8-4D24-EBB2071F6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FAF16-BB65-0863-2889-5D416906A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84FC6-1CF4-BE83-16E6-02A973015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8D5F4-0BE2-69F0-17ED-AD420A1C5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44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886632" y="2310724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Random target</a:t>
            </a:r>
            <a:r>
              <a:rPr lang="en-SG" dirty="0"/>
              <a:t>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Black rectangle</a:t>
            </a:r>
            <a:r>
              <a:rPr lang="en-SG" dirty="0"/>
              <a:t>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</a:t>
            </a: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random target</a:t>
            </a:r>
            <a:r>
              <a:rPr lang="en-SG" dirty="0"/>
              <a:t>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black rectangle</a:t>
            </a:r>
            <a:r>
              <a:rPr lang="en-SG" dirty="0"/>
              <a:t>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B7E213-8C6A-FDFB-1C78-982AF1A99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23960"/>
              </p:ext>
            </p:extLst>
          </p:nvPr>
        </p:nvGraphicFramePr>
        <p:xfrm>
          <a:off x="6705600" y="1950862"/>
          <a:ext cx="4686300" cy="14781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1266745552"/>
                    </a:ext>
                  </a:extLst>
                </a:gridCol>
                <a:gridCol w="1861185">
                  <a:extLst>
                    <a:ext uri="{9D8B030D-6E8A-4147-A177-3AD203B41FA5}">
                      <a16:colId xmlns:a16="http://schemas.microsoft.com/office/drawing/2014/main" val="573536048"/>
                    </a:ext>
                  </a:extLst>
                </a:gridCol>
                <a:gridCol w="1853565">
                  <a:extLst>
                    <a:ext uri="{9D8B030D-6E8A-4147-A177-3AD203B41FA5}">
                      <a16:colId xmlns:a16="http://schemas.microsoft.com/office/drawing/2014/main" val="3123355784"/>
                    </a:ext>
                  </a:extLst>
                </a:gridCol>
              </a:tblGrid>
              <a:tr h="7629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Epoch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cross-attention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bbox-guided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458106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r>
                        <a:rPr lang="en-US" sz="1200" kern="100">
                          <a:effectLst/>
                        </a:rPr>
                        <a:t>5</a:t>
                      </a:r>
                      <a:r>
                        <a:rPr lang="vi-VN" sz="1200" kern="100">
                          <a:effectLst/>
                        </a:rPr>
                        <a:t>.</a:t>
                      </a:r>
                      <a:r>
                        <a:rPr lang="en-US" sz="1200" kern="100">
                          <a:effectLst/>
                        </a:rPr>
                        <a:t>44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70.38%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233999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24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85.31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71.56</a:t>
                      </a:r>
                      <a:r>
                        <a:rPr lang="vi-VN" sz="1200" kern="100" dirty="0">
                          <a:effectLst/>
                        </a:rPr>
                        <a:t>%</a:t>
                      </a:r>
                      <a:endParaRPr lang="en-SG" sz="1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994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80C05A-2F8A-DD4B-E8AD-B96737F4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4"/>
            <a:ext cx="4928191" cy="95410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Experiment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icroscope">
            <a:extLst>
              <a:ext uri="{FF2B5EF4-FFF2-40B4-BE49-F238E27FC236}">
                <a16:creationId xmlns:a16="http://schemas.microsoft.com/office/drawing/2014/main" id="{C36D3089-A5FD-63B3-6C54-1F298D050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42E718-8580-0A46-F99C-173816424208}"/>
              </a:ext>
            </a:extLst>
          </p:cNvPr>
          <p:cNvSpPr txBox="1"/>
          <p:nvPr/>
        </p:nvSpPr>
        <p:spPr>
          <a:xfrm>
            <a:off x="685798" y="1818166"/>
            <a:ext cx="4928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ple Braille" pitchFamily="2" charset="0"/>
              </a:rPr>
              <a:t>TCT model performance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12209551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649B-3E73-6530-FA51-480D87A2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CE65D-1BD9-1D1E-9E95-712316C0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COCO-Search18 (Lin et al., 2015)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405A4-087E-F6D6-1F4E-0A73F543A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72" y="2067926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A46F-7EE9-576B-D281-B6196D874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SCEGRAM </a:t>
            </a:r>
            <a:r>
              <a:rPr lang="en-GB" dirty="0"/>
              <a:t>(</a:t>
            </a:r>
            <a:r>
              <a:rPr lang="en-GB" dirty="0" err="1"/>
              <a:t>Öhlschläger</a:t>
            </a:r>
            <a:r>
              <a:rPr lang="en-GB" dirty="0"/>
              <a:t> &amp; Võ, 2017)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1A3A3C-C7CB-CE08-AF3E-6CC758EB4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888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05912-11B3-D239-2B9A-26FF9D7C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04AC-09A8-FC28-A3D9-CCF41AD4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NaturalDesign</a:t>
            </a:r>
            <a:r>
              <a:rPr lang="en-US" dirty="0"/>
              <a:t> (Zhang et al., 2018)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3B580-1317-2E03-AD3B-7C61E9C4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65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58E3-520F-6F1A-0F66-C1976347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ED400-AC59-ECF2-1BE7-D760E74B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ContextBreak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A97DA7-0B8F-6AE0-41AF-352212D7C6CF}"/>
              </a:ext>
            </a:extLst>
          </p:cNvPr>
          <p:cNvSpPr>
            <a:spLocks/>
          </p:cNvSpPr>
          <p:nvPr/>
        </p:nvSpPr>
        <p:spPr>
          <a:xfrm>
            <a:off x="794573" y="2074892"/>
            <a:ext cx="5072937" cy="3875674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01BF44-95ED-710A-6669-F9C530F53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4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250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4BB1D-D247-7916-8C24-9AFA2160F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2" y="1137215"/>
            <a:ext cx="6126857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Contributions and future directions</a:t>
            </a:r>
          </a:p>
        </p:txBody>
      </p:sp>
      <p:pic>
        <p:nvPicPr>
          <p:cNvPr id="7" name="Graphic 6" descr="Bullseye">
            <a:extLst>
              <a:ext uri="{FF2B5EF4-FFF2-40B4-BE49-F238E27FC236}">
                <a16:creationId xmlns:a16="http://schemas.microsoft.com/office/drawing/2014/main" id="{C83CB4C3-1C2F-6EF1-754A-F9C5ED7659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53927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332-689D-45A5-FAF4-D7D544C66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E6363-99E4-B840-9420-675F20837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TCT model’s performance is not mathematically justified, as its components, </a:t>
            </a:r>
            <a:r>
              <a:rPr lang="en-US" dirty="0" err="1"/>
              <a:t>ViT</a:t>
            </a:r>
            <a:r>
              <a:rPr lang="en-US" dirty="0"/>
              <a:t> and </a:t>
            </a:r>
            <a:r>
              <a:rPr lang="en-US" dirty="0" err="1"/>
              <a:t>CRTNet</a:t>
            </a:r>
            <a:r>
              <a:rPr lang="en-US" dirty="0"/>
              <a:t>, are trained on different datasets and are linked only through a global modulation operation.</a:t>
            </a:r>
          </a:p>
          <a:p>
            <a:r>
              <a:rPr lang="en-US" dirty="0"/>
              <a:t>The selected </a:t>
            </a:r>
            <a:r>
              <a:rPr lang="en-US" dirty="0" err="1"/>
              <a:t>last_n_layers</a:t>
            </a:r>
            <a:r>
              <a:rPr lang="en-US" dirty="0"/>
              <a:t> for the local modulation operation, and the selected encoding layer for global modulation </a:t>
            </a:r>
            <a:r>
              <a:rPr lang="en-US"/>
              <a:t>are chosen </a:t>
            </a:r>
            <a:r>
              <a:rPr lang="en-US" dirty="0"/>
              <a:t>from an iterative process rather than rationally or intuitively selected.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78581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30716</TotalTime>
  <Words>2137</Words>
  <Application>Microsoft Macintosh PowerPoint</Application>
  <PresentationFormat>Widescreen</PresentationFormat>
  <Paragraphs>570</Paragraphs>
  <Slides>49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Apple Braille</vt:lpstr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  <vt:lpstr>Experiment  </vt:lpstr>
      <vt:lpstr>Benchmark dataset COCO-Search18 (Lin et al., 2015) </vt:lpstr>
      <vt:lpstr>Benchmark dataset SCEGRAM (Öhlschläger &amp; Võ, 2017) </vt:lpstr>
      <vt:lpstr>Benchmark dataset NaturalDesign (Zhang et al., 2018) </vt:lpstr>
      <vt:lpstr>Benchmark dataset ContextBreak</vt:lpstr>
      <vt:lpstr>Contributions and future directions</vt:lpstr>
      <vt:lpstr>Possible 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49</cp:revision>
  <dcterms:created xsi:type="dcterms:W3CDTF">2026-03-25T08:10:11Z</dcterms:created>
  <dcterms:modified xsi:type="dcterms:W3CDTF">2026-05-06T16:37:52Z</dcterms:modified>
</cp:coreProperties>
</file>